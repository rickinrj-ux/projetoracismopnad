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3749039"/>
          </a:xfrm>
          <a:prstGeom prst="rect">
            <a:avLst/>
          </a:prstGeom>
          <a:solidFill>
            <a:srgbClr val="0D1F3C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DEFB"/>
                </a:solidFill>
                <a:latin typeface="Calibri"/>
              </a:rPr>
              <a:t>Evidencias quantitativas da PNAD Continua 2016-2025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05156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trabalhadores analisados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dados (2016-2025)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metodos complementares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barreiras estruturais mapeadas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AE"/>
                </a:solidFill>
                <a:latin typeface="Calibri"/>
              </a:rPr>
              <a:t>VERSAO EXECUTIVA — 10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O Custo do Racismo para 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Uma questao economica, nao apenas moral — trabalhadores negros representam 56% da PEA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Por que isso importa para o pais?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+127,3%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ganho de renda para negros se tivessem a mesma distribuicao ocupacional (CBO) que brancos
— simulacao com dados reais PNAD 2025 (run_hipoteses_estado.py)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600200"/>
            <a:ext cx="3749039" cy="5029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+74,3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proxy de ganho produtivo agregado (127,3% x participacao negra na forca de trabalho ~58%)
— proxy conservador, nao e estimativa de PIB formal (Hsieh et al., 2019 como referencia)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60020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8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+100 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8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tempo para eliminar o gap ao ritmo atual de convergencia espontanea
— tendencia temporal: delta = 0,001 log-pt/ano (WLS 2016-2025, p=0,077 — nao significativo)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12080"/>
            <a:ext cx="11612880" cy="5486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Este trabalho quantifica os mecanismos — onde a discriminacao opera, qual a magnitude e o que pode ser feito.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2. Tres Barreiras Estruturais — O Diagnostico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5 metodos convergem para o mesmo mapa de exclusao racial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3864"/>
                </a:solidFill>
                <a:latin typeface="Calibri"/>
              </a:rPr>
              <a:t>A desigualdade racial no mercado de trabalho opera em tres estagios independentes: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8412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Acesso e Segregacao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Negros tem 30,7% menos chance de obter
ocupacao qualificada (GLMM M2)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Mesmo com educacao, sexo e bairro IDENTICOS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Causa: segregacao residencial e
exclusao das redes profissionais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481328"/>
            <a:ext cx="3749039" cy="8412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F5E0"/>
                </a:solidFill>
                <a:latin typeface="Calibri"/>
              </a:rPr>
              <a:t>Penalidade Salarial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39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salarial residual de 6,2% dentro
da mesma funcao e empresa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39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Cresce para 15-18% para mulheres negras
(interseccionalidade de Crenshaw, 1989)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39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varia entre estados: SD = 5,0 log-pt
(random slope HLM — N=7,7M)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481328"/>
            <a:ext cx="3749039" cy="8412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Isolamento Estrutural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Betweenness centrality = 0 para negros
em TODAS as faixas de escolaridade (SNA)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Diplomas negros valem menos porque
faltam redes para converte-los em empregos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8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Glass ceiling de progressao: gap cresce
de 9,1% (jovens) para 37,5% (35-44 anos)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281928"/>
            <a:ext cx="11612880" cy="347472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F3864"/>
                </a:solidFill>
                <a:latin typeface="Calibri"/>
              </a:rPr>
              <a:t>Conclusao: politicas que agem apenas no salario atacam 16% do problema. 84% esta na porta de entrada.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3. O Gap Racial — Do Bruto ao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HLM 3 niveis (N=7,7M) decompoe o gap em camadas causais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Quanto do gap salarial e discriminacao pura?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536192"/>
            <a:ext cx="7941564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6012" y="16642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6404" y="16642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Sem controles — diferenca observada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340864"/>
            <a:ext cx="3950208" cy="62179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24505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565C0"/>
                </a:solidFill>
                <a:latin typeface="Calibri"/>
              </a:rPr>
              <a:t>Mediacao UPA (bairro)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4656" y="246888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24688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52% explicado por onde o trabalhador mora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145536"/>
            <a:ext cx="3991356" cy="62179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32552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8F00"/>
                </a:solidFill>
                <a:latin typeface="Calibri"/>
              </a:rPr>
              <a:t>Gap LIQUIDO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5804" y="32735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6196" y="32735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residual pos-contexto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950208"/>
            <a:ext cx="1440180" cy="621792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4059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7D32"/>
                </a:solidFill>
                <a:latin typeface="Calibri"/>
              </a:rPr>
              <a:t>Mediacao Ocupacional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8" y="407822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5020" y="407822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18% explicado pelo tipo de funcao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4754880"/>
            <a:ext cx="2551176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864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PURO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4882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4882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de remuneracao irredutivel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06440"/>
            <a:ext cx="11612880" cy="594360"/>
          </a:xfrm>
          <a:prstGeom prst="rect">
            <a:avLst/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  <a:latin typeface="Calibri"/>
              </a:rPr>
              <a:t>70% do gap e explicado por contexto (bairro) e ocupacao — mas 6,2% persiste como discriminacao pura,
mesmo controlando escolaridade, experiencia, setor, formalidade e funcao.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4. Barreira de Acesso — Onde a Discriminacao Comeca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logistica multinivel (N=7,7M, 40,9k bairros) + Oaxaca-Blinder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Barreira de ACESSO a empregos qualificados: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577840" cy="1554480"/>
          </a:xfrm>
          <a:prstGeom prst="rect">
            <a:avLst/>
          </a:prstGeom>
          <a:solidFill>
            <a:srgbClr val="1A050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2763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Odds Ratio (GLMM M2)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93852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0,693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74320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chance de ocupacao qualificada (M2 — apos todos os controles)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5577840" cy="1554480"/>
          </a:xfrm>
          <a:prstGeom prst="rect">
            <a:avLst/>
          </a:prstGeom>
          <a:solidFill>
            <a:srgbClr val="1A1500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331927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AME — efeito marginal medio 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63016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8F00"/>
                </a:solidFill>
                <a:latin typeface="Calibri"/>
              </a:rPr>
              <a:t>−4,73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43484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gap de probabilidade de acesso que persiste com bairro identico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57784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Mesmo com EDUCACAO, SEXO, IDADE e BAIRRO
IDENTICOS aos de um branco, um trabalhador
negro tem 30,7% MENOS chance de trabalho qualificado.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0515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Onde opera o gap? Oaxaca-Blinder: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54480"/>
            <a:ext cx="539496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554480"/>
            <a:ext cx="1005840" cy="2103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8745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84%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1645920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Efeito ACESSO (dotacoes)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057400"/>
            <a:ext cx="4160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Negros estao em ocupacoes piores,
setores menos remunerados,
emprego informal. Discriminacao
pre-mercado e de recrutamento.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749039"/>
            <a:ext cx="5394960" cy="173736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749039"/>
            <a:ext cx="1005840" cy="173736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069079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840479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Efeito SALARIO (retornos)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51959"/>
            <a:ext cx="4160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mercado remunera as mesmas
caracteristicas a taxas menores
para negros — discriminacao
dentro da funcao.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Glass Ceiling — A Barreira Cresce com a Carreira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quantilica + curva de ciclo de vida racial | gap piora ao longo do tempo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51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os dados mostram: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36192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536192"/>
            <a:ext cx="5120640" cy="3840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5727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sobe no topo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659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Gap de 8,0% na mediana (q50)
para 11,8% no topo (q90)
— glass ceiling formal confirmado
(QR global sem controles ocupacionais)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926080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926080"/>
            <a:ext cx="5120640" cy="3840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96265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piora com a 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35584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14-24 anos: gap = 9,1%
35-44 anos: gap = 37,5%
Barreira aprofunda-se na carreira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4315968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315968"/>
            <a:ext cx="5120640" cy="38404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435254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Causa: dotacoes, nao retornos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745736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RIF-OB: q90 = 75,8% por ACESSO
e 11,2% por discriminacao salarial
Falha esta em antes do emprego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074920"/>
            <a:ext cx="11612880" cy="64008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Sticky Floor: discriminacao e 3x mais intensa na base (q10=33,1%) do que no topo (q90=11,2%).
Enforcement anti-discriminatorio deve focar nos trabalhadores de menor renda.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806440"/>
            <a:ext cx="11612880" cy="502920"/>
          </a:xfrm>
          <a:prstGeom prst="rect">
            <a:avLst/>
          </a:prstGeom>
          <a:solidFill>
            <a:srgbClr val="F3E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843016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Genero (GLMM random slope): o teto de vidro feminino e de RENDA, nao de categoria — mulheres acessam ocupacoes qualificadas (OR=1,99) mas nao o topo de renda (OR top10=0,518).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6. Redes e Heterogeneidade Geografica — A Dimensao Invisivel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SNA: exclusao das redes | HLM Random Slope: discriminacao varia 5x entre estados (N=7,7M)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2412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Exclusao das Redes (SNA):</a:t>
            </a:r>
          </a:p>
        </p:txBody>
      </p:sp>
      <p:pic>
        <p:nvPicPr>
          <p:cNvPr id="6" name="Picture 5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66928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566928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Betweenness centrality = 0 para negros
em TODOS os niveis de escolaridade.
Diplomas negros valem menos porque
faltam redes para converter titulos em empregos.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241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Discriminacao varia entre estados (HLM):</a:t>
            </a:r>
          </a:p>
        </p:txBody>
      </p:sp>
      <p:pic>
        <p:nvPicPr>
          <p:cNvPr id="10" name="Picture 9" descr="mapa_po_reg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371600"/>
            <a:ext cx="3931920" cy="380948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5870448"/>
            <a:ext cx="5577840" cy="603504"/>
          </a:xfrm>
          <a:prstGeom prst="rect">
            <a:avLst/>
          </a:prstGeom>
          <a:solidFill>
            <a:srgbClr val="E3F2FD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907024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Amplitude -20% a -2% entre UFs | LRT LR=7548, p&lt;0,001*** — maior penalidade nos estados mais ricos (DF, RJ, SP), nao nos mais pobres.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O Gap e Real — Tres Testes de Robustez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Nenhuma variavel omitida plausivel consegue anular os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Poderia o gap ser explicado por variaveis nao observadas?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Konfound (Frank,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99,5% dos casos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precisariam ser removidos ou alterados para anular o resultado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Como referencia: um confundidor assim nunca existiu em Ciencias Sociais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508760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E-values (VanderWeele, 2017)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71C1C"/>
                </a:solidFill>
                <a:latin typeface="Calibri"/>
              </a:rPr>
              <a:t>E &gt;= 2,24x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de associacao com raca E com ocupacao simultaneamente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Uma variavel oculta teria que ser 2,3x mais preditiva que TODAS as observadas juntas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508760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Oster Bounds (Oster,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565C0"/>
                </a:solidFill>
                <a:latin typeface="Calibri"/>
              </a:rPr>
              <a:t>delta* negativo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8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variaveis omitidas teriam que agir na direcao OPOSTA as observadas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8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8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Impossivel: estudos mostram que omitidas e observadas agem na mesma direcao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53328"/>
            <a:ext cx="11612880" cy="53035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09904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Veredicto: os tres metodos independentes concordam. O gap racial no mercado de trabalho brasileiro e real,
robusto e nao pode ser explicado por variaveis ocultas plausíveis.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8. O Que Fazer — Tres Eixos de Politica Publica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TOPSIS + AHP + Programacao Linear — prioridade: atacar a porta de entrada, nao o salario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84% do gap e de ACESSO. As politicas precisam refletir isso.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#1 — Acesso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Cotas CBO (Dirigente/Profissional)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meta IR &gt;= 0,80 ate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TOPSIS CC=0,834 — 2,1x superior ao 2o colocado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PRONATEC c/ recorte racial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subsidio de transporte em UPAs pobres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ataca segregacao residencial (52% do gap)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Residencias em empresas de alta renda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bolsas para egressos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quebra a barreira de redes (betweenness=0)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1481328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#2 — Remuneracao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19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Transparencia salarial por raca/genero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obrigatoria para empresas &gt;100 func.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visa o gap residual de 6,2% (HLM M4)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19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59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Auditoria de igual pagamento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penalidades progressivas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enforcement direto do sticky floor (q10=33%)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19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59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Piso salarial nas categorias de maior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indexado ao gap HLM M4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59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protecao prioritaria para trabalhadores da 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8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598" y="1481328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58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#3 — Redes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58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198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Mentoria estruturada por empresas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198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elevacao da betweenness centrality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198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SNA: betweenness=0 anula retorno ao diploma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58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198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30% DAS e liderancas corporativas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198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reserva para negros ate 2030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198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inclusao nas redes de decisao (glass ceiling)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8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198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Equidade educacional de qualidade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198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nao apenas de acesso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198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gap qualificacao: 11% negros vs 22% brancos — estavel em 10 anos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309360"/>
            <a:ext cx="11612880" cy="29260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336793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Pareto: cotas (Eixo 1) + mentoria (Eixo 3) = combinacao otima. E focalizar o orcamento nas UFs de maior penalidade (DF, Norte) rende +68,2% vs. distribuicao uniforme.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9. Interseccionalidade — O Teto de Vidro Recai sobre a Mulher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4 grupos raca x genero (ref. homem branco): alcada no acesso, a mais excluida no topo da renda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949440" cy="4595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371600"/>
            <a:ext cx="4206240" cy="16459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99248" y="1444752"/>
            <a:ext cx="3986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Mulher negra — acesso (CBO 1-4)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9248" y="1755648"/>
            <a:ext cx="3986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565C0"/>
                </a:solidFill>
                <a:latin typeface="Calibri"/>
              </a:rPr>
              <a:t>OR 1,33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9248" y="2560320"/>
            <a:ext cx="3986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acima do homem branco (profissoes feminizadas)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291840"/>
            <a:ext cx="4206240" cy="16459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9248" y="3364992"/>
            <a:ext cx="3986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Mulher negra — topo 10% renda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9248" y="3675888"/>
            <a:ext cx="3986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OR 0,34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4480560"/>
            <a:ext cx="39867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 MAIS excluida de todos os grupos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897880"/>
            <a:ext cx="11430000" cy="566928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A mulher negra pode ENTRAR em ocupacoes qualificadas, mas e barrada de CHEGAR AO TOPO da remuneracao: o teto de vidro nao e racial nem sexualmente neutro — combina os dois eixos onde mais importa.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10. Conclusao — O Que Este Trabalho 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sem controles (HLM M1)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Discriminacao pura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mesma funcao e empresa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0,693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Odds Ratio GLMM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acesso ocupacao qualificada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Betweenness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em todas as escolaridades (SNA)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12848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12848"/>
            <a:ext cx="164592" cy="859536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2494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A discriminacao e real e mensuravel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61518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5 metodos independentes chegam ao mesmo diagnostico. Nao e artefato estatistico.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145536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164592" cy="85953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821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F00"/>
                </a:solidFill>
                <a:latin typeface="Calibri"/>
              </a:rPr>
              <a:t>Opera em duas etapas distintas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5478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84% na PORTA DE ENTRADA (acesso a funcoes qualificadas) + 16% no SALARIO dentro da funcao.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078224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078224"/>
            <a:ext cx="164592" cy="859536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 geograficamente heterogenea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 gap varia de -19.7% a -2.1% entre estados (random slope HLM, N=7.689.426). Estados mais ricos (DF, RJ, SP) concentram a MAIOR penalidade.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010912"/>
            <a:ext cx="164592" cy="859536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0474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Calibri"/>
              </a:rPr>
              <a:t>Politicas precisam ser especificas e focalizadas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4132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Cotas ocupacionais (CBO) + mentoria atacam 84% do problema. E focalizar o orcamento nas UFs de maior penalidade rende +68,2% vs. distribuicao uniforme (DF, Norte primeiro).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9846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Contexto IBGE (2025): a qualidade de vida avancou (POF), mas a desigualdade de renda voltou a subir (Gini domiciliar per capita 0,491) — o avanco agregado nao fecha o gap racial documentado aqui.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47395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