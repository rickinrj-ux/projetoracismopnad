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Orientador: Edilson José Rodrigues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−5,04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−4,73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30,7% menor odds de estar em ocupação qualificada (OR=0,693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5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2,319× (M1)  |  E ≥ 2,243× (M2)  para anular OR = 0,676 / 0,693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Análises Temporais e Seleção — Chow, Heckman e Event Study COVID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Quebra estrutural 2020 | Seleção corrigida (Heckman) | COVID: convergência aparente de curto prazo</a:t>
            </a:r>
          </a:p>
        </p:txBody>
      </p:sp>
      <p:pic>
        <p:nvPicPr>
          <p:cNvPr id="5" name="Picture 4" descr="tendenci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749039" cy="3200400"/>
          </a:xfrm>
          <a:prstGeom prst="rect">
            <a:avLst/>
          </a:prstGeom>
        </p:spPr>
      </p:pic>
      <p:pic>
        <p:nvPicPr>
          <p:cNvPr id="6" name="Picture 5" descr="heckman_sel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097280"/>
            <a:ext cx="3749039" cy="3200400"/>
          </a:xfrm>
          <a:prstGeom prst="rect">
            <a:avLst/>
          </a:prstGeom>
        </p:spPr>
      </p:pic>
      <p:pic>
        <p:nvPicPr>
          <p:cNvPr id="7" name="Picture 6" descr="event_study_co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097280"/>
            <a:ext cx="365760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4434840"/>
            <a:ext cx="3749039" cy="43891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Chow test — Quebra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F(2,6) = 7,012   p = 0,027
Quebra estrutural detectada em 2020
Tendência geral: δ = 0,0008 log-pt/ano (estável, p=0,077)
Gap racial não convergiu espontaneamente em 10 anos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4434840"/>
            <a:ext cx="3749039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Heckman — Correção de Seleção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7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OLS: gap = −9,71%
Heckman (com IMR): gap = −7,41%
Δ = +2,3 pp  |  λ = −1,985  (p &lt; 0,001)
OLS superestima gap: negros empregados aceitam
salários inferiores (seleção por tolerância)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4434840"/>
            <a:ext cx="3749039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6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Event Study COVID (DiD)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τ = +0,015  (SE = 0,007,  p = 0,025)
Negros sofreram MENOS com COVID
no curto prazo — convergência aparente
DiD corrigido: 0,015 vs. ingênuo: 0,023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Clustering Socioeconômico — K-Means (k=3) | N=7.694.198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MiniBatchKMeans | 12 dimensões | k=3 adotado por interpretabilidade (k=2 trivialmente binário)</a:t>
            </a:r>
          </a:p>
        </p:txBody>
      </p:sp>
      <p:pic>
        <p:nvPicPr>
          <p:cNvPr id="5" name="Picture 4" descr="kmeans_perfis_k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021041"/>
          </a:xfrm>
          <a:prstGeom prst="rect">
            <a:avLst/>
          </a:prstGeom>
        </p:spPr>
      </p:pic>
      <p:pic>
        <p:nvPicPr>
          <p:cNvPr id="6" name="Picture 5" descr="kmeans_gap_racial_k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97280"/>
            <a:ext cx="5852160" cy="288270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Cluster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206240"/>
            <a:ext cx="10515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242816"/>
            <a:ext cx="9784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7685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total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Negro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7639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14215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Mulher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log_Renda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4206240"/>
            <a:ext cx="60350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43016" y="4242816"/>
            <a:ext cx="59618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Perfil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B71C1C"/>
                </a:solidFill>
                <a:latin typeface="Calibri"/>
              </a:rPr>
              <a:t>C0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590288"/>
            <a:ext cx="10515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4626864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2.110.270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7685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27,4%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4553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76,2%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39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14215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100%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9204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2861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6,961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4590288"/>
            <a:ext cx="60350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3016" y="4626864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Mulheres negras — vulnerabilidade dupla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565C0"/>
                </a:solidFill>
                <a:latin typeface="Calibri"/>
              </a:rPr>
              <a:t>C1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4974336"/>
            <a:ext cx="10515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3856" y="5010912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2.705.788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4028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7685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35,2%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4553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18,0%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77639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14215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40,1%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9204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2861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7,895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06440" y="4974336"/>
            <a:ext cx="60350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43016" y="5010912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Brancos alta renda — menor escolaridade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F3864"/>
                </a:solidFill>
                <a:latin typeface="Calibri"/>
              </a:rPr>
              <a:t>C2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7280" y="5358384"/>
            <a:ext cx="10515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3856" y="5394960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2.878.140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4028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7685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37,4%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4553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81,3%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77639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14215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9204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2861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7,074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5358384"/>
            <a:ext cx="60350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43016" y="5394960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Homens negros — 36,5% superior, renda 58% &lt; C1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5687568"/>
            <a:ext cx="11612880" cy="50292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57332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Paradoxo de Simpson: dentro de cada cluster negros ganham mais que brancos — pois brancos nos clusters negros são os piores-off de seu grupo.  H5 confirmado: C2 tem 36,5% de superior vs 13,7% em C1, mas renda 58% inferior.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−34,3%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−21,2%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−18,9%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(−28,1%) — atenuado vs privado (−34,3%).  H3 (paradoxo): concurso iguala entrada, mas promoção/DAS favorece homens → gap de gênero maior no público.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05332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Contexto IBGE (2025): o Gini domiciliar per capita do país subiu a 0,491 (conceito distinto do Gini do trabalho aqui, ~0,48); a POF mostra qualidade de vida em alta, mas o gap racial persiste (0,183 vs 0,122).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simulação CBO: +127,3% renda negra; proxy agregado +74,3 p.p. (127,3% × participação ~58% — conservador, ver nota metodológica).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ICC=9,80%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21.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OR=0,693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AME=−4,73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K-Means: C2 homens negros — 36,5% superior mas 58% &lt; renda C1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OR=0,693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Pesquisa Operacional — Priorização Multicritério Anti-Discriminação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TOPSIS + AHP (CR=0,004) + Programação Linear + Fronteira de Pareto | 6 políticas avaliadas</a:t>
            </a:r>
          </a:p>
        </p:txBody>
      </p:sp>
      <p:pic>
        <p:nvPicPr>
          <p:cNvPr id="5" name="Picture 4" descr="po_politicas_top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215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Ranking TOPSIS (6 intervenções)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663440" cy="676656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184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18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Cotas ocupacionais CBO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6184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71C1C"/>
                </a:solidFill>
                <a:latin typeface="Calibri"/>
              </a:rPr>
              <a:t>CC = 0,834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304288"/>
            <a:ext cx="4663440" cy="676656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35000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Equidade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235000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CC = 0,588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3580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08152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8152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Mentoria e redes profissionais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308152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E7D32"/>
                </a:solidFill>
                <a:latin typeface="Calibri"/>
              </a:rPr>
              <a:t>CC = 0,396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76732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8130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F00"/>
                </a:solidFill>
                <a:latin typeface="Calibri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130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Transparência salarial obrigatória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381304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8F00"/>
                </a:solidFill>
                <a:latin typeface="Calibri"/>
              </a:rPr>
              <a:t>CC = 0,342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49884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5445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54456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Enforcement anti-discriminação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54456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0,275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523036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2760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Desegregação residencial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52760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0,081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84% do gap é de ACESSO → P1 (Cotas CBO) lidera com CC=0,834 — 2,1× superior ao 2º colocado.  Pareto (λ=0,5): alocação ótima = P1+P5 (cotas + mentoria).  PL-1 (orçamento B=5): redução projetada de 25,1% do gap bruto.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23/29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23. Pesquisa Operacional Regionalizada — Focalização Territorial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BLUP do random slope por UF → alocação ótima do orçamento | ganho da focalização sobre a alocação uniforme</a:t>
            </a:r>
          </a:p>
        </p:txBody>
      </p:sp>
      <p:pic>
        <p:nvPicPr>
          <p:cNvPr id="5" name="Picture 4" descr="mapa_po_reg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4663440" cy="45182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Focalização territorial (base BLUP)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600200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0" y="1600200"/>
            <a:ext cx="109728" cy="9601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1673352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Ganho da focalização: B=9 → +68,2%  |  B=3 → +125,5%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167128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vs. alocação uniforme entre as 27 UFs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679192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2679192"/>
            <a:ext cx="109728" cy="9601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52344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UFs prioritárias: DF, AM, TO, PA, 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3246120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maior penalidade × maior população negra afetada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758184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3758184"/>
            <a:ext cx="109728" cy="9601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3831336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Amplitude: DF −20,8%  →  MG −1,5%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325112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penalidade racial por UF (BLUP do MixedLM)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4837176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4837176"/>
            <a:ext cx="109728" cy="9601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4910328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Base oficial: BLUP ≠ OLS+EB (Spearman ρ=0,45)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404104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modelo misto completo, não a aproximação rápida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 random slope (LRT p&lt;0,001) prova que a penalidade racial é geograficamente heterogênea → política federativa diferenciada supera a uniforme em até +125,5% com orçamento escasso.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24. Random Slope no GLMM — A Barreira de Acesso Também é Geográfica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lme4::glmer, população completa | random slope de negro por UF em 3 desfechos + público × privado</a:t>
            </a:r>
          </a:p>
        </p:txBody>
      </p:sp>
      <p:pic>
        <p:nvPicPr>
          <p:cNvPr id="5" name="Picture 4" descr="glmm_rs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11612880" cy="4258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43600"/>
            <a:ext cx="11612880" cy="65836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998464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LRT rejeita τ²=0 em TODOS os desfechos (p&lt;0,001): o acesso varia entre estados, como o salário.  Contraste: gap salarial maior nos estados ricos (ρ=−0,37) vs acesso mais fácil neles (ρ=0,65).  Setor público NÃO dissolve a barreira (OR púb=0,705 ≈ priv=0,698).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25/29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25. Random Slope GLMM de Gênero — Teto de Remuneração, não de Categoria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lme4, população completa | inclinação aleatória de sexo_fem por UF nos 3 desfechos</a:t>
            </a:r>
          </a:p>
        </p:txBody>
      </p:sp>
      <p:pic>
        <p:nvPicPr>
          <p:cNvPr id="5" name="Picture 4" descr="glmm_genero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11612880" cy="3870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43600"/>
            <a:ext cx="11612880" cy="658368"/>
          </a:xfrm>
          <a:prstGeom prst="rect">
            <a:avLst/>
          </a:prstGeom>
          <a:solidFill>
            <a:srgbClr val="7B329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998464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Mulheres: MAIS acesso a ocupações qualificadas (OR=1,99&gt;1, profissões feminizadas) mas MUITO MENOS ao topo de renda (OR top10=0,518). Teto de vidro de gênero = REMUNERAÇÃO, não categoria — e varia mais entre estados que o racial (~10x no topo).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26/29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26. Interseccionalidade GLMM — O Teto de Vidro Recai sobre a Mulher Negra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grupo_rg (4 grupos, ref. homem branco) × 3 desfechos | alçada no acesso, a mais excluída no topo</a:t>
            </a:r>
          </a:p>
        </p:txBody>
      </p:sp>
      <p:pic>
        <p:nvPicPr>
          <p:cNvPr id="5" name="Picture 4" descr="grupo_rg_intersec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766560" cy="44744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A inversão acesso → topo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572000" cy="1335024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0" y="1572768"/>
            <a:ext cx="4572000" cy="402336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24927" y="1600200"/>
            <a:ext cx="4343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Acesso (CBO 1-4)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2029968"/>
            <a:ext cx="43434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Mulher negra OR=1,33 (acima do homem branco)
Mais penalizado: homem negro (OR=0,65)
Gênero positivo: profissões feminizadas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3054096"/>
            <a:ext cx="4572000" cy="1335024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3054096"/>
            <a:ext cx="4572000" cy="402336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4927" y="3081528"/>
            <a:ext cx="4343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Topo da renda (top 10%)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4927" y="3511296"/>
            <a:ext cx="43434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Mulher negra é a MAIS excluída: OR=0,34
Abaixo da mulher branca (0,49) e do homem negro (0,65)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4535424"/>
            <a:ext cx="4572000" cy="1335024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4535424"/>
            <a:ext cx="4572000" cy="402336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24927" y="4562856"/>
            <a:ext cx="4343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Interação sub-aditiva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4927" y="4992624"/>
            <a:ext cx="43434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OR=1,14 no acesso: penalidade racial um pouco menor entre mulheres — mas a negra acumula raça + teto de gênero no topo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O teto de vidro não é racial nem sexualmente neutro: a mulher negra pode ENTRAR em ocupações qualificadas, mas é barrada de CHEGAR AO TOPO da remuneração.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27/29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27.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
(proxy agregado: ~74 p.p.; ver nota metodológica)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28/29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28.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logístico estimado na PEA completa via lme4::glmer (nAGQ=0, bobyqa, n=7,7M, 40,9k UPAs); random slope de negro estimado tanto no HLM (salário) quanto no GLMM (acesso, 1+negro|UF) — heterogeneidade geográfica confirmada (LRT p&lt;0,001)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29/29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29.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OR=0,693, AME=−4,73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