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Racismo no Mercado de Trabalho Brasileiro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EFB"/>
                </a:solidFill>
                <a:latin typeface="Calibri"/>
              </a:rPr>
              <a:t>O que 15,9 milhões de registros da PNAD Contínua revelam sobre desigualdade, acesso e oportunidade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0972800" cy="36576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2606040" cy="123444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37,5%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gap salarial médio
(mediana: 27,5%)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606040"/>
            <a:ext cx="2606040" cy="123444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633472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735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menos chance de
vaga qualificada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06040"/>
            <a:ext cx="2606040" cy="123444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633472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+127%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735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ganho de renda com
inclusão produtiva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606040"/>
            <a:ext cx="2606040" cy="123444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633472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2735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para convergir
no ritmo atual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909C"/>
                </a:solidFill>
                <a:latin typeface="Calibri"/>
              </a:rPr>
              <a:t>Dados: PNAD Contínua 2016–2025 (IBGE)  |  5 metodologias estatísticas  |  Período: 10 anos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Três realidades que os números confirmam — e que políticas isoladas não resolvem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A desigualdade racial no trabalho não é apenas salário: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749039" cy="4892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3749039" cy="548640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81912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Acesso bloqueado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76272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Negros têm 25% menos chance de estar em cargos qualificados mesmo com a mesma formação, a mesma experiência e morando no mesmo bairro que um colega branco.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343400"/>
            <a:ext cx="3529584" cy="27432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4074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1">
                <a:solidFill>
                  <a:srgbClr val="C62828"/>
                </a:solidFill>
                <a:latin typeface="Calibri"/>
              </a:rPr>
              <a:t>Mulheres negras sofrem dupla barreira: discriminação racial + de gênero simultaneamente (Crenshaw, 1989).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554480"/>
            <a:ext cx="3749039" cy="489204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554480"/>
            <a:ext cx="3749039" cy="54864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7" y="1581912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Salário diferente
pela mesma função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176272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Após controlar todas as características observáveis, negros ainda recebem 6,2% menos na mesma função. No topo salarial esse gap chega a 12%.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7" y="4343400"/>
            <a:ext cx="3529584" cy="2743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44074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1">
                <a:solidFill>
                  <a:srgbClr val="1565C0"/>
                </a:solidFill>
                <a:latin typeface="Calibri"/>
              </a:rPr>
              <a:t>A discriminação não para na contratação — continua na progressão e no salário.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554480"/>
            <a:ext cx="3749039" cy="48920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554480"/>
            <a:ext cx="3749039" cy="548640"/>
          </a:xfrm>
          <a:prstGeom prst="rect">
            <a:avLst/>
          </a:prstGeom>
          <a:solidFill>
            <a:srgbClr val="00696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6" y="1581912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Onde você mora
determina o que você ganha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8" y="2176272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Mais de 1 em cada 5 reais da diferença salarial entre trabalhadores vem do bairro (UPA) onde cada um vive — não da competência individual.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6" y="4343400"/>
            <a:ext cx="3529584" cy="27432"/>
          </a:xfrm>
          <a:prstGeom prst="rect">
            <a:avLst/>
          </a:prstGeom>
          <a:solidFill>
            <a:srgbClr val="00696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8" y="44074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1">
                <a:solidFill>
                  <a:srgbClr val="00696D"/>
                </a:solidFill>
                <a:latin typeface="Calibri"/>
              </a:rPr>
              <a:t>Segregação residencial se converte diretamente em segregação de renda.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Onde Você Mora Determina Sua Renda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A segregação residencial se converte diretamente em segregação de renda</a:t>
            </a:r>
          </a:p>
        </p:txBody>
      </p:sp>
      <p:pic>
        <p:nvPicPr>
          <p:cNvPr id="5" name="Picture 4" descr="hlm_justif_caterpil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035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O que isso significa?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72768"/>
            <a:ext cx="5120640" cy="896112"/>
          </a:xfrm>
          <a:prstGeom prst="rect">
            <a:avLst/>
          </a:prstGeom>
          <a:solidFill>
            <a:srgbClr val="F5F5F5"/>
          </a:solidFill>
          <a:ln w="7620">
            <a:solidFill>
              <a:srgbClr val="006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1848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Dois trabalhadores idênticos — mesma idade, mesmo diploma, mesma função — ganham salários diferentes porque nasceram em bairros diferentes.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578608"/>
            <a:ext cx="5120640" cy="896112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62432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A renda média do bairro (UPA) é o MAIOR determinante individual de renda — mais do que a educação.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584448"/>
            <a:ext cx="5120640" cy="896112"/>
          </a:xfrm>
          <a:prstGeom prst="rect">
            <a:avLst/>
          </a:prstGeom>
          <a:solidFill>
            <a:srgbClr val="F5F5F5"/>
          </a:solidFill>
          <a:ln w="7620">
            <a:solidFill>
              <a:srgbClr val="006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63016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Negros são super-representados nas UPAs de menor renda: o racismo histórico na moradia amplia o racismo atual no trabalho.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4590288"/>
            <a:ext cx="5120640" cy="896112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463600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Políticas de emprego que ignoram a dimensão territorial atacam apenas parte do problema.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559552"/>
            <a:ext cx="11612880" cy="566928"/>
          </a:xfrm>
          <a:prstGeom prst="rect">
            <a:avLst/>
          </a:prstGeom>
          <a:solidFill>
            <a:srgbClr val="FFF9E7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65099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Em linguagem simples: se você mudar um negro do bairro mais pobre para o mais rico, você explica mais da metade do gap salarial — sem mudar nenhuma característica individual.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Pirâmide Racial do Trabalho Brasileiro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Nas melhores vagas: poucos negros. Nos piores empregos: maioria negra</a:t>
            </a:r>
          </a:p>
        </p:txBody>
      </p:sp>
      <p:pic>
        <p:nvPicPr>
          <p:cNvPr id="5" name="Picture 4" descr="comp_razao_grupo_c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1791148"/>
          </a:xfrm>
          <a:prstGeom prst="rect">
            <a:avLst/>
          </a:prstGeom>
        </p:spPr>
      </p:pic>
      <p:pic>
        <p:nvPicPr>
          <p:cNvPr id="6" name="Picture 5" descr="comp_representacao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0158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617720"/>
            <a:ext cx="3566160" cy="12801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6908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62828"/>
                </a:solidFill>
                <a:latin typeface="Calibr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30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negros por 100 brancos
na mesma função de dirigente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418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023359" y="4617720"/>
            <a:ext cx="3566160" cy="1280160"/>
          </a:xfrm>
          <a:prstGeom prst="rect">
            <a:avLst/>
          </a:prstGeom>
          <a:solidFill>
            <a:srgbClr val="FFF9E7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9" y="46908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F00"/>
                </a:solidFill>
                <a:latin typeface="Calibri"/>
              </a:rPr>
              <a:t>2,1×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9" y="5330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mais negros em
ocupações elementares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9" y="56418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772398" y="4617720"/>
            <a:ext cx="3566160" cy="12801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38" y="46908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62828"/>
                </a:solidFill>
                <a:latin typeface="Calibri"/>
              </a:rPr>
              <a:t>0,47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38" y="5330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índice de representação
negra no top 5% das capitais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8" y="56418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0807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A sub-representação não é resultado de falta de qualificação — é o produto de barreiras sistemáticas de acesso confirmadas pelos modelos estatísticos.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Negros Têm Menos Chance nas Melhores Vagas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Mesmo com o mesmo diploma, o mesmo bairro e a mesma experiência — a barreira persiste</a:t>
            </a:r>
          </a:p>
        </p:txBody>
      </p:sp>
      <p:pic>
        <p:nvPicPr>
          <p:cNvPr id="5" name="Picture 4" descr="glmm_odds_ratio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217920" cy="362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O que a análise mostrou: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600200"/>
            <a:ext cx="5029200" cy="1207008"/>
          </a:xfrm>
          <a:prstGeom prst="rect">
            <a:avLst/>
          </a:prstGeom>
          <a:solidFill>
            <a:srgbClr val="F5F5F5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31% menos chance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0299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Um trabalhador negro com exatamente as mesmas características que um branco tem 31% menos chance de estar em uma ocupação qualificada (gerente, engenheiro, advogado...)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926080"/>
            <a:ext cx="5029200" cy="1207008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F00"/>
                </a:solidFill>
                <a:latin typeface="Calibri"/>
              </a:rPr>
              <a:t>−4,8 pontos percentuais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35584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Mesmo após considerar o bairro onde mora, o setor de trabalho e horas trabalhadas, negros ainda ficam fora das melhores vagas. Isso é o resíduo puro da discriminação.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4251960"/>
            <a:ext cx="5029200" cy="1207008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Calibri"/>
              </a:rPr>
              <a:t>Não é falta de diploma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6817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O modelo controla educação, experiência, setor, horas e bairro. O que sobra é a cor da pele sendo usada como critério de seleção.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Teto de Vidro É Real — e Piora no 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Quanto maior o salário, maior a barreira racial — confirmado por análise estatística formal</a:t>
            </a:r>
          </a:p>
        </p:txBody>
      </p:sp>
      <p:pic>
        <p:nvPicPr>
          <p:cNvPr id="5" name="Picture 4" descr="quantreg_traje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3505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Como ler este gráfico: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554480"/>
            <a:ext cx="4846320" cy="749808"/>
          </a:xfrm>
          <a:prstGeom prst="rect">
            <a:avLst/>
          </a:prstGeom>
          <a:solidFill>
            <a:srgbClr val="F5F5F5"/>
          </a:solidFill>
          <a:ln w="762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591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Eixo vertical: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91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Quanto negros ganham a menos (%) em cada faixa salarial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377440"/>
            <a:ext cx="4846320" cy="749808"/>
          </a:xfrm>
          <a:prstGeom prst="rect">
            <a:avLst/>
          </a:prstGeom>
          <a:solidFill>
            <a:srgbClr val="F5F5F5"/>
          </a:solidFill>
          <a:ln w="762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414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Linha descendente: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14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A desvantagem CRESCE conforme o salário aumenta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200400"/>
            <a:ext cx="4846320" cy="749808"/>
          </a:xfrm>
          <a:prstGeom prst="rect">
            <a:avLst/>
          </a:prstGeom>
          <a:solidFill>
            <a:srgbClr val="F5F5F5"/>
          </a:solidFill>
          <a:ln w="762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236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No salário mínimo: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369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Gap racial de ~10% — ruim, mas menor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4023360"/>
            <a:ext cx="4846320" cy="749808"/>
          </a:xfrm>
          <a:prstGeom prst="rect">
            <a:avLst/>
          </a:prstGeom>
          <a:solidFill>
            <a:srgbClr val="FFEBEE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0599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No topo 5%: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0599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Gap racial sobe para ~22% — a barreira é mais alta exatamente onde os prêmios são maiores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846320"/>
            <a:ext cx="4846320" cy="749808"/>
          </a:xfrm>
          <a:prstGeom prst="rect">
            <a:avLst/>
          </a:prstGeom>
          <a:solidFill>
            <a:srgbClr val="FFEBEE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4882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A cor da pele: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82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age como um filtro que fica mais opaco conforme a vaga fica mais valiosa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96128"/>
            <a:ext cx="11612880" cy="713232"/>
          </a:xfrm>
          <a:prstGeom prst="rect">
            <a:avLst/>
          </a:prstGeom>
          <a:solidFill>
            <a:srgbClr val="FFF9E7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87568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Ciclo de vida (raça): o gap cresce de 9% para 37,5% no pico da carreira. E há um teto de vidro de GÊNERO distinto: mulheres chegam às profissões qualificadas, mas não ao topo dos salários.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Rede que Exclui — Capital Social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Negros ficam fora das redes que convertem diplomas em empregos</a:t>
            </a:r>
          </a:p>
        </p:txBody>
      </p:sp>
      <p:pic>
        <p:nvPicPr>
          <p:cNvPr id="5" name="Picture 4" descr="sna_rede_demogra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424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O que são as redes profissionais?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72768"/>
            <a:ext cx="55778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1848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565C0"/>
                </a:solidFill>
                <a:latin typeface="Calibri"/>
              </a:rPr>
              <a:t>◆  Vagas nunca anunciadas são preenchidas por indicação — quem está na rede chega antes.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441448"/>
            <a:ext cx="55778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871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565C0"/>
                </a:solidFill>
                <a:latin typeface="Calibri"/>
              </a:rPr>
              <a:t>◆  Mentores, referências e "network" determinam promoção tão quanto o desempenho.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310128"/>
            <a:ext cx="55778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558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A análise mostra: brancos atuam como conectores (brokers) em TODOS os níveis educacionais.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78808"/>
            <a:ext cx="5577840" cy="77724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245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62828"/>
                </a:solidFill>
                <a:latin typeface="Calibri"/>
              </a:rPr>
              <a:t>✗  Negros ficam nas bordas da rede — mesmo com pós-graduação, sem acesso ao centro.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5047488"/>
            <a:ext cx="55778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0932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Resultado: o diploma negro vale menos porque falta a rede que o converte em oportunidade.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989320"/>
            <a:ext cx="5943600" cy="621792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807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"Mesmo que dois candidatos tenham o mesmo currículo, o que tem a rede certa chega primeiro. Essa rede, historicamente, é majoritariamente branca."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Estado Ajuda — Mas Não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Setor público reduz a desigualdade geral, mas o gap racial persiste e o de gênero é MAIOR</a:t>
            </a:r>
          </a:p>
        </p:txBody>
      </p:sp>
      <p:pic>
        <p:nvPicPr>
          <p:cNvPr id="5" name="Picture 4" descr="estado_h1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309167"/>
          </a:xfrm>
          <a:prstGeom prst="rect">
            <a:avLst/>
          </a:prstGeom>
        </p:spPr>
      </p:pic>
      <p:pic>
        <p:nvPicPr>
          <p:cNvPr id="6" name="Picture 5" descr="estado_h2h3_g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852160" cy="24661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617720"/>
            <a:ext cx="3566160" cy="10972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6451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1389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Gini público &lt; privado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589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0,466 vs 0,472 — melhora marginal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4617720"/>
            <a:ext cx="3566160" cy="1097280"/>
          </a:xfrm>
          <a:prstGeom prst="rect">
            <a:avLst/>
          </a:prstGeom>
          <a:solidFill>
            <a:srgbClr val="FFF9E7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6451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8F00"/>
                </a:solidFill>
                <a:latin typeface="Calibri"/>
              </a:rPr>
              <a:t>Não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1389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Gap racial não some no concurso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4589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−28,3% público vs −34,5% privado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617720"/>
            <a:ext cx="3566160" cy="10972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6451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Calibri"/>
              </a:rPr>
              <a:t>Piora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Gap de gênero é maior no público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4589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−20,9% público vs −18,6% privado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833872"/>
            <a:ext cx="11612880" cy="502920"/>
          </a:xfrm>
          <a:prstGeom prst="rect">
            <a:avLst/>
          </a:prstGeom>
          <a:solidFill>
            <a:srgbClr val="FFF9E7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9253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O concurso público equaliza a entrada, mas a promoção às posições de liderança (DAS, chefia) ainda reflete os vieses do setor privado — ou piores.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Custo para Todos Nós — Inclusão Produtiva como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Hsieh et al. (2019): discriminação racial e de gênero custou ao EUA 20–40% do crescimento 1960–2010</a:t>
            </a:r>
          </a:p>
        </p:txBody>
      </p:sp>
      <p:pic>
        <p:nvPicPr>
          <p:cNvPr id="5" name="Picture 4" descr="estado_h4_incl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24972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097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O que aconteceria se negros tivessem
acesso igual às melhores vagas?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5303520" cy="1261872"/>
          </a:xfrm>
          <a:prstGeom prst="rect">
            <a:avLst/>
          </a:prstGeom>
          <a:solidFill>
            <a:srgbClr val="F5F5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828800"/>
            <a:ext cx="5303520" cy="365760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8653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240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Mediana salarial: R$2.000 (brancos) vs R$1.450 (negros) — gap de 27,5%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578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Gap médio de 37,5%; em cargos de alta qualificação: 11% negros vs 22% brancos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200400"/>
            <a:ext cx="5303520" cy="1261872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200400"/>
            <a:ext cx="5303520" cy="36576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236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+127% renda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Se negros tivessem a mesma distribuição ocupacional que brancos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50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A renda média dos trabalhadores negros mais que dobraria — sem nenhum aumento de produtividade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572000"/>
            <a:ext cx="5303520" cy="1261872"/>
          </a:xfrm>
          <a:prstGeom prst="rect">
            <a:avLst/>
          </a:prstGeom>
          <a:solidFill>
            <a:srgbClr val="F5F5F5"/>
          </a:solidFill>
          <a:ln w="25400">
            <a:solidFill>
              <a:srgbClr val="006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572000"/>
            <a:ext cx="5303520" cy="365760"/>
          </a:xfrm>
          <a:prstGeom prst="rect">
            <a:avLst/>
          </a:prstGeom>
          <a:solidFill>
            <a:srgbClr val="00696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608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Proxy: +74 p.p. PIB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983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6D"/>
                </a:solidFill>
                <a:latin typeface="Calibri"/>
              </a:rPr>
              <a:t>Estimativa conservadora do impacto no crescimento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321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Incluir negros nas melhores vagas seria um dos maiores motores de crescimento disponíveis hoje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Racismo Tem Endereço — Varia Muito Entre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A desvantagem racial é bem maior em alguns estados — e a política pode (e deve) focar onde mais dói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A mesma injustiça, em tamanhos muito diferentes pelo país:</a:t>
            </a:r>
          </a:p>
        </p:txBody>
      </p:sp>
      <p:pic>
        <p:nvPicPr>
          <p:cNvPr id="6" name="Picture 5" descr="mapa_po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3931920" cy="38094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37760" y="1417320"/>
            <a:ext cx="69494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0" y="1417320"/>
            <a:ext cx="128016" cy="1371600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38928" y="148132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62828"/>
                </a:solidFill>
                <a:latin typeface="Calibri"/>
              </a:rPr>
              <a:t>O gap muda de estado para 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892808"/>
            <a:ext cx="6675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Chega a ~21% (DF) em alguns estados e cai a ~1% (MG) em outros. Não é o mesmo problema em todo lugar.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898648"/>
            <a:ext cx="69494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2898648"/>
            <a:ext cx="128016" cy="137160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96265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8F00"/>
                </a:solidFill>
                <a:latin typeface="Calibri"/>
              </a:rPr>
              <a:t>Maior onde há mais riqueza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3374136"/>
            <a:ext cx="6675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As maiores desvantagens aparecem no Distrito Federal, no Rio e em São Paulo — crescimento econômico, sozinho, não dissolve a barreira racial.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379976"/>
            <a:ext cx="69494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4379976"/>
            <a:ext cx="128016" cy="137160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444398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7D32"/>
                </a:solidFill>
                <a:latin typeface="Calibri"/>
              </a:rPr>
              <a:t>Focar onde dói rende muito mais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4855464"/>
            <a:ext cx="6675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Concentrar o orçamento nos estados de maior desvantagem entrega até +68% mais resultado do que espalhar o dinheiro por igual.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897880"/>
            <a:ext cx="11612880" cy="603504"/>
          </a:xfrm>
          <a:prstGeom prst="rect">
            <a:avLst/>
          </a:prstGeom>
          <a:solidFill>
            <a:srgbClr val="FFF9E7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989320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Em linguagem simples: tratar o país inteiro igual desperdiça recursos. Levar a política primeiro aos estados ★ (DF, AM, TO, PA, AC) multiplica o impacto do mesmo orçamento.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Que Funciona — Três Eixos de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Nenhum eixo isolado resolve. Os três precisam atuar simultaneamente.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5349240"/>
          </a:xfrm>
          <a:prstGeom prst="rect">
            <a:avLst/>
          </a:prstGeom>
          <a:solidFill>
            <a:srgbClr val="F5F5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471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Abrir as Portas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Ação 1:
Cotas de acesso a cargos
qualificados (meta: IR ≥ 0,80)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3383280" cy="18288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Ação 2:
Formação profissional com
recorte racial e bolsas de
residência em empresas premium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3566160" cy="18288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206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C62828"/>
                </a:solidFill>
                <a:latin typeface="Calibri"/>
              </a:rPr>
              <a:t>Atacar onde os dados apontam:
barreiras de ACESSO, não só salário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097280"/>
            <a:ext cx="3749039" cy="534924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097280"/>
            <a:ext cx="3749039" cy="5029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7" y="112471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Pagar Igual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16916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Ação 1:
Transparência salarial por raça
obrigatória (empresas &gt; 100 fun.)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39" y="2834640"/>
            <a:ext cx="3383280" cy="1828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2926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Ação 2:
Auditoria de igual pagamento
por trabalho igual com
penalidades progressivas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399" y="4114800"/>
            <a:ext cx="3566160" cy="1828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4206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565C0"/>
                </a:solidFill>
                <a:latin typeface="Calibri"/>
              </a:rPr>
              <a:t>O gap residual de 6,2% é real
e mensurável — e deve ser eliminado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1097280"/>
            <a:ext cx="3749039" cy="534924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8" y="1097280"/>
            <a:ext cx="3749039" cy="50292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6" y="112471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Ampliar as Redes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16916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Ação 1:
Mentoria estruturada para elevar
a posição de negros nas redes
profissionais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78" y="2834640"/>
            <a:ext cx="3383280" cy="1828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8" y="2926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Ação 2:
30% dos cargos de liderança
(DAS + corporativo) para negros
até 2030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8" y="4114800"/>
            <a:ext cx="3566160" cy="1828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8" y="4206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E7D32"/>
                </a:solidFill>
                <a:latin typeface="Calibri"/>
              </a:rPr>
              <a:t>Sem acesso às redes que convertem
diplomas em empregos, nada muda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62828"/>
                </a:solidFill>
                <a:latin typeface="Calibri"/>
              </a:rPr>
              <a:t>⚠  Sem ação simultânea nos três eixos, fechar o gap levará mais de 100 anos no ritmo atual.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Urgência — O Que Está em Jogo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Pleno emprego sem prosperidade: 94,4% empregados, renda real estagnada</a:t>
            </a:r>
          </a:p>
        </p:txBody>
      </p:sp>
      <p:pic>
        <p:nvPicPr>
          <p:cNvPr id="5" name="Picture 4" descr="estado_h4_ten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387374"/>
          </a:xfrm>
          <a:prstGeom prst="rect">
            <a:avLst/>
          </a:prstGeom>
        </p:spPr>
      </p:pic>
      <p:pic>
        <p:nvPicPr>
          <p:cNvPr id="6" name="Picture 5" descr="estado_h5_armadil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760720" cy="24232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754880"/>
            <a:ext cx="274320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94,4%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emprego em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790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>máxima histórica da série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754880"/>
            <a:ext cx="2743200" cy="123444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62828"/>
                </a:solidFill>
                <a:latin typeface="Calibri"/>
              </a:rPr>
              <a:t>R$1.283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renda real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7790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>queda vs R$1.345 em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754880"/>
            <a:ext cx="2743200" cy="123444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62828"/>
                </a:solidFill>
                <a:latin typeface="Calibri"/>
              </a:rPr>
              <a:t>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negros em alta
qualificação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7790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>brancos: 22,4%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4754880"/>
            <a:ext cx="2743200" cy="1234440"/>
          </a:xfrm>
          <a:prstGeom prst="rect">
            <a:avLst/>
          </a:prstGeom>
          <a:solidFill>
            <a:srgbClr val="FFF9E7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F00"/>
                </a:solidFill>
                <a:latin typeface="Calibri"/>
              </a:rPr>
              <a:t>+100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12121"/>
                </a:solidFill>
                <a:latin typeface="Calibri"/>
              </a:rPr>
              <a:t>anos para fechar
o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7790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16161"/>
                </a:solidFill>
                <a:latin typeface="Calibri"/>
              </a:rPr>
              <a:t>no ritmo atual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309360"/>
            <a:ext cx="11612880" cy="402336"/>
          </a:xfrm>
          <a:prstGeom prst="rect">
            <a:avLst/>
          </a:prstGeom>
          <a:solidFill>
            <a:srgbClr val="FFF9E7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O Brasil está a produzir emprego, mas não prosperidade igualitária. Pleno emprego com segregação ocupacional é o cenário atual — e não se resolve sozinho.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47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DEFB"/>
                </a:solidFill>
                <a:latin typeface="Calibri"/>
              </a:rPr>
              <a:t>PNAD Contínua 2016–2025  |  15,9 milhões de observações  |  Ricardo Calheiros — MBA USP/ESALQ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647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6282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 pergunta não é se o racismo estrutural existe.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8F00"/>
                </a:solidFill>
                <a:latin typeface="Calibri"/>
              </a:rPr>
              <a:t>Os dados respondem isso com clareza.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36576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 pergunta é: o que faremos com esse conhecimento?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2606040" cy="132588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4670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menos chance de uma
vaga qualificada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697480"/>
            <a:ext cx="2606040" cy="132588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72491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27,5%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34670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gap salarial na
mediana bruta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697480"/>
            <a:ext cx="2606040" cy="132588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72491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+127%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4670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ganho potencial de
renda com inclusão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697480"/>
            <a:ext cx="2606040" cy="1325880"/>
          </a:xfrm>
          <a:prstGeom prst="rect">
            <a:avLst/>
          </a:prstGeom>
          <a:solidFill>
            <a:srgbClr val="121E38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72491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+100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34670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para convergir
sem ação deliberada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rickinrj@gmail.com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8909C"/>
                </a:solidFill>
                <a:latin typeface="Calibri"/>
              </a:rPr>
              <a:t>Dados e código disponíveis  |  Metodologia: HLM + ML/SHAP + Oaxaca-Blinder + GLMM + Reg. Quantílica  |  PNAD Contínua 2016–2025 (IBGE)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6294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8909C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