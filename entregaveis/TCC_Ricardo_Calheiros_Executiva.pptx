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A porta antes do salário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  <a:latin typeface="Calibri"/>
              </a:rPr>
              <a:t>Como a desigualdade racial opera no mercado de trabalho brasileiro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474720"/>
            <a:ext cx="2011680" cy="54864"/>
          </a:xfrm>
          <a:prstGeom prst="rect">
            <a:avLst/>
          </a:prstGeom>
          <a:solidFill>
            <a:srgbClr val="FFFFFF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PNAD Contínua 2016–2025 · 7,7 milhões de trabalhadores · 41.454 bairros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Ricardo Calheiros · MBA em Data Science e Analytics · ESALQ/USP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Educação explica o gap racial de renda? Só em parte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035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A pergunta que organiza o trabalho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11338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212121"/>
                </a:solidFill>
                <a:latin typeface="Calibri"/>
              </a:rPr>
              <a:t>A explicação usual para o gap racial de renda é diferença de qualificação. Se fosse só isso, ampliar o acesso ao ensino resolveria. Este trabalho testa essa hipótese separando, um a um, os mecanismos que produzem o gap.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1565C0"/>
                </a:solidFill>
                <a:latin typeface="Calibri"/>
              </a:rPr>
              <a:t>▸  </a:t>
            </a:r>
            <a:r>
              <a:rPr sz="1900">
                <a:solidFill>
                  <a:srgbClr val="212121"/>
                </a:solidFill>
                <a:latin typeface="Calibri"/>
              </a:rPr>
              <a:t>Quanto do gap é diferença de características — e quanto é preço diferente pelas mesmas características?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1565C0"/>
                </a:solidFill>
                <a:latin typeface="Calibri"/>
              </a:rPr>
              <a:t>▸  </a:t>
            </a:r>
            <a:r>
              <a:rPr sz="1900">
                <a:solidFill>
                  <a:srgbClr val="212121"/>
                </a:solidFill>
                <a:latin typeface="Calibri"/>
              </a:rPr>
              <a:t>Quanto vem de onde a pessoa mora?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1565C0"/>
                </a:solidFill>
                <a:latin typeface="Calibri"/>
              </a:rPr>
              <a:t>▸  </a:t>
            </a:r>
            <a:r>
              <a:rPr sz="1900">
                <a:solidFill>
                  <a:srgbClr val="212121"/>
                </a:solidFill>
                <a:latin typeface="Calibri"/>
              </a:rPr>
              <a:t>A barreira está no salário ou antes dele, no acesso à ocupação?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1565C0"/>
                </a:solidFill>
                <a:latin typeface="Calibri"/>
              </a:rPr>
              <a:t>▸  </a:t>
            </a:r>
            <a:r>
              <a:rPr sz="1900">
                <a:solidFill>
                  <a:srgbClr val="212121"/>
                </a:solidFill>
                <a:latin typeface="Calibri"/>
              </a:rPr>
              <a:t>A penalidade é a mesma em toda a distribuição de renda?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989320"/>
            <a:ext cx="11640312" cy="566928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053328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Quatro perguntas, quatro métodos — e uma resposta que não é a do senso comum.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PNAD Contínua 2016–2025 (IBGE) · elaboração própria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Dez anos de PNAD Contínua, com todos os registros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035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Todos os trabalhadores ocupados com rendimento que a pesquisa entrevistou — nenhuma subamostra sorteada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566160" cy="2377440"/>
          </a:xfrm>
          <a:prstGeom prst="rect">
            <a:avLst/>
          </a:prstGeom>
          <a:solidFill>
            <a:srgbClr val="F5F5F5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3346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16161"/>
                </a:solidFill>
                <a:latin typeface="Calibri"/>
              </a:rPr>
              <a:t>Trabalhadores analisados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74520"/>
            <a:ext cx="334670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565C0"/>
                </a:solidFill>
                <a:latin typeface="Calibri"/>
              </a:rPr>
              <a:t>7,7 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743200"/>
            <a:ext cx="334670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Todos os ocupados com rendimento positivo,</a:t>
            </a:r>
          </a:p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2016 a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371600"/>
            <a:ext cx="3566160" cy="2377440"/>
          </a:xfrm>
          <a:prstGeom prst="rect">
            <a:avLst/>
          </a:prstGeom>
          <a:solidFill>
            <a:srgbClr val="F5F5F5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07408" y="1481328"/>
            <a:ext cx="3346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16161"/>
                </a:solidFill>
                <a:latin typeface="Calibri"/>
              </a:rPr>
              <a:t>Bairros (UPAs da PNAD)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1874520"/>
            <a:ext cx="334670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565C0"/>
                </a:solidFill>
                <a:latin typeface="Calibri"/>
              </a:rPr>
              <a:t>41.454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2743200"/>
            <a:ext cx="334670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A unidade de vizinhança da PNAD —</a:t>
            </a:r>
          </a:p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é o que permite comparar vizinhos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371600"/>
            <a:ext cx="3566160" cy="2377440"/>
          </a:xfrm>
          <a:prstGeom prst="rect">
            <a:avLst/>
          </a:prstGeom>
          <a:solidFill>
            <a:srgbClr val="F5F5F5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8" y="1481328"/>
            <a:ext cx="3346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16161"/>
                </a:solidFill>
                <a:latin typeface="Calibri"/>
              </a:rPr>
              <a:t>Trimestres cobertos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8" y="1874520"/>
            <a:ext cx="334670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565C0"/>
                </a:solidFill>
                <a:latin typeface="Calibri"/>
              </a:rPr>
              <a:t>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2743200"/>
            <a:ext cx="334670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Série completa da pesquisa,</a:t>
            </a:r>
          </a:p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sem recorte de conveniência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023360"/>
            <a:ext cx="111556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616161"/>
                </a:solidFill>
                <a:latin typeface="Calibri"/>
              </a:rPr>
              <a:t>Por que isso importa: com todos os registros, o resultado não depende de uma subamostra escolhida pelo autor. Com milhões de observações, a pergunta deixa de ser “será que é ruído?” e passa a ser “qual é o tamanho do efeito?”.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616161"/>
                </a:solidFill>
                <a:latin typeface="Calibri"/>
              </a:rPr>
              <a:t>Os erros-padrão são agrupados por bairro, porque a PNAD entrevista domicílios vizinhos — ignorar isso faria qualquer diferença parecer mais precisa do que é.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PNAD Contínua 2016–2025 (IBGE) · elaboração própria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Barreira de acesso: chances 19% menores de chegar a um cargo qualificado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035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Comparando pessoas com a mesma escolaridade, idade, sexo e bairro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3474720" cy="2286000"/>
          </a:xfrm>
          <a:prstGeom prst="rect">
            <a:avLst/>
          </a:prstGeom>
          <a:solidFill>
            <a:srgbClr val="F5F5F5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35608"/>
            <a:ext cx="32552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16161"/>
                </a:solidFill>
                <a:latin typeface="Calibri"/>
              </a:rPr>
              <a:t>Acesso a cargo qualificado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28800"/>
            <a:ext cx="32552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B71C1C"/>
                </a:solidFill>
                <a:latin typeface="Calibri"/>
              </a:rPr>
              <a:t>−19%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97480"/>
            <a:ext cx="32552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chance (odds ratio 0,814)</a:t>
            </a:r>
          </a:p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= 2,6 pontos percentuais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325880"/>
            <a:ext cx="3474720" cy="2286000"/>
          </a:xfrm>
          <a:prstGeom prst="rect">
            <a:avLst/>
          </a:prstGeom>
          <a:solidFill>
            <a:srgbClr val="F5F5F5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53128" y="1435608"/>
            <a:ext cx="32552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16161"/>
                </a:solidFill>
                <a:latin typeface="Calibri"/>
              </a:rPr>
              <a:t>Chegar ao topo 20% da renda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1828800"/>
            <a:ext cx="32552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B71C1C"/>
                </a:solidFill>
                <a:latin typeface="Calibri"/>
              </a:rPr>
              <a:t>−23%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2697480"/>
            <a:ext cx="32552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a barreira aperta conforme</a:t>
            </a:r>
          </a:p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a posição sobe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325880"/>
            <a:ext cx="3474720" cy="2286000"/>
          </a:xfrm>
          <a:prstGeom prst="rect">
            <a:avLst/>
          </a:prstGeom>
          <a:solidFill>
            <a:srgbClr val="F5F5F5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8" y="1435608"/>
            <a:ext cx="32552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16161"/>
                </a:solidFill>
                <a:latin typeface="Calibri"/>
              </a:rPr>
              <a:t>Chegar ao topo 10% da renda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8" y="1828800"/>
            <a:ext cx="32552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B71C1C"/>
                </a:solidFill>
                <a:latin typeface="Calibri"/>
              </a:rPr>
              <a:t>−24%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2697480"/>
            <a:ext cx="32552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é o teto de vidro:</a:t>
            </a:r>
          </a:p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quanto mais alto, mais estreita a porta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840480"/>
            <a:ext cx="111556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0">
                <a:solidFill>
                  <a:srgbClr val="212121"/>
                </a:solidFill>
                <a:latin typeface="Calibri"/>
              </a:rPr>
              <a:t>Mesma escolaridade. Mesma idade. Mesmo sexo. Mesmo bairro. A diferença que resta é o acesso à ocupação — uma barreira que o salário sozinho não mostra.</a:t>
            </a:r>
          </a:p>
          <a:p>
            <a:pPr algn="l">
              <a:spcAft>
                <a:spcPts val="300"/>
              </a:spcAft>
            </a:pPr>
            <a:r>
              <a:rPr sz="1650" b="0">
                <a:solidFill>
                  <a:srgbClr val="212121"/>
                </a:solidFill>
                <a:latin typeface="Calibri"/>
              </a:rPr>
              <a:t>Para explicar esse resultado por inteiro, um fator não medido teria de se associar à raça e ao acesso com força de 1,5× — não é impossível, e por isso o resultado se apoia também em comparar pessoas do mesmo bairro.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5989320"/>
            <a:ext cx="11640312" cy="566928"/>
          </a:xfrm>
          <a:prstGeom prst="rect">
            <a:avLst/>
          </a:prstGeom>
          <a:solidFill>
            <a:srgbClr val="B71C1C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053328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 exclusão não começa só no contracheque: começa também na porta.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PNAD Contínua 2016–2025 (IBGE) · elaboração própria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Comparar vizinhos reduz o gap em cerca de 40%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035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E o que sobra não é explicado por escolaridade, estado nem ocupação</a:t>
            </a:r>
          </a:p>
        </p:txBody>
      </p:sp>
      <p:pic>
        <p:nvPicPr>
          <p:cNvPr id="5" name="Picture 4" descr="fig_hlm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7406640" cy="3598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55279" y="1463040"/>
            <a:ext cx="3931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50">
                <a:solidFill>
                  <a:srgbClr val="1565C0"/>
                </a:solidFill>
                <a:latin typeface="Calibri"/>
              </a:rPr>
              <a:t>▸  </a:t>
            </a:r>
            <a:r>
              <a:rPr sz="1550">
                <a:solidFill>
                  <a:srgbClr val="212121"/>
                </a:solidFill>
                <a:latin typeface="Calibri"/>
              </a:rPr>
              <a:t>Gap de partida: 10,5% a menos, mesma escolaridade e idade.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1565C0"/>
                </a:solidFill>
                <a:latin typeface="Calibri"/>
              </a:rPr>
              <a:t>▸  </a:t>
            </a:r>
            <a:r>
              <a:rPr sz="1550">
                <a:solidFill>
                  <a:srgbClr val="212121"/>
                </a:solidFill>
                <a:latin typeface="Calibri"/>
              </a:rPr>
              <a:t>39,5% desse gap é mediado pelo bairro de moradia.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1565C0"/>
                </a:solidFill>
                <a:latin typeface="Calibri"/>
              </a:rPr>
              <a:t>▸  </a:t>
            </a:r>
            <a:r>
              <a:rPr sz="1550">
                <a:solidFill>
                  <a:srgbClr val="212121"/>
                </a:solidFill>
                <a:latin typeface="Calibri"/>
              </a:rPr>
              <a:t>Gap líquido: 6,1% — mesma escolaridade, idade, sexo e bairro.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1565C0"/>
                </a:solidFill>
                <a:latin typeface="Calibri"/>
              </a:rPr>
              <a:t>▸  </a:t>
            </a:r>
            <a:r>
              <a:rPr sz="1550">
                <a:solidFill>
                  <a:srgbClr val="212121"/>
                </a:solidFill>
                <a:latin typeface="Calibri"/>
              </a:rPr>
              <a:t>Dentro da mesma ocupação ainda restam 5,6%.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1565C0"/>
                </a:solidFill>
                <a:latin typeface="Calibri"/>
              </a:rPr>
              <a:t>▸  </a:t>
            </a:r>
            <a:r>
              <a:rPr sz="1550">
                <a:solidFill>
                  <a:srgbClr val="212121"/>
                </a:solidFill>
                <a:latin typeface="Calibri"/>
              </a:rPr>
              <a:t>35% da variação de renda está entre bairros, não entre pessoas.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989320"/>
            <a:ext cx="11640312" cy="566928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053328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Onde a pessoa mora responde por 39,5% do gap — política de renda que ignora território tem eficácia limitada.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PNAD Contínua 2016–2025 (IBGE) · elaboração própria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17,9% do gap é preço diferente pelas mesmas características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035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Decomposição de Oaxaca–Blinder, o método padrão da economia do trabalho</a:t>
            </a:r>
          </a:p>
        </p:txBody>
      </p:sp>
      <p:pic>
        <p:nvPicPr>
          <p:cNvPr id="5" name="Picture 4" descr="fig_ob_casc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6949440" cy="2792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80960" y="1463040"/>
            <a:ext cx="4114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Como ler: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82,1% do gap vem de os grupos terem características diferentes (dotações).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17,9% vem de as mesmas características renderem menos a trabalhadores negros.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Quando a ocupação entra como se fosse característica, essa segunda parcela cai para 15,4% — mas isso subestima o problema, porque o acesso à ocupação é ele próprio desigual — é a porta de entrada que o GLMM mede.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989320"/>
            <a:ext cx="11640312" cy="566928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053328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As mesmas credenciais rendem menos — por isso educação, sozinha, não fecha a conta.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PNAD Contínua 2016–2025 (IBGE) · elaboração própria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Entre pares, a penalidade racial cresce rumo ao topo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035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E, na base da distribuição, o preço pesa 3,0 vezes mais que no topo</a:t>
            </a:r>
          </a:p>
        </p:txBody>
      </p:sp>
      <p:pic>
        <p:nvPicPr>
          <p:cNvPr id="5" name="Picture 4" descr="fig_qr_r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338560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02920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616161"/>
                </a:solidFill>
                <a:latin typeface="Calibri"/>
              </a:rPr>
              <a:t>À esquerda: a penalidade cresce de 4,3% na base para 8,4% no topo — é o teto de vidro.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616161"/>
                </a:solidFill>
                <a:latin typeface="Calibri"/>
              </a:rPr>
              <a:t>À direita: na base da distribuição, 26,5% do gap é preço diferente; no topo, 8,9% — é o piso pegajoso.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989320"/>
            <a:ext cx="11640312" cy="566928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053328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Duas perguntas, dois padrões: entre pares, quem sobe encontra teto; na renda do país, quem está embaixo é mal pago.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PNAD Contínua 2016–2025 (IBGE) · elaboração própria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A mulher negra entra pelas ocupações feminizadas, mas não chega ao comando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035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Raça e gênero se acumulam, sem se multiplicar</a:t>
            </a:r>
          </a:p>
        </p:txBody>
      </p:sp>
      <p:pic>
        <p:nvPicPr>
          <p:cNvPr id="5" name="Picture 4" descr="grupo_rg_intersec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6035040" cy="232116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0" y="1417320"/>
            <a:ext cx="4206240" cy="1828800"/>
          </a:xfrm>
          <a:prstGeom prst="rect">
            <a:avLst/>
          </a:prstGeom>
          <a:solidFill>
            <a:srgbClr val="F5F5F5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24928" y="1527048"/>
            <a:ext cx="39867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16161"/>
                </a:solidFill>
                <a:latin typeface="Calibri"/>
              </a:rPr>
              <a:t>Gap da mulher negra vs. homem branco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4928" y="1920240"/>
            <a:ext cx="39867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B71C1C"/>
                </a:solidFill>
                <a:latin typeface="Calibri"/>
              </a:rPr>
              <a:t>80,7%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4928" y="2788920"/>
            <a:ext cx="39867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o maior de todos os grupos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3474720"/>
            <a:ext cx="4206240" cy="2103120"/>
          </a:xfrm>
          <a:prstGeom prst="rect">
            <a:avLst/>
          </a:prstGeom>
          <a:solidFill>
            <a:srgbClr val="F5F5F5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24928" y="3584448"/>
            <a:ext cx="39867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16161"/>
                </a:solidFill>
                <a:latin typeface="Calibri"/>
              </a:rPr>
              <a:t>Raça + gênero, em log-pontos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4928" y="3977640"/>
            <a:ext cx="39867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565C0"/>
                </a:solidFill>
                <a:latin typeface="Calibri"/>
              </a:rPr>
              <a:t>0,592 &lt; 0,629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4928" y="4846320"/>
            <a:ext cx="398678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gap dela × soma dos dois eixos:</a:t>
            </a:r>
          </a:p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acumula as duas desvantagens, sem multiplicá-las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5989320"/>
            <a:ext cx="11640312" cy="566928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053328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Política desenhada só para “negros” ou só para “mulheres” deixa essa parcela de fora.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PNAD Contínua 2016–2025 (IBGE) · elaboração própria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O resultado resiste às checagens feitas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035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Quatro checagens independentes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5577840" cy="2057400"/>
          </a:xfrm>
          <a:prstGeom prst="rect">
            <a:avLst/>
          </a:prstGeom>
          <a:solidFill>
            <a:srgbClr val="F5F5F5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Sem impor forma funcional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Um modelo de machine learning, que não assume relação linear, coloca a raça na 14ª posição entre 28 variáveis — mesmo com todas as informações de escolaridade e contexto.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325880"/>
            <a:ext cx="5577840" cy="2057400"/>
          </a:xfrm>
          <a:prstGeom prst="rect">
            <a:avLst/>
          </a:prstGeom>
          <a:solidFill>
            <a:srgbClr val="F5F5F5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463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E se faltasse uma variável?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192024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Um fator não medido precisaria ter força de 1,5× para anular o resultado do acesso, e seria preciso que 98,4% da estimativa do gap fosse viés.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611880"/>
            <a:ext cx="5577840" cy="2057400"/>
          </a:xfrm>
          <a:prstGeom prst="rect">
            <a:avLst/>
          </a:prstGeom>
          <a:solidFill>
            <a:srgbClr val="F5F5F5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749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Sem sobreajuste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20624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Validação cruzada de 5 partições sobre a população inteira: R² de 0,644 com variação de 0,0006 entre elas. O erro típico de previsão é de R$ 664 por mês.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3611880"/>
            <a:ext cx="5577840" cy="2057400"/>
          </a:xfrm>
          <a:prstGeom prst="rect">
            <a:avLst/>
          </a:prstGeom>
          <a:solidFill>
            <a:srgbClr val="F5F5F5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3749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Sem depender do bairro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420624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Retirando a renda do bairro do modelo, a contribuição da raça praticamente não muda (0,0266 contra 0,0295): o achado não é um artefato dessa variável.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989320"/>
            <a:ext cx="11640312" cy="566928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053328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Nenhuma dessas checagens é decisiva sozinha — juntas, tornam a explicação alternativa menos provável.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PNAD Contínua 2016–2025 (IBGE) · elaboração própria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Onde os instrumentos vigentes alcançam as barreiras, e onde não alcançam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035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diagnóstico aponta o que intensificar e o que ainda falta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1325880"/>
          </a:xfrm>
          <a:prstGeom prst="rect">
            <a:avLst/>
          </a:prstGeom>
          <a:solidFill>
            <a:srgbClr val="F5F5F5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44168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71C1C"/>
                </a:solidFill>
                <a:latin typeface="Calibri"/>
              </a:rPr>
              <a:t>Barreira de acesso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01368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616161"/>
                </a:solidFill>
                <a:latin typeface="Calibri"/>
              </a:rPr>
              <a:t>Lei 15.142/2025 (30% das vagas em concursos federais)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435608"/>
            <a:ext cx="7406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12121"/>
                </a:solidFill>
                <a:latin typeface="Calibri"/>
              </a:rPr>
              <a:t>O diagnóstico sugere ampliar o alcance para níveis hierárquicos superiores, onde a porta é mais estreita (−24% no topo 10%).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743200"/>
            <a:ext cx="11247120" cy="1325880"/>
          </a:xfrm>
          <a:prstGeom prst="rect">
            <a:avLst/>
          </a:prstGeom>
          <a:solidFill>
            <a:srgbClr val="F5F5F5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852928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71C1C"/>
                </a:solidFill>
                <a:latin typeface="Calibri"/>
              </a:rPr>
              <a:t>Retorno da qualificação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310128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616161"/>
                </a:solidFill>
                <a:latin typeface="Calibri"/>
              </a:rPr>
              <a:t>Prouni, Fies e o legado do PRONATEC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2944368"/>
            <a:ext cx="7406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12121"/>
                </a:solidFill>
                <a:latin typeface="Calibri"/>
              </a:rPr>
              <a:t>As mesmas credenciais rendem menos; esses programas precisam vir acompanhados de mecanismos de inserção ocupacional.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251960"/>
            <a:ext cx="11247120" cy="1325880"/>
          </a:xfrm>
          <a:prstGeom prst="rect">
            <a:avLst/>
          </a:prstGeom>
          <a:solidFill>
            <a:srgbClr val="F5F5F5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361688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71C1C"/>
                </a:solidFill>
                <a:latin typeface="Calibri"/>
              </a:rPr>
              <a:t>Discriminação salarial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818888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616161"/>
                </a:solidFill>
                <a:latin typeface="Calibri"/>
              </a:rPr>
              <a:t>Lei 9.029/1995 e Estatuto da Igualdade Racial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4453128"/>
            <a:ext cx="7406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12121"/>
                </a:solidFill>
                <a:latin typeface="Calibri"/>
              </a:rPr>
              <a:t>O gap líquido de 6,1% — e os 5,6% que persistem dentro da mesma ocupação — justificam reforçar a fiscalização.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8978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F3864"/>
                </a:solidFill>
                <a:latin typeface="Calibri"/>
              </a:rPr>
              <a:t>Com a mesma escolaridade, idade, sexo e bairro, um trabalhador negro ganha 6,1% a menos e tem chances 19% menores de chegar a um cargo qualificado. O diploma quase iguala o salário, mas não abre a porta.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PNAD Contínua 2016–2025 (IBGE) · elaboração própria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