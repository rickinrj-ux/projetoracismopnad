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54864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600" b="1" i="0">
                <a:solidFill>
                  <a:srgbClr val="FFFFFF"/>
                </a:solidFill>
                <a:latin typeface="Calibri"/>
              </a:rPr>
              <a:t>Racismo no Mercado de Trabalho Brasileiro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O que 15,9 milhões de registros da PNAD Contínua revelam sobre desigualdade, acesso e oportunidade</a:t>
            </a:r>
          </a:p>
        </p:txBody>
      </p:sp>
      <p:sp>
        <p:nvSpPr>
          <p:cNvPr id="6" name="Rectangle 5"/>
          <p:cNvSpPr/>
          <p:nvPr/>
        </p:nvSpPr>
        <p:spPr>
          <a:xfrm>
            <a:off x="548640" y="2468880"/>
            <a:ext cx="1097280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864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37,5%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médio
(mediana: 27,5%)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2900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
vaga qualificada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2648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1792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de renda com
inclusão produtiva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915400" y="2606040"/>
            <a:ext cx="2606040" cy="123444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006840" y="2633472"/>
            <a:ext cx="2423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100+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06840" y="3273552"/>
            <a:ext cx="2423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no ritmo atual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2026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355080"/>
            <a:ext cx="10972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78909C"/>
                </a:solidFill>
                <a:latin typeface="Calibri"/>
              </a:rPr>
              <a:t>Dados: PNAD Contínua 2016–2025 (IBGE)  |  5 metodologias estatísticas  |  Período: 10 anos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Três realidades que os números confirmam — e que políticas isoladas não resolvem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97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B2A4A"/>
                </a:solidFill>
                <a:latin typeface="Calibri"/>
              </a:rPr>
              <a:t>A desigualdade racial no trabalho não é apenas salário: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554480"/>
            <a:ext cx="3749039" cy="54864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84048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1. Acesso bloqueado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Negros têm 25% menos chance de estar em cargos qualificados mesmo com a mesma formação, a mesma experiência e morando no mesmo bairro que um colega branco.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" y="4343400"/>
            <a:ext cx="3529584" cy="27432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C62828"/>
                </a:solidFill>
                <a:latin typeface="Calibri"/>
              </a:rPr>
              <a:t>Mulheres negras sofrem dupla barreira: discriminação racial + de gênero simultaneamente (Crenshaw, 1989).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1554480"/>
            <a:ext cx="3749039" cy="54864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2. Salário diferente
pela mesma função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19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Após controlar todas as características observáveis, negros ainda recebem 6,2% menos na mesma função. No topo salarial esse gap chega a 12%.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61687" y="4343400"/>
            <a:ext cx="3529584" cy="2743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89119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1565C0"/>
                </a:solidFill>
                <a:latin typeface="Calibri"/>
              </a:rPr>
              <a:t>A discriminação não para na contratação — continua na progressão e no salário.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598" y="1554480"/>
            <a:ext cx="3749039" cy="4892040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598" y="1554480"/>
            <a:ext cx="3749039" cy="54864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39326" y="1581912"/>
            <a:ext cx="3529584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3. Onde você mora
determina o que você ganha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8" y="2176272"/>
            <a:ext cx="3474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Mais de 1 em cada 5 reais da diferença salarial entre trabalhadores vem do bairro (UPA) onde cada um vive — não da competência individual.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339326" y="4343400"/>
            <a:ext cx="3529584" cy="27432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66758" y="4407408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1">
                <a:solidFill>
                  <a:srgbClr val="00696D"/>
                </a:solidFill>
                <a:latin typeface="Calibri"/>
              </a:rPr>
              <a:t>Segregação residencial se converte diretamente em segregação de renda.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2/13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Onde Você Mora Determina Sua Renda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segregação residencial se converte diretamente em segregação de renda</a:t>
            </a:r>
          </a:p>
        </p:txBody>
      </p:sp>
      <p:pic>
        <p:nvPicPr>
          <p:cNvPr id="5" name="Picture 4" descr="hlm_justif_caterpill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303520" cy="42062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isso significa?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1848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Dois trabalhadores idênticos — mesma idade, mesmo diploma, mesma função — ganham salários diferentes porque nasceram em bairros diferentes.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0" y="257860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95160" y="262432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 renda média do bairro (UPA) é o MAIOR determinante individual de renda — mais do que a educação.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3584448"/>
            <a:ext cx="5120640" cy="896112"/>
          </a:xfrm>
          <a:prstGeom prst="rect">
            <a:avLst/>
          </a:prstGeom>
          <a:solidFill>
            <a:srgbClr val="F5F5F5"/>
          </a:solidFill>
          <a:ln w="762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363016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Negros são super-representados nas UPAs de menor renda: o racismo histórico na moradia amplia o racismo atual no trabalho.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4590288"/>
            <a:ext cx="5120640" cy="896112"/>
          </a:xfrm>
          <a:prstGeom prst="rect">
            <a:avLst/>
          </a:prstGeom>
          <a:solidFill>
            <a:srgbClr val="E8F5E9"/>
          </a:solidFill>
          <a:ln w="762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95160" y="4636008"/>
            <a:ext cx="4846320" cy="804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Políticas de emprego que ignoram a dimensão territorial atacam apenas parte do problema.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5559552"/>
            <a:ext cx="11612880" cy="566928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" y="5650992"/>
            <a:ext cx="113385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se você mudar um negro do bairro mais pobre para o mais rico, você explica mais da metade do gap salarial — sem mudar nenhuma característica individual.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3/13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Pirâmide Racial do Trabalho Brasileiro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Nas melhores vagas: poucos negros. Nos piores empregos: maioria negra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1791148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01580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42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por 100 brancos
na mesma função de dirigente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1" name="Rectangle 10"/>
          <p:cNvSpPr/>
          <p:nvPr/>
        </p:nvSpPr>
        <p:spPr>
          <a:xfrm>
            <a:off x="4023359" y="4617720"/>
            <a:ext cx="3566160" cy="128016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799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2,1×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799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mais negros em
ocupações elementares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799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5" name="Rectangle 14"/>
          <p:cNvSpPr/>
          <p:nvPr/>
        </p:nvSpPr>
        <p:spPr>
          <a:xfrm>
            <a:off x="7772398" y="4617720"/>
            <a:ext cx="3566160" cy="128016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38" y="4690872"/>
            <a:ext cx="33832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0,47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38" y="5330952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índice de representação
negra no top 5% das capitais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38" y="5641848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989320"/>
            <a:ext cx="11612880" cy="548640"/>
          </a:xfrm>
          <a:prstGeom prst="rect">
            <a:avLst/>
          </a:prstGeom>
          <a:solidFill>
            <a:srgbClr val="FFEBEE"/>
          </a:solidFill>
          <a:ln w="1524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6080760"/>
            <a:ext cx="11338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A sub-representação não é resultado de falta de qualificação — é o produto de barreiras sistemáticas de acesso confirmadas pelos modelos estatísticos.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4/13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Negros Têm Menos Chance nas Melhores Vagas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Mesmo com o mesmo diploma, o mesmo bairro e a mesma experiência — a barreira persiste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51560"/>
            <a:ext cx="6217920" cy="36271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 análise mostrou: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60020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64592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C62828"/>
                </a:solidFill>
                <a:latin typeface="Calibri"/>
              </a:rPr>
              <a:t>31% menos chance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86600" y="202996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Um trabalhador negro com exatamente as mesmas características que um branco tem 31% menos chance de estar em uma ocupação qualificada (gerente, engenheiro, advogado...)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92608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9718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−4,8 pontos percentuais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335584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Mesmo após considerar o bairro onde mora, o setor de trabalho e horas trabalhadas, negros ainda ficam fora das melhores vagas. Isso é o resíduo puro da discriminação.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4251960"/>
            <a:ext cx="5029200" cy="120700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429768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Não é falta de diploma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86600" y="4681728"/>
            <a:ext cx="475488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212121"/>
                </a:solidFill>
                <a:latin typeface="Calibri"/>
              </a:rPr>
              <a:t>O modelo controla educação, experiência, setor, horas e bairro. O que sobra é a cor da pele sendo usada como critério de seleção.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5/13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Teto de Vidro É Real — e Piora no Topo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Quanto maior o salário, maior a barreira racial — confirmado por análise estatística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Como ler este gráfico: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55448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269480" y="159105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Eixo vertical: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0" y="159105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Quanto negros ganham a menos (%) em cada faixa salarial</a:t>
            </a:r>
          </a:p>
        </p:txBody>
      </p:sp>
      <p:sp>
        <p:nvSpPr>
          <p:cNvPr id="10" name="Rectangle 9"/>
          <p:cNvSpPr/>
          <p:nvPr/>
        </p:nvSpPr>
        <p:spPr>
          <a:xfrm>
            <a:off x="7132320" y="237744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0" y="241401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Linha descendente: 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0" y="241401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 desvantagem CRESCE conforme o salário aumenta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132320" y="3200400"/>
            <a:ext cx="4846320" cy="749808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69480" y="323697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B2A4A"/>
                </a:solidFill>
                <a:latin typeface="Calibri"/>
              </a:rPr>
              <a:t>No salário mínimo: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323697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de ~10% — ruim, mas menor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132320" y="402336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69480" y="405993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No topo 5%: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0" y="405993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Gap racial sobe para ~22% — a barreira é mais alta exatamente onde os prêmios são maiores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4846320"/>
            <a:ext cx="4846320" cy="749808"/>
          </a:xfrm>
          <a:prstGeom prst="rect">
            <a:avLst/>
          </a:prstGeom>
          <a:solidFill>
            <a:srgbClr val="FFEBEE"/>
          </a:solidFill>
          <a:ln w="762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69480" y="4882896"/>
            <a:ext cx="1371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C62828"/>
                </a:solidFill>
                <a:latin typeface="Calibri"/>
              </a:rPr>
              <a:t>A cor da pele: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0" y="48828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age como um filtro que fica mais opaco conforme a vaga fica mais valiosa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596128"/>
            <a:ext cx="11612880" cy="713232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5687568"/>
            <a:ext cx="11338560" cy="5303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Ciclo de vida (raça): o gap cresce de 9% para 37,5% no pico da carreira. E há um teto de vidro de GÊNERO distinto: mulheres chegam às profissões qualificadas, mas não ao topo dos salários.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6/13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Rede que Exclui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Negros ficam fora das redes que convertem diplomas em empregos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24005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30936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são as redes profissionais?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309360" y="157276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61848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Vagas nunca anunciadas são preenchidas por indicação — quem está na rede chega antes.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244144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248716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1565C0"/>
                </a:solidFill>
                <a:latin typeface="Calibri"/>
              </a:rPr>
              <a:t>◆  Mentores, referências e "network" determinam promoção tão quanto o desempenho.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331012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335584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A análise mostra: brancos atuam como conectores (brokers) em TODOS os níveis educacionais.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4178808"/>
            <a:ext cx="5577840" cy="777240"/>
          </a:xfrm>
          <a:prstGeom prst="rect">
            <a:avLst/>
          </a:prstGeom>
          <a:solidFill>
            <a:srgbClr val="FFEBEE"/>
          </a:solidFill>
          <a:ln w="63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422452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C62828"/>
                </a:solidFill>
                <a:latin typeface="Calibri"/>
              </a:rPr>
              <a:t>✗  Negros ficam nas bordas da rede — mesmo com pós-graduação, sem acesso ao centro.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5047488"/>
            <a:ext cx="5577840" cy="777240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46520" y="5093208"/>
            <a:ext cx="53035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 i="0">
                <a:solidFill>
                  <a:srgbClr val="212121"/>
                </a:solidFill>
                <a:latin typeface="Calibri"/>
              </a:rPr>
              <a:t>▸  Resultado: o diploma negro vale menos porque falta a rede que o converte em oportunidade.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5989320"/>
            <a:ext cx="5943600" cy="621792"/>
          </a:xfrm>
          <a:prstGeom prst="rect">
            <a:avLst/>
          </a:prstGeom>
          <a:solidFill>
            <a:srgbClr val="E3F2FD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6080760"/>
            <a:ext cx="56692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"Mesmo que dois candidatos tenham o mesmo currículo, o que tem a rede certa chega primeiro. Essa rede, historicamente, é majoritariamente branca."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7/13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Estado Ajuda — Mas Não Resolve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Setor público reduz a desigualdade geral, mas o gap racial persiste e o de gênero é MAIOR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486400" cy="2309167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5040" y="1097280"/>
            <a:ext cx="5852160" cy="246613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617720"/>
            <a:ext cx="3566160" cy="109728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1148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2E7D32"/>
                </a:solidFill>
                <a:latin typeface="Calibri"/>
              </a:rPr>
              <a:t>Sim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Gini público &lt; privado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0,466 vs 0,472 — melhora marginal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69080" y="4617720"/>
            <a:ext cx="3566160" cy="109728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20624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8F00"/>
                </a:solidFill>
                <a:latin typeface="Calibri"/>
              </a:rPr>
              <a:t>Não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0624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racial não some no concurso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−25,2% público vs −29,2% privado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863840" y="4617720"/>
            <a:ext cx="3566160" cy="109728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4645152"/>
            <a:ext cx="11887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C62828"/>
                </a:solidFill>
                <a:latin typeface="Calibri"/>
              </a:rPr>
              <a:t>Piora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5138928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Gap de gênero é maior no público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01000" y="5458968"/>
            <a:ext cx="3291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−20,8% público vs −16,9% privado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33872"/>
            <a:ext cx="11612880" cy="502920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25312"/>
            <a:ext cx="11338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concurso público equaliza a entrada, mas a promoção às posições de liderança (DAS, chefia) ainda reflete os vieses do setor privado — ou piores.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8/13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Custo para Todos Nós — Inclusão Produtiva como Oportunidade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Hsieh et al. (2019): discriminação racial e de gênero custou ao EUA 20–40% do crescimento 1960–2010</a:t>
            </a:r>
          </a:p>
        </p:txBody>
      </p:sp>
      <p:pic>
        <p:nvPicPr>
          <p:cNvPr id="5" name="Picture 4" descr="estado_h4_inclu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4972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675120" y="1097280"/>
            <a:ext cx="53035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O que aconteceria se negros tivessem
acesso igual às melhores vagas?</a:t>
            </a:r>
          </a:p>
        </p:txBody>
      </p:sp>
      <p:sp>
        <p:nvSpPr>
          <p:cNvPr id="7" name="Rectangle 6"/>
          <p:cNvSpPr/>
          <p:nvPr/>
        </p:nvSpPr>
        <p:spPr>
          <a:xfrm>
            <a:off x="6675120" y="18288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675120" y="1828800"/>
            <a:ext cx="5303520" cy="36576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8653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Hoje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12280" y="22402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C62828"/>
                </a:solidFill>
                <a:latin typeface="Calibri"/>
              </a:rPr>
              <a:t>Mediana salarial: R$2.000 (brancos) vs R$1.450 (negros) — gap de 27,5%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12280" y="25786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Gap médio de 37,5%; em cargos de alta qualificação: 11% negros vs 22% brancos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0" y="32004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0" y="3200400"/>
            <a:ext cx="5303520" cy="36576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12280" y="32369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+127% renda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12280" y="36118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E7D32"/>
                </a:solidFill>
                <a:latin typeface="Calibri"/>
              </a:rPr>
              <a:t>Se negros tivessem a mesma distribuição ocupacional que brancos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12280" y="39502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A renda média dos trabalhadores negros mais que dobraria — sem nenhum aumento de produtividade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0" y="4572000"/>
            <a:ext cx="5303520" cy="1261872"/>
          </a:xfrm>
          <a:prstGeom prst="rect">
            <a:avLst/>
          </a:prstGeom>
          <a:solidFill>
            <a:srgbClr val="F5F5F5"/>
          </a:solidFill>
          <a:ln w="25400">
            <a:solidFill>
              <a:srgbClr val="0069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572000"/>
            <a:ext cx="5303520" cy="365760"/>
          </a:xfrm>
          <a:prstGeom prst="rect">
            <a:avLst/>
          </a:prstGeom>
          <a:solidFill>
            <a:srgbClr val="00696D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812280" y="4608576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Proxy: +74 p.p. PIB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12280" y="4983480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696D"/>
                </a:solidFill>
                <a:latin typeface="Calibri"/>
              </a:rPr>
              <a:t>Estimativa conservadora do impacto no crescimento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12280" y="5321808"/>
            <a:ext cx="50292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616161"/>
                </a:solidFill>
                <a:latin typeface="Calibri"/>
              </a:rPr>
              <a:t>Incluir negros nas melhores vagas seria um dos maiores motores de crescimento disponíveis hoje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9/13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Racismo Tem Endereço — Varia Muito Entre Estados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A desvantagem racial é bem maior em alguns estados — e a política pode (e deve) focar onde mais dói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05156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B2A4A"/>
                </a:solidFill>
                <a:latin typeface="Calibri"/>
              </a:rPr>
              <a:t>A mesma injustiça, em tamanhos muito diferentes pelo país:</a:t>
            </a:r>
          </a:p>
        </p:txBody>
      </p:sp>
      <p:pic>
        <p:nvPicPr>
          <p:cNvPr id="6" name="Picture 5" descr="mapa_po_regio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417320"/>
            <a:ext cx="3931920" cy="380948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4937760" y="1417320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937760" y="1417320"/>
            <a:ext cx="128016" cy="137160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38928" y="1481328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C62828"/>
                </a:solidFill>
                <a:latin typeface="Calibri"/>
              </a:rPr>
              <a:t>O gap muda de estado para estado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38928" y="1892808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Chega a ~21% (DF) em alguns estados e cai a ~1% (MG) em outros. Não é o mesmo problema em todo lugar.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937760" y="2898648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937760" y="2898648"/>
            <a:ext cx="128016" cy="13716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2962656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FF8F00"/>
                </a:solidFill>
                <a:latin typeface="Calibri"/>
              </a:rPr>
              <a:t>Maior onde há mais riqueza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3374136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As maiores desvantagens aparecem no Distrito Federal, no Rio e em São Paulo — crescimento econômico, sozinho, não dissolve a barreira racial.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4379976"/>
            <a:ext cx="6949440" cy="137160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937760" y="4379976"/>
            <a:ext cx="128016" cy="13716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38928" y="4443984"/>
            <a:ext cx="6675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1" i="0">
                <a:solidFill>
                  <a:srgbClr val="2E7D32"/>
                </a:solidFill>
                <a:latin typeface="Calibri"/>
              </a:rPr>
              <a:t>Focar onde dói rende muito mais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38928" y="4855464"/>
            <a:ext cx="667512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Concentrar o orçamento nos estados de maior desvantagem entrega até +68% mais resultado do que espalhar o dinheiro por igual.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5897880"/>
            <a:ext cx="11612880" cy="603504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" y="5989320"/>
            <a:ext cx="113385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Em linguagem simples: tratar o país inteiro igual desperdiça recursos. Levar a política primeiro aos estados ★ (DF, AM, TO, PA, AC) multiplica o impacto do mesmo orçamento.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10/13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O Que Funciona — Três Eixos de 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Nenhum eixo isolado resolve. Os três precisam atuar simultaneamente.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84048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Abrir as Portas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Cotas de acesso a cargos
qualificados (meta: IR ≥ 0,80)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834640"/>
            <a:ext cx="338328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Formação profissional com
recorte racial e bolsas de
residência em empresas premium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4114800"/>
            <a:ext cx="3566160" cy="18288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C62828"/>
                </a:solidFill>
                <a:latin typeface="Calibri"/>
              </a:rPr>
              <a:t>Atacar onde os dados apontam:
barreiras de ACESSO, não só salário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51959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61687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Pagar Igual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Transparência salarial por raça
obrigatória (empresas &gt; 100 fun.)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434839" y="2834640"/>
            <a:ext cx="338328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34839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Auditoria de igual pagamento
por trabalho igual com
penalidades progressivas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399" y="4114800"/>
            <a:ext cx="356616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389119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1565C0"/>
                </a:solidFill>
                <a:latin typeface="Calibri"/>
              </a:rPr>
              <a:t>O gap residual de 6,2% é real
e mensurável — e deve ser eliminado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229598" y="1097280"/>
            <a:ext cx="3749039" cy="5349240"/>
          </a:xfrm>
          <a:prstGeom prst="rect">
            <a:avLst/>
          </a:prstGeom>
          <a:solidFill>
            <a:srgbClr val="F5F5F5"/>
          </a:solidFill>
          <a:ln w="2540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339326" y="1124712"/>
            <a:ext cx="352958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  <a:latin typeface="Calibri"/>
              </a:rPr>
              <a:t>Ampliar as Redes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78" y="169164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1:
Mentoria estruturada para elevar
a posição de negros nas redes
profissionais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12478" y="2834640"/>
            <a:ext cx="338328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78" y="2926080"/>
            <a:ext cx="3383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Ação 2:
30% dos cargos de liderança
(DAS + corporativo) para negros
até 2030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321038" y="4114800"/>
            <a:ext cx="356616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66758" y="4206240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1">
                <a:solidFill>
                  <a:srgbClr val="2E7D32"/>
                </a:solidFill>
                <a:latin typeface="Calibri"/>
              </a:rPr>
              <a:t>Sem acesso às redes que convertem
diplomas em empregos, nada muda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" y="6355080"/>
            <a:ext cx="116128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C62828"/>
                </a:solidFill>
                <a:latin typeface="Calibri"/>
              </a:rPr>
              <a:t>⚠  Sem ação simultânea nos três eixos, fechar o gap levará mais de 100 anos no ritmo atual.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11/13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6012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A Urgência — O Que Está em Jogo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576072"/>
            <a:ext cx="11247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BBDEFB"/>
                </a:solidFill>
                <a:latin typeface="Calibri"/>
              </a:rPr>
              <a:t>Pleno emprego sem prosperidade: 94,4% empregados, renda real estagnada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387374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097280"/>
            <a:ext cx="5760720" cy="2423207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754880"/>
            <a:ext cx="2743200" cy="1234440"/>
          </a:xfrm>
          <a:prstGeom prst="rect">
            <a:avLst/>
          </a:prstGeom>
          <a:solidFill>
            <a:srgbClr val="E8F5E9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emprego em 2025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máxima histórica da série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R$1.283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renda real 2025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queda vs R$1.345 em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4754880"/>
            <a:ext cx="2743200" cy="1234440"/>
          </a:xfrm>
          <a:prstGeom prst="rect">
            <a:avLst/>
          </a:prstGeom>
          <a:solidFill>
            <a:srgbClr val="FFEBEE"/>
          </a:solidFill>
          <a:ln w="19050">
            <a:solidFill>
              <a:srgbClr val="C6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C62828"/>
                </a:solidFill>
                <a:latin typeface="Calibri"/>
              </a:rPr>
              <a:t>11%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negros em alta
qualificação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brancos: 22,4%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052560" y="4754880"/>
            <a:ext cx="2743200" cy="1234440"/>
          </a:xfrm>
          <a:prstGeom prst="rect">
            <a:avLst/>
          </a:prstGeom>
          <a:solidFill>
            <a:srgbClr val="FFF9E7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0" y="4828032"/>
            <a:ext cx="256032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5468112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1" i="0">
                <a:solidFill>
                  <a:srgbClr val="212121"/>
                </a:solidFill>
                <a:latin typeface="Calibri"/>
              </a:rPr>
              <a:t>anos para fechar
o gap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5779008"/>
            <a:ext cx="25603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616161"/>
                </a:solidFill>
                <a:latin typeface="Calibri"/>
              </a:rPr>
              <a:t>no ritmo atual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6309360"/>
            <a:ext cx="11612880" cy="402336"/>
          </a:xfrm>
          <a:prstGeom prst="rect">
            <a:avLst/>
          </a:prstGeom>
          <a:solidFill>
            <a:srgbClr val="FFF9E7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11480" y="6400800"/>
            <a:ext cx="113385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B2A4A"/>
                </a:solidFill>
                <a:latin typeface="Calibri"/>
              </a:rPr>
              <a:t>O Brasil está a produzir emprego, mas não prosperidade igualitária. Pleno emprego com segregação ocupacional é o cenário atual — e não se resolve sozinho.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29400"/>
            <a:ext cx="12188952" cy="2286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82880" y="6647688"/>
            <a:ext cx="10515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750" b="0" i="0">
                <a:solidFill>
                  <a:srgbClr val="BBDEFB"/>
                </a:solidFill>
                <a:latin typeface="Calibri"/>
              </a:rPr>
              <a:t>PNAD Contínua 2016–2025  |  15,9 milhões de observações  |  Ricardo Calheiros — MBA USP/ESALQ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47688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FFFFFF"/>
                </a:solidFill>
                <a:latin typeface="Calibri"/>
              </a:rPr>
              <a:t>12/13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B2A4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62828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1" i="0">
                <a:solidFill>
                  <a:srgbClr val="FFFFFF"/>
                </a:solidFill>
                <a:latin typeface="Calibri"/>
              </a:rPr>
              <a:t>A pergunta não é se o racismo estrutural existe.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34440"/>
            <a:ext cx="10698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FF8F00"/>
                </a:solidFill>
                <a:latin typeface="Calibri"/>
              </a:rPr>
              <a:t>Os dados respondem isso com clareza.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1828800"/>
            <a:ext cx="10698480" cy="36576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965960"/>
            <a:ext cx="106984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Calibri"/>
              </a:rPr>
              <a:t>A pergunta é: o que faremos com esse conhecimento?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31%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menos chance de uma
vaga qualificada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3756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42900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27,5%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2900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gap salarial na
mediana bruta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+127%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ganho potencial de
renda com inclusão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915400" y="2697480"/>
            <a:ext cx="2606040" cy="1325880"/>
          </a:xfrm>
          <a:prstGeom prst="rect">
            <a:avLst/>
          </a:prstGeom>
          <a:solidFill>
            <a:srgbClr val="121E38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006840" y="2724912"/>
            <a:ext cx="2423160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+100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06840" y="3346704"/>
            <a:ext cx="242316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para convergir
sem ação deliberada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20624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55080"/>
            <a:ext cx="11612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1">
                <a:solidFill>
                  <a:srgbClr val="78909C"/>
                </a:solidFill>
                <a:latin typeface="Calibri"/>
              </a:rPr>
              <a:t>Dados e código disponíveis  |  Metodologia: HLM + ML/SHAP + Oaxaca-Blinder + GLMM + Reg. Quantílica  |  PNAD Contínua 2016–2025 (IBGE)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750" b="0" i="0">
                <a:solidFill>
                  <a:srgbClr val="78909C"/>
                </a:solidFill>
                <a:latin typeface="Calibri"/>
              </a:rPr>
              <a:t>13/13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