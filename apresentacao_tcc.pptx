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Orientador(a): 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−5,16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−4,84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30,9% menor odds de estar em ocupação qualificada (OR=0,691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2,331× (M1)  |  E ≥ 2,254× (M2)  para anular OR = 0,674 / 0,691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Clustering Socioeconômico — K-Means (k=3) | N=7.694.198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MiniBatchKMeans | 12 dimensões | k=3 adotado por interpretabilidade (k=2 trivialmente binário)</a:t>
            </a:r>
          </a:p>
        </p:txBody>
      </p:sp>
      <p:pic>
        <p:nvPicPr>
          <p:cNvPr id="5" name="Picture 4" descr="kmeans_perfis_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021041"/>
          </a:xfrm>
          <a:prstGeom prst="rect">
            <a:avLst/>
          </a:prstGeom>
        </p:spPr>
      </p:pic>
      <p:pic>
        <p:nvPicPr>
          <p:cNvPr id="6" name="Picture 5" descr="kmeans_gap_racial_k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97280"/>
            <a:ext cx="5852160" cy="288270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206240"/>
            <a:ext cx="10515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242816"/>
            <a:ext cx="9784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7685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Negro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5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Mulher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log_Renda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4206240"/>
            <a:ext cx="60350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3016" y="4242816"/>
            <a:ext cx="59618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71C1C"/>
                </a:solidFill>
                <a:latin typeface="Calibri"/>
              </a:rPr>
              <a:t>C0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590288"/>
            <a:ext cx="10515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4626864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2.110.270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27,4%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4553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76,2%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39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4215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861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6,961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4590288"/>
            <a:ext cx="60350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3016" y="4626864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Mulheres negras — vulnerabilidade dupla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565C0"/>
                </a:solidFill>
                <a:latin typeface="Calibri"/>
              </a:rPr>
              <a:t>C1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4974336"/>
            <a:ext cx="10515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010912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2.705.788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4028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7685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35,2%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553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18,0%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14215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40,1%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9204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2861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7,895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4974336"/>
            <a:ext cx="60350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43016" y="5010912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Brancos alta renda — menor escolaridade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3864"/>
                </a:solidFill>
                <a:latin typeface="Calibri"/>
              </a:rPr>
              <a:t>C2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" y="5358384"/>
            <a:ext cx="10515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3856" y="5394960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2.878.140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028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7685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37,4%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4553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81,3%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77639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14215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9204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2861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7,074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5358384"/>
            <a:ext cx="60350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43016" y="5394960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Homens negros — 36,5% superior, renda 58% &lt; C1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687568"/>
            <a:ext cx="11612880" cy="50292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5733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Paradoxo de Simpson: dentro de cada cluster negros ganham mais que brancos — pois brancos nos clusters negros são os piores-off de seu grupo.  H5 confirmado: C2 tem 36,5% de superior vs 13,7% em C1, mas renda 58% inferior.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−25,2%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−29,2%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−18,8%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−16,9%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(−25,2%) — atenuado vs privado (−29,2%).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simulação CBO: +127,3% renda negra; proxy agregado +74,3 p.p. (127,3% × participação ~58% — conservador, ver nota metodológica).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ICC=9,83%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OR=0,691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AME=−4,84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K-Means: C2 homens negros — 36,5% superior mas 58% &lt; renda C1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0,834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0,396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CC=0,834 — 2,1× superior ao 2º colocado.  Pareto (λ=0,5): alocação ótima = P1+P5 (cotas + mentoria).  PL-1 (orçamento B=5): redução projetada de 25,1%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Pesquisa Operacional Regionalizada — Focalização Territorial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BLUP do random slope por UF → alocação ótima do orçamento | ganho da focalização sobre a alocação uniforme</a:t>
            </a:r>
          </a:p>
        </p:txBody>
      </p:sp>
      <p:pic>
        <p:nvPicPr>
          <p:cNvPr id="5" name="Picture 4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4663440" cy="52160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Focalização territorial (base BLUP)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600200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0" y="1600200"/>
            <a:ext cx="109728" cy="9601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673352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Ganho da focalização: B=9 → +68,2%  |  B=3 → +125,5%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6712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vs. alocação uniforme entre as 27 UFs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679192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2679192"/>
            <a:ext cx="109728" cy="960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52344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UFs prioritárias: DF, AM, TO, PA, 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246120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maior penalidade × maior população negra afetada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758184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3758184"/>
            <a:ext cx="109728" cy="9601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3831336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Amplitude: DF −20,9%  →  MG −1,4%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32511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penalidade racial por UF (BLUP do MixedLM)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4837176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4837176"/>
            <a:ext cx="109728" cy="9601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4910328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Base oficial: BLUP ≠ OLS+EB (Spearman ρ=0,42)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40410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modelo misto completo, não a aproximação rápida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 random slope (LRT p&lt;0,001) prova que a penalidade racial é geograficamente heterogênea → política federativa diferenciada supera a uniforme em até +125,5% com orçamento escasso.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24. Random Slope no GLMM — A Barreira de Acesso Também é Geográfica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lme4::glmer, população completa | random slope de negro por UF em 3 desfechos + público × privado</a:t>
            </a:r>
          </a:p>
        </p:txBody>
      </p:sp>
      <p:pic>
        <p:nvPicPr>
          <p:cNvPr id="5" name="Picture 4" descr="glmm_r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4258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LRT rejeita τ²=0 em TODOS os desfechos (p&lt;0,001): o acesso varia entre estados, como o salário.  Contraste: gap salarial maior nos estados ricos (ρ=−0,37) vs acesso mais fácil neles (ρ=0,64).  Setor público NÃO dissolve a barreira (OR púb=0,705 ≈ priv=0,695).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25/27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25.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
(proxy agregado: ~74 p.p.; ver nota metodológica)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26/27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26.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n=7,7M, 40,9k UPAs); random slope de negro no GLMM não estimado por custo — porém o random slope foi estimado no HLM de salário (base da PO regionalizada por UF)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27/27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27.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OR=0,691, AME=−4,84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