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4552" cy="3474720"/>
          </a:xfrm>
          <a:prstGeom prst="rect">
            <a:avLst/>
          </a:prstGeom>
          <a:solidFill>
            <a:srgbClr val="0D1F3C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943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Racismo Estrutural e Mercado de Trabalho no Brasil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DEFB"/>
                </a:solidFill>
                <a:latin typeface="Calibri"/>
              </a:rPr>
              <a:t>Evidências da PNAD Contínua 2016–2025 via HLM, ML/SHAP,
Oaxaca-Blinder, Logit Multinível e Regressão Quantílica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34640"/>
            <a:ext cx="10515600" cy="2743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Ricardo Calheiros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BDEFB"/>
                </a:solidFill>
                <a:latin typeface="Calibri"/>
              </a:rPr>
              <a:t>MBA em Data Science e Analytics  |  USP/ESALQ  |  Defesa: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15,9M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observações brutas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7,7M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obs. PEA c/ renda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metodologias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de série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09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0A4AE"/>
                </a:solidFill>
                <a:latin typeface="Calibri"/>
              </a:rPr>
              <a:t>Orientador(a): _______________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1. 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Por que um mestrado quantitativo sobre o gap racial brasileiro?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O gap salarial racial persiste mesmo após décadas de políticas inclusivas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6583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Trabalhadores negros ganham em média 40–55% menos que brancos — bruta, sem controles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O gap persiste mesmo após controlar escolaridade, sexo e experiência: é estrutural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Mecanismos: segregação residencial, exclusão das redes profissionais, glass ceiling ocupacional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Estudos tradicionais usam apenas OLS — não separam ACESSO de REMUNERAÇÃO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097280"/>
            <a:ext cx="4754880" cy="4389120"/>
          </a:xfrm>
          <a:prstGeom prst="rect">
            <a:avLst/>
          </a:prstGeom>
          <a:solidFill>
            <a:srgbClr val="F5F5F5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2344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Inovações deste TCC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69164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565C0"/>
                </a:solidFill>
                <a:latin typeface="Calibri"/>
              </a:rPr>
              <a:t>✦ 15,9M obs. — série histórica completa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28600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Variáveis CBO, vínculo e horas (VD4009/V4010/VD4031) extraídas dos ZIPs brutos do IBGE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88036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ACESSO (logit)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347472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REMUNERAÇÃO (HLM + QR)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406908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Convergência de 5 métodos independentes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2/25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2. Base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PNAD Contínua 2016–2025 + enriquecimento com variáveis ocupacionais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Observações brutas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15,9M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PNAD 2016–2025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PEA com renda positiva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7,7M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filtros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UPAs (bairros)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40.120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Nível 2 do HLM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Cobertura temporal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10 anos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2016 T1 →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468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Enriquecimento dos microdados: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V4010  →  ocp_grupo_cbo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Grupo ocupacional CBO-Domiciliar
(10 grupos ISCO-08)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VD4009  →  emprego_formal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Vínculo empregatício detalhado
(carteira, servidor, conta-própria...)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VD4031  →  horas_c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Total de horas efetivamente
trabalhadas (centralizada)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348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16161"/>
                </a:solidFill>
                <a:latin typeface="Calibri"/>
              </a:rPr>
              <a:t>Estratégia: leitura seletiva dos ZIPs originais (≈8,4 GB) — sem re-download.
Join por chave composta (Ano+Trimestre+UPA+V1008+V2003) → taxa NA = 0% na amostra de trabalho.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3/25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3. Análise Descritiva — A Desigualdade nos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mediano bruto de 27,5% | 7,7 milhões de empregados com renda positiva | PNAD Contínua 2016–2025</a:t>
            </a:r>
          </a:p>
        </p:txBody>
      </p:sp>
      <p:pic>
        <p:nvPicPr>
          <p:cNvPr id="5" name="Picture 4" descr="fig1_densidade_log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85216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097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os números dizem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60020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mediano bruto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27,5%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4144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R$2.000 vs negros R$1.450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160020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16459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na média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19202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37,5%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244144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R$3.256 vs negros R$2.040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88036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9260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log-renda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20040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42,0%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21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equivalente em renda esperada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288036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9260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Formal (brancos/neg.)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32004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53%/48%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372160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5 p.p. a menos de emprego formal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4206240"/>
            <a:ext cx="5577840" cy="141732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51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Interpretação da curva de densidade: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461772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Curva vermelha (negros) deslocada à esquerda ao longo de toda a distribuição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Linhas tracejadas = médias de log-renda de cada grupo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O deslocamento é estrutural — não se concentra em nenhuma faixa específica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349240"/>
            <a:ext cx="11612880" cy="41148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 gap persiste em TODOS os níveis educacionais — inclusive pós-graduação (19,1%). Educação é condição necessária, mas não suficiente para eliminar a desigualdade racial.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4/25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4. Arquitetura Metodológica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5 metodologias complementares — convergência de evidências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143000"/>
            <a:ext cx="22402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Modelos Hierárquicos
Lineares (3 níveis)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606040"/>
            <a:ext cx="2057400" cy="1828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Calibri"/>
              </a:rPr>
              <a:t>Gap médio e
mediação contextual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4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06040" y="1143000"/>
            <a:ext cx="224028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ML/SHAP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XGBoost + Random Forest
+ SHAP Values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7480" y="2606040"/>
            <a:ext cx="205740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565C0"/>
                </a:solidFill>
                <a:latin typeface="Calibri"/>
              </a:rPr>
              <a:t>Importância e
direção das variáveis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83480" y="1143000"/>
            <a:ext cx="224028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Oaxaca-Blinder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Decomposição do gap
em dotações vs retornos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74920" y="2606040"/>
            <a:ext cx="2057400" cy="1828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ONDE opera
a discriminação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6092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60920" y="1143000"/>
            <a:ext cx="2240280" cy="45720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Logit Multinível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Regressão logística
com estrutura multinível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52360" y="2606040"/>
            <a:ext cx="2057400" cy="1828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8F00"/>
                </a:solidFill>
                <a:latin typeface="Calibri"/>
              </a:rPr>
              <a:t>Gap de ACESSO
a oportunidades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3836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38360" y="1143000"/>
            <a:ext cx="2240280" cy="45720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2980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Reg. Quantílica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Gap por quantil
da distribuição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29800" y="2606040"/>
            <a:ext cx="205740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980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D32"/>
                </a:solidFill>
                <a:latin typeface="Calibri"/>
              </a:rPr>
              <a:t>Glass Ceiling
formal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557784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F3864"/>
                </a:solidFill>
                <a:latin typeface="Calibri"/>
              </a:rPr>
              <a:t>↓ Convergência dos 5 métodos = robustez diagnóstica 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623560"/>
            <a:ext cx="11612880" cy="457200"/>
          </a:xfrm>
          <a:prstGeom prst="rect">
            <a:avLst/>
          </a:prstGeom>
          <a:solidFill>
            <a:srgbClr val="E8EAF0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Discriminação de ACESSO (logit) + Discriminação de REMUNERAÇÃO (HLM + QR) + Exclusão de REDES (SNA)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5/25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5. HLM — Decomposição do Gap em Camadas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Do gap bruto de 19,3% ao resíduo de discriminação pura de 6,2%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0412272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69472" y="1353312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19.3%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" y="1234440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BRUTO
(M1)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92432" y="12801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Sem controles contextuais
nem ocupacionais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75688"/>
            <a:ext cx="5179161" cy="65836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36361" y="22402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565C0"/>
                </a:solidFill>
                <a:latin typeface="Calibri"/>
              </a:rPr>
              <a:t>9.6%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" y="2121408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UPA
(M2)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9321" y="2167128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Local de moradia explica
52% do gap bruto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962656"/>
            <a:ext cx="5233111" cy="65836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90311" y="312724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8F00"/>
                </a:solidFill>
                <a:latin typeface="Calibri"/>
              </a:rPr>
              <a:t>9.7%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" y="3008376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LÍQUIDO
(M3)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3271" y="3054096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contexto UPA + UF FE
(discriminação residual)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849624"/>
            <a:ext cx="1888235" cy="65836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45436" y="401421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D32"/>
                </a:solidFill>
                <a:latin typeface="Calibri"/>
              </a:rPr>
              <a:t>3.5%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" y="3895344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Ocp.
(M4)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68396" y="3941064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CBO + formalidade + horas
explicam mais 18,1%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736592"/>
            <a:ext cx="3344875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02075" y="490118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6.2%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" y="4782312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PURO
(M4)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5035" y="4828032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Discriminação residual
pós-ocupação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806440"/>
            <a:ext cx="10972800" cy="4572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85216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Achado central: 70,0% do gap é explicado por mediação contextual (UPA) e ocupacional — mas 6,2% persiste como discriminação de remuneração pura.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6/25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6. Composição Ocupacional — Onde Estão Negros e Brancos?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Sub-representação sistemática nos grupos de alto prestígio</a:t>
            </a:r>
          </a:p>
        </p:txBody>
      </p:sp>
      <p:pic>
        <p:nvPicPr>
          <p:cNvPr id="5" name="Picture 4" descr="comp_razao_grupo_c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1848010"/>
          </a:xfrm>
          <a:prstGeom prst="rect">
            <a:avLst/>
          </a:prstGeom>
        </p:spPr>
      </p:pic>
      <p:pic>
        <p:nvPicPr>
          <p:cNvPr id="6" name="Picture 5" descr="comp_representacao_to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97280"/>
            <a:ext cx="5486400" cy="195077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5303520"/>
            <a:ext cx="1161288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349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Dirigentes: apenas 42 negros por 100 brancos na mesma função  |  Top 5% das capitais: IR = 0,47 (negros são 47% do esperado)  |  Elementares: 2,12× mais negros que brancos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7/25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7. Oaxaca-Blinder — Onde Opera a Discriminação?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total 53,0% | 84% explicado por diferenças nas características dos trabalhadores</a:t>
            </a:r>
          </a:p>
        </p:txBody>
      </p:sp>
      <p:pic>
        <p:nvPicPr>
          <p:cNvPr id="5" name="Picture 4" descr="oaxaca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858000" cy="24014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Interpretação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55448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84% = Efeito DOTAÇÕES
Negros têm menor acesso a ocupações de prestígio, emprego formal, mais horas em subemprego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16% = Efeito RETORNOS
O mercado remunera as mesmas características a taxas diferentes por raça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Conclusão: discriminação opera primariamente no ACESSO, não no salário dentro da função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4937760"/>
            <a:ext cx="4572000" cy="9144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43800" y="498348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Implicação de política: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5276088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Combater APENAS desigualdade salarial é insuficiente. É preciso atacar as barreiras de ACESSO a ocupações qualificadas.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8/25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8. Gap por Subgrupo e Ciclo de Vida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Regressão Mincer com controles progressivos + curva de ciclo de vida racial</a:t>
            </a:r>
          </a:p>
        </p:txBody>
      </p:sp>
      <p:pic>
        <p:nvPicPr>
          <p:cNvPr id="5" name="Picture 4" descr="fig4_gap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10972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Regressões Mincer progressivas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572768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934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M1 — Só raça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160934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−23,1%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322576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59152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M2 — + Sexo, educ., experiência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5915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−22,3%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072384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10896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M3 — + Efeitos fixos de UF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310896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3822192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385876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M4 — + Horas, formal, setor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385876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4572000"/>
            <a:ext cx="5760720" cy="685800"/>
          </a:xfrm>
          <a:prstGeom prst="rect">
            <a:avLst/>
          </a:prstGeom>
          <a:solidFill>
            <a:srgbClr val="E8F5E9"/>
          </a:solidFill>
          <a:ln w="101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460857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M5 — + Ocupação CBO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460857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2E7D32"/>
                </a:solidFill>
                <a:latin typeface="Calibri"/>
              </a:rPr>
              <a:t>−6,2%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349240"/>
            <a:ext cx="11612880" cy="82296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949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Ciclo de vida: gap de 9,1% (14–24 anos) cresce para 37,5% (35–44 anos) — a barreira racial se aprofunda ao longo da carreira.  |  Interação negro×experiência (β=−0,0019, p&lt;0,001): o retorno à senioridade é menor para negros — glass ceiling de progressão longitudinal confirmado.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9/25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9. Logit Multinível — Gap de Oportunidades Racial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GLMM lme4 com efeito aleatório de UPA — discriminação de ACESSO confirmada (n=7,7M, 40,9k UPAs)</a:t>
            </a:r>
          </a:p>
        </p:txBody>
      </p:sp>
      <p:pic>
        <p:nvPicPr>
          <p:cNvPr id="5" name="Picture 4" descr="glmm_odds_ratios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3733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Resultados-chave (GLMM)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55448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58191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OR = 0,674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58191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(M1 — só ind. + UPA RE)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56032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5877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8F00"/>
                </a:solidFill>
                <a:latin typeface="Calibri"/>
              </a:rPr>
              <a:t>OR = 0,691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58775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(M2 — +contexto UPA)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356616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359359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−5,16 p.p.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359359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pós-controles individuais
(M1 — sem contexto UPA)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457200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45994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−4,84 p.p.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459943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residual c/ contexto UPA
(M2 — discriminação líquida)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5623560"/>
            <a:ext cx="493776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566928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Mesmo com educação, sexo, idade e local de moradia IDÊNTICOS, negros têm 30,9% menor odds de estar em ocupação qualificada (OR=0,691 GLMM M2).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10/25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10. Regressão Quantílica — Formalização do Glass Ceiling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gap racial aumenta no topo da distribuição de renda — confirmação formal</a:t>
            </a:r>
          </a:p>
        </p:txBody>
      </p:sp>
      <p:pic>
        <p:nvPicPr>
          <p:cNvPr id="5" name="Picture 4" descr="quantreg_traje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35096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 gráfico mostra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55448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Eixo Y: gap racial em % (quanto negros ganham a menos)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Cada ponto: estimativa para aquele percentil da distribuição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Inclinação descendente = gap CRESCE no topo = Glass Ceiling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M3 vs M4: a diferença é a mediação ocupacional — maior no topo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No q95, mais da metade do gap é explicada pela exclusão de ocupações de alta remuneração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4572000"/>
            <a:ext cx="4846320" cy="155448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Glass Ceiling Racial: confirmado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5029200"/>
            <a:ext cx="4480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O gap não é uniforme — cresce sistematicamente quanto maior a remuneração. Isso significa que a barreira racial é mais intensa exatamente onde os prêmios de progressão são maiores.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11/25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11. RIF-OB — Sticky Floor Discriminatório vs. Glass Ceiling por Dotações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Firpo, Fortin &amp; Lemieux (2018) | N=7.694.198 | Decomposição incondicional por quantil</a:t>
            </a:r>
          </a:p>
        </p:txBody>
      </p:sp>
      <p:pic>
        <p:nvPicPr>
          <p:cNvPr id="5" name="Picture 4" descr="rif_ob_retornos_quant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38494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O que a RIF-OB revela além da QR?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217627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1581912"/>
            <a:ext cx="20848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Quantil</a:t>
            </a:r>
          </a:p>
        </p:txBody>
      </p:sp>
      <p:sp>
        <p:nvSpPr>
          <p:cNvPr id="9" name="Rectangle 8"/>
          <p:cNvSpPr/>
          <p:nvPr/>
        </p:nvSpPr>
        <p:spPr>
          <a:xfrm>
            <a:off x="905256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Dotações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6988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Retornos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993392"/>
            <a:ext cx="5029200" cy="548640"/>
          </a:xfrm>
          <a:prstGeom prst="rect">
            <a:avLst/>
          </a:prstGeom>
          <a:solidFill>
            <a:srgbClr val="FFEBEE"/>
          </a:solidFill>
          <a:ln w="762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03720" y="202996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q10  (base)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61,3%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33,1%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2587752"/>
            <a:ext cx="5029200" cy="548640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262432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q50  (mediana)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57,4%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6988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21,5%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3182112"/>
            <a:ext cx="5029200" cy="548640"/>
          </a:xfrm>
          <a:prstGeom prst="rect">
            <a:avLst/>
          </a:prstGeom>
          <a:solidFill>
            <a:srgbClr val="E3F2FD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321868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q90  (topo)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75,8%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6988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11,2%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822191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Retornos DECLINAM: q10=33,1% → q90=11,2%  (Δ = −21,9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Dotações CRESCEM: q10=61,3% → q90=75,8%  (Δ = +14,4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Glass ceiling salarial causado por desvantagens PRÉ-MERCADO
(educação, redes, segregação residencial)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Não por discriminação crescente no topo da hierarquia salarial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760720"/>
            <a:ext cx="11612880" cy="50292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8064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Sticky Floor: discriminação de mercado é 3× mais intensa na base (q10=33,1%) do que no topo (q90=11,2%). Enforcement antidiscriminação ataca o q10; reformar dotações (acesso, redes) erode o glass ceiling no topo.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12/25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12. Interseccionalidade — OB em 4 Grupos (Crenshaw, 1989)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OB twofold vs. Homem Branco | N=2.357.851 | penalidade interseccional extra = +9,5 pp</a:t>
            </a:r>
          </a:p>
        </p:txBody>
      </p:sp>
      <p:pic>
        <p:nvPicPr>
          <p:cNvPr id="5" name="Picture 4" descr="interseccional_ob4gru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29317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OB 4 Grupos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1572768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92240" y="1572768"/>
            <a:ext cx="5394960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1968" y="160020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Branca — gap 46,6%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2084831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Retornos dominam: 109%
Discriminação de gênero pura
(dotações ligeiramente negativas: −8,9%)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3108960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3108960"/>
            <a:ext cx="5394960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3136392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Homem Negro — gap 40,3%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3621023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Dotações dominam: 71%
Gap majoritariamente estrutural
(capital humano acumulado inferior)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645152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6A0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40" y="4645152"/>
            <a:ext cx="5394960" cy="438912"/>
          </a:xfrm>
          <a:prstGeom prst="rect">
            <a:avLst/>
          </a:prstGeom>
          <a:solidFill>
            <a:srgbClr val="6A008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4672584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Negra — gap 96,4%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5157215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Penalidade interseccional extra: +9,5 pp
acima da soma Mulher Branca + Homem Negro
(Crenshaw, 1989 — confirmado empiricamente)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6199632"/>
            <a:ext cx="11612880" cy="512064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2453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3864"/>
                </a:solidFill>
                <a:latin typeface="Calibri"/>
              </a:rPr>
              <a:t>HLM interseccional: β_neg×fem = +0,069 (p&lt;0,001) → penalidade combinada (−40,5%) &lt; soma isolada (−44,5%): as duas desvantagens competem pelo mesmo mecanismo de exclusão — efeito de compressão.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13/25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13. Sensibilidade — Konfound, E-values e Oster Bounds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3 métodos complementares — nenhum consegue anular o gap racial observado</a:t>
            </a:r>
          </a:p>
        </p:txBody>
      </p:sp>
      <p:pic>
        <p:nvPicPr>
          <p:cNvPr id="5" name="Picture 4" descr="sensibilidade_konfound_e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23791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de robustez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609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Konfound HLM (Frank et al., 2013)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938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pkonfound: 99,5% (M1)  |  98,8% (M2/M3)  |  98,5% (M4)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286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99,5% dos casos precisariam ser removidos para anular M1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2715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2752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F00"/>
                </a:solidFill>
                <a:latin typeface="Calibri"/>
              </a:rPr>
              <a:t>OLS subestima robustez — Δ = 5,4–9,7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3081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OLS: 91,5% / 93,5% / 88,7%  →  HLM: +7,9 / +5,4 / +9,7 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3429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SEs OLS são 6–16× maiores: não captura clustering → robustez subestimada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3858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60" y="3895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B71C1C"/>
                </a:solidFill>
                <a:latin typeface="Calibri"/>
              </a:rPr>
              <a:t>E-values GLMM lme4 (VanderWeele &amp; Ding, 2017)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4224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E ≥ 2,331× (M1)  |  E ≥ 2,254× (M2)  para anular OR = 0,674 / 0,691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4572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Confounder precisaria ter associação ≥ 2,3× com raça E com ocupação — implausível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0" y="5001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95160" y="5038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  <a:latin typeface="Calibri"/>
              </a:rPr>
              <a:t>Oster Bounds OLS auxiliar (Oster, 2019)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5367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δ* ∈ {−0,48; −0,43; −0,39} — todos negativos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5715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Omitidas precisariam agir na direção OPOSTA aos observáveis — impossível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14/25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14. Análises Temporais e Seleção — Chow, Heckman e Event Study COVID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Quebra estrutural 2020 | Seleção corrigida (Heckman) | COVID: convergência aparente de curto prazo</a:t>
            </a:r>
          </a:p>
        </p:txBody>
      </p:sp>
      <p:pic>
        <p:nvPicPr>
          <p:cNvPr id="5" name="Picture 4" descr="tendencia_tempo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3749039" cy="3200400"/>
          </a:xfrm>
          <a:prstGeom prst="rect">
            <a:avLst/>
          </a:prstGeom>
        </p:spPr>
      </p:pic>
      <p:pic>
        <p:nvPicPr>
          <p:cNvPr id="6" name="Picture 5" descr="heckman_sele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097280"/>
            <a:ext cx="3749039" cy="3200400"/>
          </a:xfrm>
          <a:prstGeom prst="rect">
            <a:avLst/>
          </a:prstGeom>
        </p:spPr>
      </p:pic>
      <p:pic>
        <p:nvPicPr>
          <p:cNvPr id="7" name="Picture 6" descr="event_study_cov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097280"/>
            <a:ext cx="3657600" cy="3200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4434840"/>
            <a:ext cx="3749039" cy="43891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Chow test — Quebra 2020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F(2,6) = 7,012   p = 0,027
Quebra estrutural detectada em 2020
Tendência geral: δ = 0,0008 log-pt/ano (estável, p=0,077)
Gap racial não convergiu espontaneamente em 10 anos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4434840"/>
            <a:ext cx="3749039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1687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Heckman — Correção de Seleção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1687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OLS: gap = −9,71%
Heckman (com IMR): gap = −7,41%
Δ = +2,3 pp  |  λ = −1,985  (p &lt; 0,001)
OLS superestima gap: negros empregados aceitam
salários inferiores (seleção por tolerância)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598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598" y="4434840"/>
            <a:ext cx="3749039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6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Event Study COVID (DiD)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6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τ = +0,015  (SE = 0,007,  p = 0,025)
Negros sofreram MENOS com COVID
no curto prazo — convergência aparente
DiD corrigido: 0,015 vs. ingênuo: 0,023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15/25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15. ML/SHAP — O Que Mais Determina a Renda?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XGBoost R²=0,6162 | Horas + CBO + Formalidade emergem como top preditores</a:t>
            </a:r>
          </a:p>
        </p:txBody>
      </p:sp>
      <p:pic>
        <p:nvPicPr>
          <p:cNvPr id="5" name="Picture 4" descr="shap_importance_x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46099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Destaques com as novas variáveis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1554480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600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Renda média da UPA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38360" y="16002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|SHAP|=0,272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192024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Wilson (1987): onde mora supera o quanto estudou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359152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24048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4048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Horas trabalhadas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404872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72491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VD4031 extraído do ZIP bruto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3163824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2095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320954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CBO: Profissionais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320954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35295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V4010 primeiro dígito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3968496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401421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014216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Emprego formal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38360" y="401421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433425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VD4009 carteira/público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4773168"/>
            <a:ext cx="5303520" cy="749808"/>
          </a:xfrm>
          <a:prstGeom prst="rect">
            <a:avLst/>
          </a:prstGeom>
          <a:solidFill>
            <a:srgbClr val="FFEBEE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48188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#11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481888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Raça (negro)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360" y="48188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71C1C"/>
                </a:solidFill>
                <a:latin typeface="Calibri"/>
              </a:rPr>
              <a:t>|SHAP|=0,029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513892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−2,5% residual pós-ocupação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16/25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16. Clustering Socioeconômico — K-Means (k=3) | N=7.694.198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MiniBatchKMeans | 12 dimensões | k=3 adotado por interpretabilidade (k=2 trivialmente binário)</a:t>
            </a:r>
          </a:p>
        </p:txBody>
      </p:sp>
      <p:pic>
        <p:nvPicPr>
          <p:cNvPr id="5" name="Picture 4" descr="kmeans_perfis_k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2021041"/>
          </a:xfrm>
          <a:prstGeom prst="rect">
            <a:avLst/>
          </a:prstGeom>
        </p:spPr>
      </p:pic>
      <p:pic>
        <p:nvPicPr>
          <p:cNvPr id="6" name="Picture 5" descr="kmeans_gap_racial_k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097280"/>
            <a:ext cx="5852160" cy="288270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7772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0896" y="424281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Cluster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4206240"/>
            <a:ext cx="105156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242816"/>
            <a:ext cx="9784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40280" y="4206240"/>
            <a:ext cx="82296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76856" y="4242816"/>
            <a:ext cx="749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% total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4206240"/>
            <a:ext cx="7772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45536" y="424281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% Negro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7639" y="4206240"/>
            <a:ext cx="7772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14215" y="424281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% Mulher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92040" y="4206240"/>
            <a:ext cx="82296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28616" y="4242816"/>
            <a:ext cx="749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log_Renda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06440" y="4206240"/>
            <a:ext cx="60350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43016" y="4242816"/>
            <a:ext cx="59618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Perfil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590288"/>
            <a:ext cx="7772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" y="4626864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B71C1C"/>
                </a:solidFill>
                <a:latin typeface="Calibri"/>
              </a:rPr>
              <a:t>C0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97280" y="4590288"/>
            <a:ext cx="105156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33856" y="4626864"/>
            <a:ext cx="978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2.110.270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40280" y="4590288"/>
            <a:ext cx="82296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76856" y="4626864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27,4%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08960" y="4590288"/>
            <a:ext cx="7772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45536" y="4626864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76,2%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77639" y="4590288"/>
            <a:ext cx="7772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14215" y="4626864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100%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92040" y="4590288"/>
            <a:ext cx="82296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28616" y="4626864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6,961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06440" y="4590288"/>
            <a:ext cx="60350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43016" y="4626864"/>
            <a:ext cx="59618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Calibri"/>
              </a:rPr>
              <a:t>Mulheres negras — vulnerabilidade dupla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4974336"/>
            <a:ext cx="7772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0896" y="5010912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565C0"/>
                </a:solidFill>
                <a:latin typeface="Calibri"/>
              </a:rPr>
              <a:t>C1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97280" y="4974336"/>
            <a:ext cx="105156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33856" y="5010912"/>
            <a:ext cx="978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2.705.788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40280" y="4974336"/>
            <a:ext cx="82296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276856" y="5010912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35,2%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08960" y="4974336"/>
            <a:ext cx="7772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45536" y="5010912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18,0%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977639" y="4974336"/>
            <a:ext cx="7772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14215" y="5010912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40,1%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892040" y="4974336"/>
            <a:ext cx="82296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928616" y="5010912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7,895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06440" y="4974336"/>
            <a:ext cx="60350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843016" y="5010912"/>
            <a:ext cx="59618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Calibri"/>
              </a:rPr>
              <a:t>Brancos alta renda — menor escolaridade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5358384"/>
            <a:ext cx="7772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0896" y="5394960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F3864"/>
                </a:solidFill>
                <a:latin typeface="Calibri"/>
              </a:rPr>
              <a:t>C2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97280" y="5358384"/>
            <a:ext cx="105156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33856" y="5394960"/>
            <a:ext cx="978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2.878.140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240280" y="5358384"/>
            <a:ext cx="82296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276856" y="5394960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37,4%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08960" y="5358384"/>
            <a:ext cx="7772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45536" y="5394960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81,3%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977639" y="5358384"/>
            <a:ext cx="7772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14215" y="5394960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0,0%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892040" y="5358384"/>
            <a:ext cx="82296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928616" y="5394960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7,074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06440" y="5358384"/>
            <a:ext cx="60350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43016" y="5394960"/>
            <a:ext cx="59618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Calibri"/>
              </a:rPr>
              <a:t>Homens negros — 36,5% superior, renda 58% &lt; C1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5687568"/>
            <a:ext cx="11612880" cy="50292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573328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Paradoxo de Simpson: dentro de cada cluster negros ganham mais que brancos — pois brancos nos clusters negros são os piores-off de seu grupo.  H5 confirmado: C2 tem 36,5% de superior vs 13,7% em C1, mas renda 58% inferior.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17/25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17. Análise de Redes Sociais — Capital Social e Mobilidade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Betweenness centrality nula para negros em todos os níveis educacionais</a:t>
            </a:r>
          </a:p>
        </p:txBody>
      </p:sp>
      <p:pic>
        <p:nvPicPr>
          <p:cNvPr id="5" name="Picture 4" descr="sna_rede_demograf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44452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é betweenness centrality?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55448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Mede quem 'conecta' grupos distintos na rede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Alta betweenness = broker = acesso antecipado a vagas, mentoria, promoções (Burt, 2004)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BRANCOS: betweenness elevada em todos os níveis educacionais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NEGROS: betweenness = 0 mesmo com pós-graduação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Implicação: credenciais educacionais de negros valem menos porque falta acesso às redes de conversão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4983480"/>
            <a:ext cx="5394960" cy="77724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50292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F3864"/>
                </a:solidFill>
                <a:latin typeface="Calibri"/>
              </a:rPr>
              <a:t>"Negros enfrentam um duplo obstáculo ao retorno educacional: o gap direto mensurado pelo HLM e a exclusão das redes que convertem diplomas em empregos."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18/25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18. Estado e Desigualdade — H1 / H2 / H3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Setor público reduz desigualdade geral mas gap racial persiste — e gap de gênero é MAIOR no público</a:t>
            </a:r>
          </a:p>
        </p:txBody>
      </p:sp>
      <p:pic>
        <p:nvPicPr>
          <p:cNvPr id="5" name="Picture 4" descr="estado_h1_g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24626"/>
          </a:xfrm>
          <a:prstGeom prst="rect">
            <a:avLst/>
          </a:prstGeom>
        </p:spPr>
      </p:pic>
      <p:pic>
        <p:nvPicPr>
          <p:cNvPr id="6" name="Picture 5" descr="estado_h2h3_g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38907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519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Gini setor público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0,466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4748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vs privado 0,472 | total 0,488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420624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42519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racial público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45262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−25,2%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504748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controlado | privado −29,2%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20624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251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gênero público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−18,8%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0474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PIOR que privado −16,9% (paradoxo)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4206240"/>
            <a:ext cx="24688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Prêmio salarial pub.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45262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+99,6%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5047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Theil entre setores: 7,8% do total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532120"/>
            <a:ext cx="11612880" cy="45720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577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H1: Estado reduz levemente o Gini (0,466 vs 0,472) mas prêmio de +99,6% concentra renda entre servidores.  H2: Racismo persiste no público (−25,2%) — atenuado vs privado (−29,2%).  H3 (paradoxo): concurso iguala entrada, mas promoção/DAS favorece homens → gap de gênero maior no público.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19/25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19. Renda Real, Armadilha e Inclusão — H4 / H5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Pleno emprego sem prosperidade + gap de qualificação quase inalterado em 10 anos</a:t>
            </a:r>
          </a:p>
        </p:txBody>
      </p:sp>
      <p:pic>
        <p:nvPicPr>
          <p:cNvPr id="5" name="Picture 4" descr="estado_h4_t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25880"/>
          </a:xfrm>
          <a:prstGeom prst="rect">
            <a:avLst/>
          </a:prstGeom>
        </p:spPr>
      </p:pic>
      <p:pic>
        <p:nvPicPr>
          <p:cNvPr id="6" name="Picture 5" descr="estado_h5_armadil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38474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27432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519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Renda real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R$1.283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4748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vs pico R$1.345 em 2024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420624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42519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Emprego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452628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94,4%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50474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máxima histórica da série (2016–2025)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20624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251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Alta qualif. negros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11,0%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0474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brancos: 22,4% — gap estável +11pp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4206240"/>
            <a:ext cx="24688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Ganho de inclusão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45262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+127,3%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5047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renda negra se CBO = branco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532120"/>
            <a:ext cx="11612880" cy="4572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577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H4: Contradição do mercado atual — emprego em máxima histórica (94,4%) mas renda real recua em 2025 (−4,6% vs 2024).  H5: Armadilha da renda média — gap de qualificação (11,0% vs 22,4%) praticamente inalterado após 10 anos. Inclusão produtiva plena = proxy +74,3 p.p. de PIB (Hsieh et al., 2019).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20/25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20. Por Que Esses Modelos? — Justificação Estatística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LRT χ²=191.625 confirma hierarquia | ICC=9,83% &gt; limiar 5% | HLM supera OLS+FE em AIC</a:t>
            </a:r>
          </a:p>
        </p:txBody>
      </p:sp>
      <p:pic>
        <p:nvPicPr>
          <p:cNvPr id="5" name="Picture 4" descr="modelos_loglik_a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58979"/>
          </a:xfrm>
          <a:prstGeom prst="rect">
            <a:avLst/>
          </a:prstGeom>
        </p:spPr>
      </p:pic>
      <p:pic>
        <p:nvPicPr>
          <p:cNvPr id="6" name="Picture 5" descr="modelos_lrt_i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180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160520"/>
            <a:ext cx="35661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062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LRT HLM vs OLS (nulo)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805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191.625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0176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χ² Δk=1 — hierarquia confirmada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416052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42062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ICC por UPA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448056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9,83%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500176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&gt; 5% — Raudenbush &amp; Bryk (2002)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4160520"/>
            <a:ext cx="45720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0" y="42062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AIC HLM Contextual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0" y="448056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3.588.684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0" y="5001768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OLS+FE(UF): 3.684.833 (+96k pior)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5440680"/>
            <a:ext cx="11612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 ignora correlação intra-UPA → erros padrão subestimados → inferência inválida (θ OLS ≠ θ BLUP)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OLS+FE(UF) piora AIC vs OLS Individual: dummies de UF são grosseiras demais para capturar variação intra-estado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HLM 3 níveis (indivíduo &gt; UPA &gt; UF) é o único estimador com estrutura compatível com os dados e inferência válida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21/25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21. Síntese — Triângulo de Evidências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5 métodos independentes apontam para o mesmo diagnóstico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0352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GLMM: OR=0,691 para ocp. qualificada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AME=−4,84 p.p. residual (M2)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Persiste após todos os controles observáveis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188720"/>
            <a:ext cx="530352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HLM M4: gap residual 6,2%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Quantile Reg.: cresce no topo (glass ceiling)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SHAP: −2,5% efeito racial residual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9319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3931920"/>
            <a:ext cx="530352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39776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EXCLUSÃO
DAS REDES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4805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SNA: betweenness=0 para negros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50292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Diplomas valem menos sem acesso às redes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55778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K-Means: C2 homens negros — 36,5% superior mas 58% &lt; renda C1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852160"/>
            <a:ext cx="116128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Oaxaca-Blinder une os três vértices: 84% do gap é de ACESSO (dotações) | 16% de REMUNERAÇÃO (retornos) | SNA explica por que o acesso é estruturalmente negado  |  GLMM: OR=0,691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22/25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22. Pesquisa Operacional — Priorização Multicritério Anti-Discriminação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TOPSIS + AHP (CR=0,004) + Programação Linear + Fronteira de Pareto | 6 políticas avaliadas</a:t>
            </a:r>
          </a:p>
        </p:txBody>
      </p:sp>
      <p:pic>
        <p:nvPicPr>
          <p:cNvPr id="5" name="Picture 4" descr="po_politicas_top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21562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0972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Ranking TOPSIS (6 intervenções)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0" y="1572768"/>
            <a:ext cx="4663440" cy="676656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161848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71C1C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161848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Cotas ocupacionais CBO 1–4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161848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B71C1C"/>
                </a:solidFill>
                <a:latin typeface="Calibri"/>
              </a:rPr>
              <a:t>CC = 0,835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304288"/>
            <a:ext cx="4663440" cy="676656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235000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alibri"/>
              </a:rP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35000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Equidade educacional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235000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565C0"/>
                </a:solidFill>
                <a:latin typeface="Calibri"/>
              </a:rPr>
              <a:t>CC = 0,588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303580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308152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308152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Mentoria e redes profissionais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308152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E7D32"/>
                </a:solidFill>
                <a:latin typeface="Calibri"/>
              </a:rPr>
              <a:t>CC = 0,396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376732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0" y="381304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F00"/>
                </a:solidFill>
                <a:latin typeface="Calibri"/>
              </a:rP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381304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Transparência salarial obrigatória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381304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8F00"/>
                </a:solidFill>
                <a:latin typeface="Calibri"/>
              </a:rPr>
              <a:t>CC = 0,342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0" y="449884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0" y="454456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16161"/>
                </a:solidFill>
                <a:latin typeface="Calibri"/>
              </a:rPr>
              <a:t>#5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454456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Enforcement anti-discriminação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454456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616161"/>
                </a:solidFill>
                <a:latin typeface="Calibri"/>
              </a:rPr>
              <a:t>CC = 0,270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0" y="523036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0" y="527608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16161"/>
                </a:solidFill>
                <a:latin typeface="Calibri"/>
              </a:rPr>
              <a:t>#6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527608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Desegregação residencial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527608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616161"/>
                </a:solidFill>
                <a:latin typeface="Calibri"/>
              </a:rPr>
              <a:t>CC = 0,081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6035040"/>
            <a:ext cx="11612880" cy="59436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84% do gap é de ACESSO → P1 (Cotas CBO) lidera com CC=0,835 — 2,1× superior ao 2º colocado.  Pareto (λ=0,5): alocação ótima = P1+P5 (cotas + mentoria).  PL-1 (orçamento B=5): redução projetada de 25,1% do gap bruto.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23/25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23. Implicações de Política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Três eixos simultâneos — ações isoladas são insuficientes para romper a armadilha estrutural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3749039" cy="5029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1 —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Cotas de acesso CBO Dirigente/Profissional:
meta IR ≥ 0,80 até 2030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PRONATEC c/ recorte racial e subsídio de
transporte para trabalhadores de UPAs pobres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Bolsas de residência profissional em empresas
de alta remuneração para egressos negros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1097280"/>
            <a:ext cx="3749039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399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2 —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39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Transparência salarial por raça/gênero
obrigatória (empresas &gt; 100 funcionários)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39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Auditoria de igual pagamento por trabalho igual
com penalidades progressivas (gap HLM M4)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39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Piso salarial indexado nas categorias com
maior gap racial residual (6,2% HLM M4)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598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598" y="1097280"/>
            <a:ext cx="3749039" cy="5029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38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3 — Inclusão Produtiva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8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Mentoria estruturada para elevar betweenness
de negros nas redes profissionais (SNA: =0)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8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30% dos cargos DAS e liderança corporativa
para negros até 2030 (inclusão nas redes)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8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Equalizar CBO = +127,3% renda negra |
proxy PIB +74,3 p.p. (Hsieh et al., 2019)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21792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⚠  Ao ritmo atual de convergência (~0,02 log-pontos/ano), eliminar o gap levaria mais de 100 anos.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24/25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24. Limitações e Agenda Futura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Honestidade acadêmica: o que este trabalho não faz e por quê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Limitações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PNAD não permite experimentos causais — coeficientes são associações condicionais, não efeitos causais no sentido de Rubin/Pearl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UPA como proxy de bairro: unidade de amostragem ≠ bairro administrativo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GLMM estimado na PEA completa via lme4::glmer (nAGQ=0, bobyqa, n=7,7M, 40,9k UPAs) — M3 com inclinação aleatória de negro não estimado por custo computacional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CBO auto-declarado pode ter viés de classificação por raça (deflation de ocupação)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65C0"/>
                </a:solidFill>
                <a:latin typeface="Calibri"/>
              </a:rPr>
              <a:t>Agenda Futura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variáveis instrumentais (IV) para identificação causal — distância à escola técnica como instrumento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RAIS linkada à PNAD para rastrear trajetórias de mobilidade intraempresa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mediação formal (path analysis) raça → ocupação → renda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Extensão ao setor público por UF — heterogeneidade do glass ceiling entre estados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Modelo longitudinal com painéis rotativos da PNAD (2T seguidos) para efeitos fixos de indivíduo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25/25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25. Conclusão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19,3%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Gap racial bruto
(M1 HLM)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6,2%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Discriminação pura
(M4 HLM)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OR=0,691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Acesso qualificado
(GLMM M2, lme4)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χ²=191k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LRT confirma
hierarquia UPA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37744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4231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1. A desigualdade racial no mercado de trabalho brasileiro é estrutural, multicausal e resistente à convergência espontânea.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24612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2918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2. A discriminação opera em dois estágios independentes: barreiras de ACESSO a ocupações qualificadas (GLMM: OR=0,691, AME=−4,84 p.p.) e discriminação de REMUNERAÇÃO dentro das mesmas funções (HLM M4: 6,2%).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11480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3. O glass ceiling racial é real e crescente no topo da distribuição — confirmado formalmente pela regressão quantílica e consistente com o IR=0,47 nas capitais.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98348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02920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4. Políticas que atuam apenas no gap salarial direto atacam 16% do problema. Os 84% restantes requerem ação nas portas de entrada das ocupações de alto prestígio.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644652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