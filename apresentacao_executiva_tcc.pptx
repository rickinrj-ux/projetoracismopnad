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4552" cy="3749039"/>
          </a:xfrm>
          <a:prstGeom prst="rect">
            <a:avLst/>
          </a:prstGeom>
          <a:solidFill>
            <a:srgbClr val="0D1F3C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BDEFB"/>
                </a:solidFill>
                <a:latin typeface="Calibri"/>
              </a:rPr>
              <a:t>Evidencias quantitativas da PNAD Continua 2016-2025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88920"/>
            <a:ext cx="105156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trabalhadores analisados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dados (2016-2025)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metodos complementares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4572000"/>
            <a:ext cx="2651760" cy="109728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461772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5166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barreiras estruturais mapeadas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0A4AE"/>
                </a:solidFill>
                <a:latin typeface="Calibri"/>
              </a:rPr>
              <a:t>VERSAO EXECUTIVA — 10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1. O Custo do Racismo para o Brasil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Uma questao economica, nao apenas moral — trabalhadores negros representam 56% da PEA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Por que isso importa para o pais?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R$ 73 bilhoes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estimativa da perda de producao anual por sub-utilizacao de capital humano negro
(proxy: equalizar CBO = +127,3% de renda para negros qualificados)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59" y="1600200"/>
            <a:ext cx="3749039" cy="5029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19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+74,3 p.p. de PIB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ganho potencial de inclusao produtiva plena se negros tivessem mesma distribuicao
ocupacional que brancos (Hsieh et al., 2019 — metodologia adaptada)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600200"/>
            <a:ext cx="3749039" cy="34747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8" y="160020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8" y="16459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+100 anos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8" y="219456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212121"/>
                </a:solidFill>
                <a:latin typeface="Calibri"/>
              </a:rPr>
              <a:t>tempo necessario para eliminar o gap racial ao ritmo atual de convergencia
espontanea (~0,02 log-pontos por ano, sem intervencao de politica publica)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212080"/>
            <a:ext cx="11612880" cy="5486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Este trabalho quantifica os mecanismos — onde a discriminacao opera, qual a magnitude e o que pode ser feito.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2. Tres Barreiras Estruturais — O Diagnostico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5 metodos convergem para o mesmo mapa de exclusao racial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3864"/>
                </a:solidFill>
                <a:latin typeface="Calibri"/>
              </a:rPr>
              <a:t>A desigualdade racial no mercado de trabalho opera em tres estagios independentes: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8412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Acesso e Segregacao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Negros tem 29,6% menos chance de obter
ocupacao qualificada (GLMM)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Mesmo com educacao, sexo e bairro IDENTICOS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Causa: segregacao residencial e
exclusao das redes profissionais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481328"/>
            <a:ext cx="3749039" cy="8412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FFF5E0"/>
                </a:solidFill>
                <a:latin typeface="Calibri"/>
              </a:rPr>
              <a:t>Penalidade Salarial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39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salarial residual de 6,2% dentro
da mesma funcao e empresa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39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Cresce para 15-18% para mulheres negras
(interseccionalidade de Crenshaw, 1989)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39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Gap varia entre estados: SD = 5,0 log-pt
(random slope HLM — N=7,7M)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481328"/>
            <a:ext cx="3749039" cy="470916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481328"/>
            <a:ext cx="3749039" cy="8412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087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BARREIRA III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19019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BDEFB"/>
                </a:solidFill>
                <a:latin typeface="Calibri"/>
              </a:rPr>
              <a:t>Isolamento Estrutural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Betweenness centrality = 0 para negros
em TODAS as faixas de escolaridade (SNA)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8" y="31546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Diplomas negros valem menos porque
faltam redes para converte-los em empregos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8" y="388620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Glass ceiling de progressao: gap cresce
de 9,1% (jovens) para 37,5% (35-44 anos)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281928"/>
            <a:ext cx="11612880" cy="347472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30936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1F3864"/>
                </a:solidFill>
                <a:latin typeface="Calibri"/>
              </a:rPr>
              <a:t>Conclusao: politicas que agem apenas no salario atacam 16% do problema. 84% esta na porta de entrada.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3. O Gap Racial — Do Bruto ao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HLM 3 niveis (N=7,7M) decompoe o gap em camadas causais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Quanto do gap salarial e discriminacao pura?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536192"/>
            <a:ext cx="7941564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6012" y="166420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76404" y="16642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Sem controles — diferenca observada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340864"/>
            <a:ext cx="3950208" cy="62179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24505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565C0"/>
                </a:solidFill>
                <a:latin typeface="Calibri"/>
              </a:rPr>
              <a:t>Mediacao UPA (bairro)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4656" y="246888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5048" y="246888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52% explicado por onde o trabalhador mora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145536"/>
            <a:ext cx="3991356" cy="62179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325526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8F00"/>
                </a:solidFill>
                <a:latin typeface="Calibri"/>
              </a:rPr>
              <a:t>Gap LIQUIDO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5804" y="327355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6196" y="327355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residual pos-contexto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3950208"/>
            <a:ext cx="1440180" cy="621792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4059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E7D32"/>
                </a:solidFill>
                <a:latin typeface="Calibri"/>
              </a:rPr>
              <a:t>Mediacao Ocupacional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8" y="407822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5020" y="407822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18% explicado pelo tipo de funcao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4754880"/>
            <a:ext cx="2551176" cy="62179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486460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B71C1C"/>
                </a:solidFill>
                <a:latin typeface="Calibri"/>
              </a:rPr>
              <a:t>Gap PURO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488289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48828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Discriminacao de remuneracao irredutivel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806440"/>
            <a:ext cx="11612880" cy="594360"/>
          </a:xfrm>
          <a:prstGeom prst="rect">
            <a:avLst/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3864"/>
                </a:solidFill>
                <a:latin typeface="Calibri"/>
              </a:rPr>
              <a:t>70% do gap e explicado por contexto (bairro) e ocupacao — mas 6,2% persiste como discriminacao pura,
mesmo controlando escolaridade, experiencia, setor, formalidade e funcao.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4. Barreira de Acesso — Onde a Discriminacao Comeca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logistica multinivel (N=7,7M, 40,9k bairros) + Oaxaca-Blinder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Barreira de ACESSO a empregos qualificados: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577840" cy="1554480"/>
          </a:xfrm>
          <a:prstGeom prst="rect">
            <a:avLst/>
          </a:prstGeom>
          <a:solidFill>
            <a:srgbClr val="1A050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62763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Odds Ratio (GLMM M2)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93852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71C1C"/>
                </a:solidFill>
                <a:latin typeface="Calibri"/>
              </a:rPr>
              <a:t>0,691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74320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chance de ocupacao qualificada (M2 — apos todos os controles)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46120"/>
            <a:ext cx="5577840" cy="1554480"/>
          </a:xfrm>
          <a:prstGeom prst="rect">
            <a:avLst/>
          </a:prstGeom>
          <a:solidFill>
            <a:srgbClr val="1A1500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3319272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AME — efeito marginal medio 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630168"/>
            <a:ext cx="53583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8F00"/>
                </a:solidFill>
                <a:latin typeface="Calibri"/>
              </a:rPr>
              <a:t>−4,84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4434840"/>
            <a:ext cx="53583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gap de probabilidade de acesso que persiste com bairro identico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557784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3776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Mesmo com EDUCACAO, SEXO, IDADE e BAIRRO
IDENTICOS aos de um branco, um trabalhador
negro tem 29,6% MENOS chance de trabalho qualificado.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0515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Onde opera o gap? Oaxaca-Blinder: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554480"/>
            <a:ext cx="5394960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554480"/>
            <a:ext cx="1005840" cy="2103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87452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84%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1645920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Efeito ACESSO (dotacoes)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057400"/>
            <a:ext cx="4160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Negros estao em ocupacoes piores,
setores menos remunerados,
emprego informal. Discriminacao
pre-mercado e de recrutamento.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749039"/>
            <a:ext cx="5394960" cy="173736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3749039"/>
            <a:ext cx="1005840" cy="173736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069079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840479"/>
            <a:ext cx="4160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Efeito SALARIO (retornos)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51959"/>
            <a:ext cx="4160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mercado remunera as mesmas
caracteristicas a taxas menores
para negros — discriminacao
dentro da funcao.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5. Glass Ceiling — A Barreira Cresce com a Carreira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Regressao quantilica + curva de ciclo de vida racial | gap piora ao longo do tempo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515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O que os dados mostram: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36192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1536192"/>
            <a:ext cx="5120640" cy="38404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157276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sobe no topo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6596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Gap de 7,4% na mediana (q50)
para 10,0% no topo (q90)
— glass ceiling formal confirmado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926080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2926080"/>
            <a:ext cx="5120640" cy="38404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962656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Gap piora com a 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355848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14-24 anos: gap = 9,1%
35-44 anos: gap = 37,5%
Barreira aprofunda-se na carreira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4315968"/>
            <a:ext cx="5120640" cy="1261872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4315968"/>
            <a:ext cx="5120640" cy="38404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5160" y="435254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Causa: dotacoes, nao retornos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745736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RIF-OB: q90 = 75,8% por ACESSO
e 11,2% por discriminacao salarial
Falha esta em antes do emprego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074920"/>
            <a:ext cx="11612880" cy="64008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Sticky Floor: discriminacao e 3x mais intensa na base (q10=33,1%) do que no topo (q90=11,2%).
Enforcement anti-discriminatorio deve focar nos trabalhadores de menor renda.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6. Redes e Heterogeneidade Geografica — A Dimensao Invisivel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SNA: exclusao das redes | HLM Random Slope: discriminacao varia 5x entre estados (N=7,7M)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2412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Exclusao das Redes (SNA):</a:t>
            </a:r>
          </a:p>
        </p:txBody>
      </p:sp>
      <p:pic>
        <p:nvPicPr>
          <p:cNvPr id="6" name="Picture 5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669280" cy="347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029200"/>
            <a:ext cx="5669280" cy="100584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0749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Betweenness centrality = 0 para negros
em TODOS os niveis de escolaridade.
Diplomas negros valem menos porque
faltam redes para converter titulos em empregos.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24128"/>
            <a:ext cx="5577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Discriminacao varia entre estados (HLM):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508760"/>
            <a:ext cx="5394960" cy="1280160"/>
          </a:xfrm>
          <a:prstGeom prst="rect">
            <a:avLst/>
          </a:prstGeom>
          <a:solidFill>
            <a:srgbClr val="1A050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581912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DEFB"/>
                </a:solidFill>
                <a:latin typeface="Calibri"/>
              </a:rPr>
              <a:t>Gap medio (efeito fixo)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1892808"/>
            <a:ext cx="517550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71C1C"/>
                </a:solidFill>
                <a:latin typeface="Calibri"/>
              </a:rPr>
              <a:t>11.5%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697480"/>
            <a:ext cx="5175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penalidade salarial racial media nacional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907792"/>
            <a:ext cx="539496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9443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F00"/>
                </a:solidFill>
                <a:latin typeface="Calibri"/>
              </a:rPr>
              <a:t>Variacao entre estados (95% das UFs):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2918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de -19.8% ate -2.2% — amplitude de 17.6 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069080"/>
            <a:ext cx="539496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10565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Correlacao estado rico x gap racial: rho = -0.372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453128"/>
            <a:ext cx="5120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Estados mais pobres concentram maior penalidade racial.
Politicas nacionais uniformes ignoram essa heterogeneidade.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5230368"/>
            <a:ext cx="5394960" cy="804672"/>
          </a:xfrm>
          <a:prstGeom prst="rect">
            <a:avLst/>
          </a:prstGeom>
          <a:solidFill>
            <a:srgbClr val="E3F2FD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5276088"/>
            <a:ext cx="5120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LRT boundary test: LR=7612 | p&lt;0,001*** — variacao geografica CONFIRMADA (N=7.689.426)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O Gap e Real — Tres Testes de Robustez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Nenhuma variavel omitida plausivel consegue anular os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Poderia o gap ser explicado por variaveis nao observadas?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08760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Konfound (Frank,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99,5% dos casos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precisariam ser removidos ou alterados para anular o resultado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Como referencia: um confundidor assim nunca existiu em Ciencias Sociais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508760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E-values (VanderWeele, 2017)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19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B71C1C"/>
                </a:solidFill>
                <a:latin typeface="Calibri"/>
              </a:rPr>
              <a:t>E &gt;= 2,25x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19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de associacao com raca E com ocupacao simultaneamente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19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Uma variavel oculta teria que ser 2,3x mais preditiva que TODAS as observadas juntas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8" y="1508760"/>
            <a:ext cx="3749039" cy="44348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598" y="1508760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8" y="154533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Oster Bounds (Oster,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2084831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565C0"/>
                </a:solidFill>
                <a:latin typeface="Calibri"/>
              </a:rPr>
              <a:t>delta* negativo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8" y="2743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variaveis omitidas teriam que agir na direcao OPOSTA as observadas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8" y="3822191"/>
            <a:ext cx="3657600" cy="27432"/>
          </a:xfrm>
          <a:prstGeom prst="rect">
            <a:avLst/>
          </a:prstGeom>
          <a:solidFill>
            <a:srgbClr val="6161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8" y="38862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16161"/>
                </a:solidFill>
                <a:latin typeface="Calibri"/>
              </a:rPr>
              <a:t>Impossivel: estudos mostram que omitidas e observadas agem na mesma direcao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6053328"/>
            <a:ext cx="11612880" cy="53035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099048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Veredicto: os tres metodos independentes concordam. O gap racial no mercado de trabalho brasileiro e real,
robusto e nao pode ser explicado por variaveis ocultas plausíveis.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8. O Que Fazer — Tres Eixos de Politica Publica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BDEFB"/>
                </a:solidFill>
                <a:latin typeface="Calibri"/>
              </a:rPr>
              <a:t>TOPSIS + AHP + Programacao Linear — prioridade: atacar a porta de entrada, nao o salario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84% do gap e de ACESSO. As politicas precisam refletir isso.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3749039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#1 — Acesso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Cotas CBO (Dirigente/Profissional)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meta IR &gt;= 0,80 ate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TOPSIS CC=0,834 — 2,1x superior ao 2o colocado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PRONATEC c/ recorte racial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subsidio de transporte em UPAs pobres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ataca segregacao residencial (52% do gap)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B71C1C"/>
                </a:solidFill>
                <a:latin typeface="Calibri"/>
              </a:rPr>
              <a:t>Residencias em empresas de alta renda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bolsas para egressos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quebra a barreira de redes (betweenness=0)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59" y="1481328"/>
            <a:ext cx="3749039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19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#2 — Remuneracao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19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Transparencia salarial por raca/genero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obrigatoria para empresas &gt;100 func.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visa o gap residual de 6,2% (HLM M4)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19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59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Auditoria de igual pagamento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59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penalidades progressivas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59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enforcement direto do sticky floor (q10=33%)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19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59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5C0"/>
                </a:solidFill>
                <a:latin typeface="Calibri"/>
              </a:rPr>
              <a:t>Piso salarial nas categorias de maior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59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indexado ao gap HLM M4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59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protecao prioritaria para trabalhadores da 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598" y="1481328"/>
            <a:ext cx="3749039" cy="5074920"/>
          </a:xfrm>
          <a:prstGeom prst="rect">
            <a:avLst/>
          </a:prstGeom>
          <a:solidFill>
            <a:srgbClr val="F5F5F5"/>
          </a:solidFill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598" y="1481328"/>
            <a:ext cx="3749039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58" y="151790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#3 — Redes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58" y="202996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8198" y="20848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Mentoria estruturada por empresas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198" y="2468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elevacao da betweenness centrality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198" y="28346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SNA: betweenness=0 anula retorno ao diploma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58" y="349300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198" y="35478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30% DAS e liderancas corporativas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198" y="393192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reserva para negros ate 2030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198" y="42976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inclusao nas redes de decisao (glass ceiling)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6758" y="4956048"/>
            <a:ext cx="347472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8198" y="50109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Equidade educacional de qualidade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198" y="53949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nao apenas de acesso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198" y="57607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gap qualificacao: 11% negros vs 22% brancos — estavel em 10 anos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6309360"/>
            <a:ext cx="11612880" cy="29260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336793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F3864"/>
                </a:solidFill>
                <a:latin typeface="Calibri"/>
              </a:rPr>
              <a:t>Pareto (lambda=0,5): combinacao otima = Eixo 1 (cotas) + Eixo 3 (mentoria). Atuacao isolada em remuneracao e insuficiente.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66294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  |  Versao Executiva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1288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9. Conclusao — O Que Este Trabalho Prova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Gap bruto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sem controles (HLM M1)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Discriminacao pura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mesma funcao e empresa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0,691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Odds Ratio GLMM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acesso ocupacao qualificada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777240"/>
            <a:ext cx="2743200" cy="128016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8229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Betweenness negros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16161"/>
                </a:solidFill>
                <a:latin typeface="Calibri"/>
              </a:rPr>
              <a:t>em todas as escolaridades (SNA)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212848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212848"/>
            <a:ext cx="164592" cy="859536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24942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A discriminacao e real e mensuravel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61518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5 metodos independentes chegam ao mesmo diagnostico. Nao e artefato estatistico.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145536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145536"/>
            <a:ext cx="164592" cy="85953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821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F00"/>
                </a:solidFill>
                <a:latin typeface="Calibri"/>
              </a:rPr>
              <a:t>Opera em duas etapas distintas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5478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84% na PORTA DE ENTRADA (acesso a funcoes qualificadas) + 16% no SALARIO dentro da funcao.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078224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4078224"/>
            <a:ext cx="164592" cy="859536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114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565C0"/>
                </a:solidFill>
                <a:latin typeface="Calibri"/>
              </a:rPr>
              <a:t>E geograficamente heterogenea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4805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 gap varia de -20,9% a -2,0% entre estados (random slope HLM, N=7,7M). Estados pobres concentram mais discriminacao.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10912"/>
            <a:ext cx="11612880" cy="859536"/>
          </a:xfrm>
          <a:prstGeom prst="rect">
            <a:avLst/>
          </a:prstGeom>
          <a:solidFill>
            <a:srgbClr val="0F274A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5010912"/>
            <a:ext cx="164592" cy="859536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0474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  <a:latin typeface="Calibri"/>
              </a:rPr>
              <a:t>Politicas precisam ser especificas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4132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Cotas ocupacionais (CBO) + mentoria de redes atacam 84% do problema. Transparencia salarial ataca o restante.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47395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