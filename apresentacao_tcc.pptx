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Orientador(a): 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5 métodos independentes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metodologias complementares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dos 5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(logit) + Discriminação de REMUNERAÇÃO (HLM + QR) + Exclusão de REDES (SNA)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−5,16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−4,84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30,9% menor odds de estar em ocupação qualificada (OR=0,691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RIF-OB — Sticky Floor Discriminatório vs. Glass Ceiling por Dotações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Interseccionalidade — OB em 4 Grupos (Crenshaw, 1989)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Sensibilidade — Konfound, E-values e Oster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2,33× (M1)  |  E ≥ 2,25× (M2)  para anular OR = 0,674 / 0,691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Análises Temporais e Seleção — Chow, Heckman e Event Study COVID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Quebra estrutural 2020 | Seleção corrigida (Heckman) | COVID: convergência aparente de curto prazo</a:t>
            </a:r>
          </a:p>
        </p:txBody>
      </p:sp>
      <p:pic>
        <p:nvPicPr>
          <p:cNvPr id="5" name="Picture 4" descr="tendenci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749039" cy="3200400"/>
          </a:xfrm>
          <a:prstGeom prst="rect">
            <a:avLst/>
          </a:prstGeom>
        </p:spPr>
      </p:pic>
      <p:pic>
        <p:nvPicPr>
          <p:cNvPr id="6" name="Picture 5" descr="heckman_sel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097280"/>
            <a:ext cx="3749039" cy="3200400"/>
          </a:xfrm>
          <a:prstGeom prst="rect">
            <a:avLst/>
          </a:prstGeom>
        </p:spPr>
      </p:pic>
      <p:pic>
        <p:nvPicPr>
          <p:cNvPr id="7" name="Picture 6" descr="event_study_co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097280"/>
            <a:ext cx="365760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4434840"/>
            <a:ext cx="3749039" cy="43891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Chow test — Quebra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F(2,6) = 7,012   p = 0,027
Quebra estrutural detectada em 2020
Tendência geral: δ = 0,0008 log-pt/ano (estável, p=0,077)
Gap racial não convergiu espontaneamente em 10 anos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4434840"/>
            <a:ext cx="3749039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Heckman — Correção de Seleção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7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OLS: gap = −9,71%
Heckman (com IMR): gap = −7,41%
Δ = +2,3 pp  |  λ = −1,985  (p &lt; 0,001)
OLS superestima gap: negros empregados aceitam
salários inferiores (seleção por tolerância)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4434840"/>
            <a:ext cx="3749039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6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Event Study COVID (DiD)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6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τ = +0,015  (SE = 0,007,  p = 0,025)
Negros sofreram MENOS com COVID
no curto prazo — convergência aparente
DiD corrigido: 0,015 vs. ingênuo: 0,023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Análise de Redes Sociais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Betweenness centrality nula para negros em todos os níveis educacionais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445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é betweenness centrality?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Mede quem 'conecta' grupos distintos na rede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Alta betweenness = broker = acesso antecipado a vagas, mentoria, promoções (Burt, 2004)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BRANCOS: betweenness elevada em todos os níveis educacionais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NEGROS: betweenness = 0 mesmo com pós-graduação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Implicação: credenciais educacionais de negros valem menos porque falta acesso às redes de conversão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4983480"/>
            <a:ext cx="539496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F3864"/>
                </a:solidFill>
                <a:latin typeface="Calibri"/>
              </a:rPr>
              <a:t>"Negros enfrentam um duplo obstáculo ao retorno educacional: o gap direto mensurado pelo HLM e a exclusão das redes que convertem diplomas em empregos."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17. Estado e Desigualdade — H1 / H2 / H3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Setor público reduz desigualdade geral mas gap racial persiste — e gap de gênero é MAIOR no público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4626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90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Gini setor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0,466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privado 0,472 | total 0,488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20624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251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racial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526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−25,2%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47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controlado | privado −29,2%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gênero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−18,8%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PIOR que privado −16,9% (paradoxo)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Prêmio salarial pub.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+99,6%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Theil entre setores: 7,8% do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H1: Estado reduz levemente o Gini (0,466 vs 0,472) mas prêmio de +99,6% concentra renda entre servidores.  H2: Racismo persiste no público (−25,2%) — atenuado vs privado (−29,2%).  H3 (paradoxo): concurso iguala entrada, mas promoção/DAS favorece homens → gap de gênero maior no público.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Renda Real, Armadilha e Inclusão — H4 / H5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Pleno emprego sem prosperidade + gap de qualificação quase inalterado em 10 anos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5880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4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Renda real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R$1.283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pico R$1.345 em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20624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Emprego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26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máxima histórica da série (2016–2025)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Alta qualif. negros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brancos: 22,4% — gap estável +11pp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Ganho de inclusão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+127,3%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renda negra se CBO = branco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H4: Contradição do mercado atual — emprego em máxima histórica (94,4%) mas renda real recua em 2025 (−4,6% vs 2024).  H5: Armadilha da renda média — gap de qualificação (11,0% vs 22,4%) praticamente inalterado após 10 anos. Inclusão produtiva plena = proxy +74,3 p.p. de PIB (Hsieh et al., 2019).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ICC=9,83%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métodos independentes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OR=0,691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AME=−4,84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EXCLUSÃO
DAS REDES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SNA: betweenness=0 para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Diplomas valem menos sem acesso às redes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Cluster: dupla desvantagem mulher negra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Oaxaca-Blinder une os três vértices: 84% do gap é de ACESSO (dotações) | 16% de REMUNERAÇÃO (retornos) | SNA explica por que o acesso é estruturalmente negado  |  GLMM: OR=0,691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21. Pesquisa Operacional — Priorização Multicritério Anti-Discriminação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TOPSIS + AHP (CR=0,004) + Programação Linear + Fronteira de Pareto | 6 políticas avaliadas</a:t>
            </a:r>
          </a:p>
        </p:txBody>
      </p:sp>
      <p:pic>
        <p:nvPicPr>
          <p:cNvPr id="5" name="Picture 4" descr="po_politicas_top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2156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Ranking TOPSIS (6 intervenções)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72768"/>
            <a:ext cx="4663440" cy="676656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6184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18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Cotas ocupacionais CBO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6184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71C1C"/>
                </a:solidFill>
                <a:latin typeface="Calibri"/>
              </a:rPr>
              <a:t>CC = 0,799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304288"/>
            <a:ext cx="4663440" cy="676656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35000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Equidade educacional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235000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CC = 0,558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3580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308152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8152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Mentoria e redes profissionais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308152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E7D32"/>
                </a:solidFill>
                <a:latin typeface="Calibri"/>
              </a:rPr>
              <a:t>CC = 0,388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76732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81304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F00"/>
                </a:solidFill>
                <a:latin typeface="Calibri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8130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Transparência salarial obrigatória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381304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8F00"/>
                </a:solidFill>
                <a:latin typeface="Calibri"/>
              </a:rPr>
              <a:t>CC = 0,324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449884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54456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54456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Enforcement anti-discriminação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454456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0,241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523036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52760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2760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Desegregação residencial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52760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0,109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84% do gap é de ACESSO → P1 (Cotas CBO) lidera com CC=0,799 — 2× superior ao 2º colocado.  Pareto (λ=0,5): alocação ótima = P1+P5 (cotas + mentoria).  PL-1 (orçamento B=5): redução projetada de 24% do gap bruto.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Inclusão Produtiva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estruturada para elevar betweenness
de negros nas redes profissionais (SNA: =0)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 (inclusão nas redes)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Equalizar CBO = +127,3% renda negra |
proxy PIB +74,3 p.p. (Hsieh et al., 2019)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23/25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23.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estimado na PEA completa via lme4::glmer (nAGQ=0, bobyqa, n=7,7M, 40,9k UPAs) — M3 com inclinação aleatória de negro não estimado por custo computacional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OR=0,691, AME=−4,84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