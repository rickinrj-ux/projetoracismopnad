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Orientador: Edilson José Rodrigues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Em três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que foi medido, o que se achou e o que isso muda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1430000" cy="109728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4416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344168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Entre 2016 e 2025, um trabalhador negro ganhou em média 19,1% a menos que um branco com a mesma escolaridade, idade e sexo.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468880"/>
            <a:ext cx="11430000" cy="109728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57860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desequilíbrio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578608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Comparando só pessoas do mesmo bairro, o gap cai quase à metade (47,0% é mediado pela segregação residencial) — e ainda sobram 10,2%, dos quais 7,0% persistem dentro da mesma ocupação.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703320"/>
            <a:ext cx="11430000" cy="109728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81304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A evidência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3813048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Quatro métodos independentes sobre a população da PNAD Contínua (40.969 bairros): o bairro medeia metade do gap; 28,4% do gap são retornos diferenciais; a penalidade cresce no topo; e a chance de chegar a um cargo qualificado é 30% menor.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937760"/>
            <a:ext cx="11430000" cy="109728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04748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que muda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5047488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Se o gargalo fosse escolaridade, ampliar o ensino resolveria. A barreira maior está no acesso à ocupação — política de educação isolada tem retorno marginal decrescente.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 barreira mais dura não é o salário, é a porta: 30% menos chance de chegar a um cargo qualificado.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Mesma escolaridade, salário menor: o gap racial não é só qualificação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4 métodos do núcleo + robustez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Dez anos de PNAD Contínua: 7,7 milhões de trabalhadores, 41 mil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Antes de qualquer modelo: brancos e negros não moram nos mesmos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Quatro métodos que respondem a quatro perguntas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Núcleo de 4 métodos + robustez (ML/SHAP)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 núcleo de 4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(GLMM) + Discriminação de REMUNERAÇÃO (HLM + Quantílica/RIF) + Penalidade interseccional (raça×gênero)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Por que multinível: 37% da variação da renda está entre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Modelo nulo: τ²=0,3370 entre bairros e σ²=0,5759 dentro deles — ignorar essa estrutura invalida a inferência</a:t>
            </a:r>
          </a:p>
        </p:txBody>
      </p:sp>
      <p:pic>
        <p:nvPicPr>
          <p:cNvPr id="5" name="Picture 4" descr="hlm_efeitos_uf_blup_u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43000"/>
            <a:ext cx="11155680" cy="499004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20040" y="4343400"/>
            <a:ext cx="36576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43891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do bairro (UPA)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6634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36,9%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18464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τ²/(τ²+σ²) — Raudenbush &amp; Bryk (2002)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4343400"/>
            <a:ext cx="38404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4389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Bairros na amostra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46634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40.969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51846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contra 27 UFs — daí UPA aleatória e UF fixa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4343400"/>
            <a:ext cx="3703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438912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 do contexto do bairro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4663440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19.536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5184648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M2 vs. M1 — o contexto não é ornamento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623560"/>
            <a:ext cx="11521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▸  </a:t>
            </a:r>
            <a:r>
              <a:rPr sz="1250">
                <a:solidFill>
                  <a:srgbClr val="212121"/>
                </a:solidFill>
                <a:latin typeface="Calibri"/>
              </a:rPr>
              <a:t>A PNAD amostra por conglomerados: ignorar a correlação intra-UPA subestima os erros-padrão (Moulton)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▸  </a:t>
            </a:r>
            <a:r>
              <a:rPr sz="1250">
                <a:solidFill>
                  <a:srgbClr val="212121"/>
                </a:solidFill>
                <a:latin typeface="Calibri"/>
              </a:rPr>
              <a:t>27 UFs são poucas para um terceiro nível aleatório — entram como 26 efeitos fixos, sem hipótese distribucional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▸  </a:t>
            </a:r>
            <a:r>
              <a:rPr sz="1250">
                <a:solidFill>
                  <a:srgbClr val="212121"/>
                </a:solidFill>
                <a:latin typeface="Calibri"/>
              </a:rPr>
              <a:t>Contraprova: tudo reestimado com efeitos fixos de UF e erro agrupado por UPA leva às mesmas conclusões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Metade do gap desaparece ao comparar pessoas do mesmo bairro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agregado de 19,1% ao que persiste dentro da mesma ocupação, 7,0% — cada degrau acrescenta um bloco de controles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1325880"/>
            <a:ext cx="8186057" cy="7315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24585" y="15087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19,1%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137160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Agregado
(sem bairro)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6417" y="143560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Individual + UF, comparando
pessoas de bairros diferentes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377440"/>
            <a:ext cx="4550435" cy="7315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88963" y="2560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10,6%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242316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M1
(mesmo bairro)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30795" y="248716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 bairro medeia 47,0% do gap agregado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429000"/>
            <a:ext cx="4369234" cy="7315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7762" y="36118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8F00"/>
                </a:solidFill>
                <a:latin typeface="Calibri"/>
              </a:rPr>
              <a:t>10,2%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" y="347472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M3
(gap líquido)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49594" y="353872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do bairro e efeitos
fixos de estado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4480560"/>
            <a:ext cx="2990101" cy="7315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29" y="46634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Calibri"/>
              </a:rPr>
              <a:t>7,0%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452628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M4
(dentro da ocupação)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70461" y="459028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Limite inferior: a ocupação é ela
própria resultado da barreira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715000"/>
            <a:ext cx="11430000" cy="566928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7881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65,9% do gap é mediado pelo bairro e pela ocupação — mas 7,0% persistem dentro da mesma ocupação, e 10,2% sem tratar a ocupação como característica.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A ocupação explica muito — mas a ocupação é ela própria desigual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42 negros para cada 100 brancos na mesma função  |  Ocupações elementares: 2,12x mais negros que brancos  |  E a chance de acesso ao cargo qualificado é 30% menor (GLMM)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Tratar a ocupação como “característica” corta a discriminação medida pela metade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A barreira maior é a porta: 30% menos chance de cargo qualificado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(n=7,7M, 40,9k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0,691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0,699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-5,68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-5,49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30,1% menor odds de estar em ocupação qualificada (OR=0,699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Quanto mais alto o salário, maior a penalidade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4854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Na base da distribuição, a maior parte do gap é preço, não característica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A mulher negra acumula as duas penalidades — e sobra uma terceira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Para derrubar o resultado, faltaria um confundidor mais forte que tudo o que medimos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2,251× (M1)  |  E ≥ 2,214× (M2)  para anular OR = 0,691 / 0,699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2,3×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Sem impor forma funcional, a raça continua pesando na previsão da renda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com R² de teste 0,628 | profundidade escolhida por validação cruzada (10)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4135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UPA (exceto o próp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pesa mais que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jornada — a variável de esforço declarado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grupo ocupacional, a porta que o GLMM mede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 (carteira)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vínculo, também desfecho da discriminação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sem a renda do bairro entre as features: 0,031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Os quatro métodos apontam para o mesmo lugar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Os quatro métodos convergem; a discriminação opera sobretudo no acesso às ocupações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103120"/>
                <a:gridCol w="685800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Dimensão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Resultado-chave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Gap e mediação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HLM (3 níveis)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Gap 19,1% (agregado) → 7,0% (M4); 65,9% mediado por bairro e ocupação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Composição × discriminação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Oaxaca-Blinder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71,6% dotações / 28,4% não explicado (sem ocupação); 16,2% com ocupação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Teto de vidro (acesso)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GLMM logístico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OR 0,699 (cargo qualif.) → 0,654 (top 10%); E-value 2,2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Distribuição da renda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Quantílica / RIF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Gap −8,0% (q10) → −12,3% (q95); sticky floor: retornos 35% → 13%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Interseccionalidade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Oaxaca 4 grupos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Mulher Negra: gap 96,4%; penalidade extra +9,5 p.p. (não-aditiva)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Robustez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XGBoost + SHAP / E-value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R²=0,62; raça com efeito residual após controles; sem sobreajuste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Leitura: cada linha é um método independente respondendo uma pergunta distinta; OR &lt; 1 indica menor acesso para negros de mesmo perfil.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Duas barreiras, um sistema: porta de entrada e salário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Os métodos do núcleo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OR=0,699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AME=-5,49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de 7,0% dentro da ocupação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PENALIDADE
INTERSECCIONAL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Mulher Negra: gap de 96,4%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Penalidade extra de +9,5 p.p. (não-aditiva)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Raça×gênero como mecanismo próprio (Crenshaw)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Oaxaca: 71,6% do gap é composição e 28,4% retornos | GLMM mostra a barreira de acesso (OR=0,699) | RIF: discriminação de preço maior na base (sticky floor)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17. Cotas de acesso e fiscalização atacam a barreira que medimos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(7,0% no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Acesso a Ocupações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 acesso a redes profissionais
qualificadas para egressos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Ampliar acesso a ocupações qualificadas:
principal canal do gap (Oaxaca + GLMM)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28/20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O que estes números não dizem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logístico estimado na PEA completa via lme4::glmer (nAGQ=0, bobyqa, n=7,7M, 40,9k UPAs), com efeito aleatório de UPA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29/20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agregado
(sem efeito de bairro)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7,0%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Persiste dentro da
mesma ocupação (M4)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OR=0,699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da variação da renda
está entre bairros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OR=0,699, AME=-5,49 p.p.) e discriminação de REMUNERAÇÃO dentro das mesmas funções (HLM M4: 7,0%).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teto de vidro é real e cresce no topo da distribuição: a penalidade condicional vai de 8,0% no q10 a 11,6% no q90 (Z=-17,0).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 que atua só no salário deixa de fora a barreira maior: a chance de acesso a cargo qualificado é 30% menor e, no topo da renda, 35% menor.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897880"/>
            <a:ext cx="11612880" cy="502920"/>
          </a:xfrm>
          <a:prstGeom prst="rect">
            <a:avLst/>
          </a:prstGeom>
          <a:solidFill>
            <a:srgbClr val="0D1F3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971032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8F00"/>
                </a:solidFill>
                <a:latin typeface="Calibri"/>
              </a:rPr>
              <a:t>Com a mesma escolaridade, idade, sexo e bairro, um trabalhador negro ganha 10,2% a menos — e a barreira mais dura não é o salário, é a porta.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