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4552" cy="3749039"/>
          </a:xfrm>
          <a:prstGeom prst="rect">
            <a:avLst/>
          </a:prstGeom>
          <a:solidFill>
            <a:srgbClr val="0D1F3C"/>
          </a:solidFill>
          <a:ln w="254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Racismo Estrutural e Mercado de Trabalho no Brasil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BDEFB"/>
                </a:solidFill>
                <a:latin typeface="Calibri"/>
              </a:rPr>
              <a:t>Evidencias quantitativas da PNAD Continua 2016-2025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88920"/>
            <a:ext cx="10515600" cy="36576"/>
          </a:xfrm>
          <a:prstGeom prst="rect">
            <a:avLst/>
          </a:prstGeom>
          <a:solidFill>
            <a:srgbClr val="FF8F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Ricardo Calheiros  |  MBA Data Science &amp; Analytics  |  USP/ESALQ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2651760" cy="1097280"/>
          </a:xfrm>
          <a:prstGeom prst="rect">
            <a:avLst/>
          </a:prstGeom>
          <a:solidFill>
            <a:srgbClr val="1A305C"/>
          </a:solidFill>
          <a:ln w="1016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617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8F00"/>
                </a:solidFill>
                <a:latin typeface="Calibri"/>
              </a:rPr>
              <a:t>7,7M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66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trabalhadores analisados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4572000"/>
            <a:ext cx="2651760" cy="1097280"/>
          </a:xfrm>
          <a:prstGeom prst="rect">
            <a:avLst/>
          </a:prstGeom>
          <a:solidFill>
            <a:srgbClr val="1A305C"/>
          </a:solidFill>
          <a:ln w="1016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4617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8F00"/>
                </a:solidFill>
                <a:latin typeface="Calibri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5166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anos de dados (2016-2025)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4572000"/>
            <a:ext cx="2651760" cy="1097280"/>
          </a:xfrm>
          <a:prstGeom prst="rect">
            <a:avLst/>
          </a:prstGeom>
          <a:solidFill>
            <a:srgbClr val="1A305C"/>
          </a:solidFill>
          <a:ln w="1016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617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8F00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166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metodos complementares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4572000"/>
            <a:ext cx="2651760" cy="1097280"/>
          </a:xfrm>
          <a:prstGeom prst="rect">
            <a:avLst/>
          </a:prstGeom>
          <a:solidFill>
            <a:srgbClr val="1A305C"/>
          </a:solidFill>
          <a:ln w="1016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4617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8F00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5166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barreiras estruturais mapeadas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40080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0A4AE"/>
                </a:solidFill>
                <a:latin typeface="Calibri"/>
              </a:rPr>
              <a:t>VERSAO EXECUTIVA — 10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1. O Custo do Racismo para o Brasil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BBDEFB"/>
                </a:solidFill>
                <a:latin typeface="Calibri"/>
              </a:rPr>
              <a:t>Uma questao economica, nao apenas moral — trabalhadores negros representam 56% da PEA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  <a:latin typeface="Calibri"/>
              </a:rPr>
              <a:t>Por que isso importa para o pais?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00200"/>
            <a:ext cx="3749039" cy="3474720"/>
          </a:xfrm>
          <a:prstGeom prst="rect">
            <a:avLst/>
          </a:prstGeom>
          <a:solidFill>
            <a:srgbClr val="F5F5F5"/>
          </a:solidFill>
          <a:ln w="254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3749039" cy="502920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4592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+127,3%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945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12121"/>
                </a:solidFill>
                <a:latin typeface="Calibri"/>
              </a:rPr>
              <a:t>ganho de renda para negros se tivessem a mesma distribuicao ocupacional (CBO) que brancos
— simulacao com dados reais PNAD 2025 (run_hipoteses_estado.py)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600200"/>
            <a:ext cx="3749039" cy="3474720"/>
          </a:xfrm>
          <a:prstGeom prst="rect">
            <a:avLst/>
          </a:prstGeom>
          <a:solidFill>
            <a:srgbClr val="F5F5F5"/>
          </a:solidFill>
          <a:ln w="254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59" y="1600200"/>
            <a:ext cx="3749039" cy="502920"/>
          </a:xfrm>
          <a:prstGeom prst="rect">
            <a:avLst/>
          </a:prstGeom>
          <a:solidFill>
            <a:srgbClr val="FF8F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19" y="164592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+74,3 p.p.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19" y="21945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12121"/>
                </a:solidFill>
                <a:latin typeface="Calibri"/>
              </a:rPr>
              <a:t>proxy de ganho produtivo agregado (127,3% x participacao negra na forca de trabalho ~58%)
— proxy conservador, nao e estimativa de PIB formal (Hsieh et al., 2019 como referencia)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8" y="1600200"/>
            <a:ext cx="3749039" cy="3474720"/>
          </a:xfrm>
          <a:prstGeom prst="rect">
            <a:avLst/>
          </a:prstGeom>
          <a:solidFill>
            <a:srgbClr val="F5F5F5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598" y="1600200"/>
            <a:ext cx="3749039" cy="502920"/>
          </a:xfrm>
          <a:prstGeom prst="rect">
            <a:avLst/>
          </a:prstGeom>
          <a:solidFill>
            <a:srgbClr val="1565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8" y="164592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+100 anos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8" y="21945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12121"/>
                </a:solidFill>
                <a:latin typeface="Calibri"/>
              </a:rPr>
              <a:t>tempo para eliminar o gap ao ritmo atual de convergencia espontanea
— tendencia temporal: delta = 0,001 log-pt/ano (WLS 2016-2025, p=0,077 — nao significativo)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212080"/>
            <a:ext cx="11612880" cy="5486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257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Este trabalho quantifica os mecanismos — onde a discriminacao opera, qual a magnitude e o que pode ser feito.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" y="662940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  |  Versao Executiva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2. Tres Barreiras Estruturais — O Diagnostico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BBDEFB"/>
                </a:solidFill>
                <a:latin typeface="Calibri"/>
              </a:rPr>
              <a:t>5 metodos convergem para o mesmo mapa de exclusao racial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2412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3864"/>
                </a:solidFill>
                <a:latin typeface="Calibri"/>
              </a:rPr>
              <a:t>A desigualdade racial no mercado de trabalho opera em tres estagios independentes: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81328"/>
            <a:ext cx="3749039" cy="4709160"/>
          </a:xfrm>
          <a:prstGeom prst="rect">
            <a:avLst/>
          </a:prstGeom>
          <a:solidFill>
            <a:srgbClr val="F5F5F5"/>
          </a:solidFill>
          <a:ln w="254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3749039" cy="841248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08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BARREIRA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0195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BDEFB"/>
                </a:solidFill>
                <a:latin typeface="Calibri"/>
              </a:rPr>
              <a:t>Acesso e Segregacao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  <a:latin typeface="Calibri"/>
              </a:rPr>
              <a:t>▸  Negros tem 30,9% menos chance de obter
ocupacao qualificada (GLMM M2)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  <a:latin typeface="Calibri"/>
              </a:rPr>
              <a:t>▸  Mesmo com educacao, sexo e bairro IDENTICOS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8620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  <a:latin typeface="Calibri"/>
              </a:rPr>
              <a:t>▸  Causa: segregacao residencial e
exclusao das redes profissionais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481328"/>
            <a:ext cx="3749039" cy="4709160"/>
          </a:xfrm>
          <a:prstGeom prst="rect">
            <a:avLst/>
          </a:prstGeom>
          <a:solidFill>
            <a:srgbClr val="F5F5F5"/>
          </a:solidFill>
          <a:ln w="254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1481328"/>
            <a:ext cx="3749039" cy="841248"/>
          </a:xfrm>
          <a:prstGeom prst="rect">
            <a:avLst/>
          </a:prstGeom>
          <a:solidFill>
            <a:srgbClr val="FF8F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19" y="1508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BARREIRA 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19" y="190195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FFF5E0"/>
                </a:solidFill>
                <a:latin typeface="Calibri"/>
              </a:rPr>
              <a:t>Penalidade Salarial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39" y="24231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  <a:latin typeface="Calibri"/>
              </a:rPr>
              <a:t>▸  Gap salarial residual de 6,2% dentro
da mesma funcao e empresa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39" y="31546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  <a:latin typeface="Calibri"/>
              </a:rPr>
              <a:t>▸  Cresce para 15-18% para mulheres negras
(interseccionalidade de Crenshaw, 1989)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39" y="388620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  <a:latin typeface="Calibri"/>
              </a:rPr>
              <a:t>▸  Gap varia entre estados: SD = 5,0 log-pt
(random slope HLM — N=7,7M)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598" y="1481328"/>
            <a:ext cx="3749039" cy="4709160"/>
          </a:xfrm>
          <a:prstGeom prst="rect">
            <a:avLst/>
          </a:prstGeom>
          <a:solidFill>
            <a:srgbClr val="F5F5F5"/>
          </a:solidFill>
          <a:ln w="254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598" y="1481328"/>
            <a:ext cx="3749039" cy="841248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58" y="1508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BARREIRA III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8" y="190195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BDEFB"/>
                </a:solidFill>
                <a:latin typeface="Calibri"/>
              </a:rPr>
              <a:t>Isolamento Estrutural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8" y="24231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  <a:latin typeface="Calibri"/>
              </a:rPr>
              <a:t>▸  Betweenness centrality = 0 para negros
em TODAS as faixas de escolaridade (SNA)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8" y="31546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  <a:latin typeface="Calibri"/>
              </a:rPr>
              <a:t>▸  Diplomas negros valem menos porque
faltam redes para converte-los em empregos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8" y="388620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  <a:latin typeface="Calibri"/>
              </a:rPr>
              <a:t>▸  Glass ceiling de progressao: gap cresce
de 9,1% (jovens) para 37,5% (35-44 anos)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6281928"/>
            <a:ext cx="11612880" cy="347472"/>
          </a:xfrm>
          <a:prstGeom prst="rect">
            <a:avLst/>
          </a:prstGeom>
          <a:solidFill>
            <a:srgbClr val="FFF9E7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30936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F3864"/>
                </a:solidFill>
                <a:latin typeface="Calibri"/>
              </a:rPr>
              <a:t>Conclusao: politicas que agem apenas no salario atacam 16% do problema. 84% esta na porta de entrada.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" y="662940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  |  Versao Executiva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1288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3. O Gap Racial — Do Bruto ao Residual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BBDEFB"/>
                </a:solidFill>
                <a:latin typeface="Calibri"/>
              </a:rPr>
              <a:t>HLM 3 niveis (N=7,7M) decompoe o gap em camadas causais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2412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Calibri"/>
              </a:rPr>
              <a:t>Quanto do gap salarial e discriminacao pura?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536192"/>
            <a:ext cx="7941564" cy="621792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B71C1C"/>
                </a:solidFill>
                <a:latin typeface="Calibri"/>
              </a:rPr>
              <a:t>Gap BRUTO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6012" y="166420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71C1C"/>
                </a:solidFill>
                <a:latin typeface="Calibri"/>
              </a:rPr>
              <a:t>19.3%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76404" y="166420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16161"/>
                </a:solidFill>
                <a:latin typeface="Calibri"/>
              </a:rPr>
              <a:t>Sem controles — diferenca observada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2340864"/>
            <a:ext cx="3950208" cy="621792"/>
          </a:xfrm>
          <a:prstGeom prst="rect">
            <a:avLst/>
          </a:prstGeom>
          <a:solidFill>
            <a:srgbClr val="1565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24505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565C0"/>
                </a:solidFill>
                <a:latin typeface="Calibri"/>
              </a:rPr>
              <a:t>Mediacao UPA (bairro)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34656" y="246888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565C0"/>
                </a:solidFill>
                <a:latin typeface="Calibri"/>
              </a:rPr>
              <a:t>9.6%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5048" y="246888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16161"/>
                </a:solidFill>
                <a:latin typeface="Calibri"/>
              </a:rPr>
              <a:t>52% explicado por onde o trabalhador mora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3145536"/>
            <a:ext cx="3991356" cy="621792"/>
          </a:xfrm>
          <a:prstGeom prst="rect">
            <a:avLst/>
          </a:prstGeom>
          <a:solidFill>
            <a:srgbClr val="FF8F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325526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8F00"/>
                </a:solidFill>
                <a:latin typeface="Calibri"/>
              </a:rPr>
              <a:t>Gap LIQUIDO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5804" y="3273552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8F00"/>
                </a:solidFill>
                <a:latin typeface="Calibri"/>
              </a:rPr>
              <a:t>9.7%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6196" y="327355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16161"/>
                </a:solidFill>
                <a:latin typeface="Calibri"/>
              </a:rPr>
              <a:t>Discriminacao residual pos-contexto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3950208"/>
            <a:ext cx="1440180" cy="621792"/>
          </a:xfrm>
          <a:prstGeom prst="rect">
            <a:avLst/>
          </a:prstGeom>
          <a:solidFill>
            <a:srgbClr val="2E7D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" y="405993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E7D32"/>
                </a:solidFill>
                <a:latin typeface="Calibri"/>
              </a:rPr>
              <a:t>Mediacao Ocupacional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4628" y="4078224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7D32"/>
                </a:solidFill>
                <a:latin typeface="Calibri"/>
              </a:rPr>
              <a:t>3.5%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5020" y="407822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16161"/>
                </a:solidFill>
                <a:latin typeface="Calibri"/>
              </a:rPr>
              <a:t>18% explicado pelo tipo de funcao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4754880"/>
            <a:ext cx="2551176" cy="621792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48646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B71C1C"/>
                </a:solidFill>
                <a:latin typeface="Calibri"/>
              </a:rPr>
              <a:t>Gap PURO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35624" y="4882896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71C1C"/>
                </a:solidFill>
                <a:latin typeface="Calibri"/>
              </a:rPr>
              <a:t>6.2%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6016" y="488289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16161"/>
                </a:solidFill>
                <a:latin typeface="Calibri"/>
              </a:rPr>
              <a:t>Discriminacao de remuneracao irredutivel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806440"/>
            <a:ext cx="11612880" cy="594360"/>
          </a:xfrm>
          <a:prstGeom prst="rect">
            <a:avLst/>
          </a:prstGeom>
          <a:solidFill>
            <a:srgbClr val="FFEBEE"/>
          </a:solidFill>
          <a:ln w="190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3864"/>
                </a:solidFill>
                <a:latin typeface="Calibri"/>
              </a:rPr>
              <a:t>70% do gap e explicado por contexto (bairro) e ocupacao — mas 6,2% persiste como discriminacao pura,
mesmo controlando escolaridade, experiencia, setor, formalidade e funcao.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" y="662940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  |  Versao Executiva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1288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4. Barreira de Acesso — Onde a Discriminacao Comeca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BBDEFB"/>
                </a:solidFill>
                <a:latin typeface="Calibri"/>
              </a:rPr>
              <a:t>Regressao logistica multinivel (N=7,7M, 40,9k bairros) + Oaxaca-Blinder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alibri"/>
              </a:rPr>
              <a:t>Barreira de ACESSO a empregos qualificados: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577840" cy="1554480"/>
          </a:xfrm>
          <a:prstGeom prst="rect">
            <a:avLst/>
          </a:prstGeom>
          <a:solidFill>
            <a:srgbClr val="1A0505"/>
          </a:solidFill>
          <a:ln w="190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627632"/>
            <a:ext cx="5358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DEFB"/>
                </a:solidFill>
                <a:latin typeface="Calibri"/>
              </a:rPr>
              <a:t>Odds Ratio (GLMM M2)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938528"/>
            <a:ext cx="53583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B71C1C"/>
                </a:solidFill>
                <a:latin typeface="Calibri"/>
              </a:rPr>
              <a:t>0,691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743200"/>
            <a:ext cx="5358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chance de ocupacao qualificada (M2 — apos todos os controles)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46120"/>
            <a:ext cx="5577840" cy="1554480"/>
          </a:xfrm>
          <a:prstGeom prst="rect">
            <a:avLst/>
          </a:prstGeom>
          <a:solidFill>
            <a:srgbClr val="1A1500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3319272"/>
            <a:ext cx="5358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DEFB"/>
                </a:solidFill>
                <a:latin typeface="Calibri"/>
              </a:rPr>
              <a:t>AME — efeito marginal medio (M2)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630168"/>
            <a:ext cx="53583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8F00"/>
                </a:solidFill>
                <a:latin typeface="Calibri"/>
              </a:rPr>
              <a:t>−4,84 p.p.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434840"/>
            <a:ext cx="5358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gap de probabilidade de acesso que persiste com bairro identico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892040"/>
            <a:ext cx="5577840" cy="1005840"/>
          </a:xfrm>
          <a:prstGeom prst="rect">
            <a:avLst/>
          </a:prstGeom>
          <a:solidFill>
            <a:srgbClr val="FFEBEE"/>
          </a:solidFill>
          <a:ln w="127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9377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71C1C"/>
                </a:solidFill>
                <a:latin typeface="Calibri"/>
              </a:rPr>
              <a:t>Mesmo com EDUCACAO, SEXO, IDADE e BAIRRO
IDENTICOS aos de um branco, um trabalhador
negro tem 30,9% MENOS chance de trabalho qualificado.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0515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alibri"/>
              </a:rPr>
              <a:t>Onde opera o gap? Oaxaca-Blinder: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554480"/>
            <a:ext cx="5394960" cy="2103120"/>
          </a:xfrm>
          <a:prstGeom prst="rect">
            <a:avLst/>
          </a:prstGeom>
          <a:solidFill>
            <a:srgbClr val="F5F5F5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1554480"/>
            <a:ext cx="1005840" cy="2103120"/>
          </a:xfrm>
          <a:prstGeom prst="rect">
            <a:avLst/>
          </a:prstGeom>
          <a:solidFill>
            <a:srgbClr val="1565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8745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84%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1645920"/>
            <a:ext cx="4160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  <a:latin typeface="Calibri"/>
              </a:rPr>
              <a:t>Efeito ACESSO (dotacoes)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057400"/>
            <a:ext cx="4160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Negros estao em ocupacoes piores,
setores menos remunerados,
emprego informal. Discriminacao
pre-mercado e de recrutamento.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3749039"/>
            <a:ext cx="5394960" cy="1737360"/>
          </a:xfrm>
          <a:prstGeom prst="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3749039"/>
            <a:ext cx="1005840" cy="1737360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069079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16%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840479"/>
            <a:ext cx="4160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71C1C"/>
                </a:solidFill>
                <a:latin typeface="Calibri"/>
              </a:rPr>
              <a:t>Efeito SALARIO (retornos)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251959"/>
            <a:ext cx="4160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O mercado remunera as mesmas
caracteristicas a taxas menores
para negros — discriminacao
dentro da funcao.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" y="662940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  |  Versao Executiva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1288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5. Glass Ceiling — A Barreira Cresce com a Carreira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BBDEFB"/>
                </a:solidFill>
                <a:latin typeface="Calibri"/>
              </a:rPr>
              <a:t>Regressao quantilica + curva de ciclo de vida racial | gap piora ao longo do tempo</a:t>
            </a:r>
          </a:p>
        </p:txBody>
      </p:sp>
      <p:pic>
        <p:nvPicPr>
          <p:cNvPr id="5" name="Picture 4" descr="quantreg_trajeto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621792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10515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alibri"/>
              </a:rPr>
              <a:t>O que os dados mostram: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536192"/>
            <a:ext cx="5120640" cy="1261872"/>
          </a:xfrm>
          <a:prstGeom prst="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536192"/>
            <a:ext cx="5120640" cy="384048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57276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Gap sobe no topo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96596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  <a:latin typeface="Calibri"/>
              </a:rPr>
              <a:t>Gap de 8,0% na mediana (q50)
para 11,8% no topo (q90)
— glass ceiling formal confirmado
(QR global sem controles ocupacionais)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2926080"/>
            <a:ext cx="5120640" cy="1261872"/>
          </a:xfrm>
          <a:prstGeom prst="rect">
            <a:avLst/>
          </a:prstGeom>
          <a:solidFill>
            <a:srgbClr val="F5F5F5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0" y="2926080"/>
            <a:ext cx="5120640" cy="384048"/>
          </a:xfrm>
          <a:prstGeom prst="rect">
            <a:avLst/>
          </a:prstGeom>
          <a:solidFill>
            <a:srgbClr val="FF8F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296265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Gap piora com a 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3355848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  <a:latin typeface="Calibri"/>
              </a:rPr>
              <a:t>14-24 anos: gap = 9,1%
35-44 anos: gap = 37,5%
Barreira aprofunda-se na carreira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4315968"/>
            <a:ext cx="5120640" cy="1261872"/>
          </a:xfrm>
          <a:prstGeom prst="rect">
            <a:avLst/>
          </a:prstGeom>
          <a:solidFill>
            <a:srgbClr val="F5F5F5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0" y="4315968"/>
            <a:ext cx="5120640" cy="384048"/>
          </a:xfrm>
          <a:prstGeom prst="rect">
            <a:avLst/>
          </a:prstGeom>
          <a:solidFill>
            <a:srgbClr val="1565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435254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Causa: dotacoes, nao retornos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4745736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  <a:latin typeface="Calibri"/>
              </a:rPr>
              <a:t>RIF-OB: q90 = 75,8% por ACESSO
e 11,2% por discriminacao salarial
Falha esta em antes do emprego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074920"/>
            <a:ext cx="11612880" cy="640080"/>
          </a:xfrm>
          <a:prstGeom prst="rect">
            <a:avLst/>
          </a:prstGeom>
          <a:solidFill>
            <a:srgbClr val="FFF9E7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1206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Calibri"/>
              </a:rPr>
              <a:t>Sticky Floor: discriminacao e 3x mais intensa na base (q10=33,1%) do que no topo (q90=11,2%).
Enforcement anti-discriminatorio deve focar nos trabalhadores de menor renda.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806440"/>
            <a:ext cx="11612880" cy="502920"/>
          </a:xfrm>
          <a:prstGeom prst="rect">
            <a:avLst/>
          </a:prstGeom>
          <a:solidFill>
            <a:srgbClr val="F3E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843016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3864"/>
                </a:solidFill>
                <a:latin typeface="Calibri"/>
              </a:rPr>
              <a:t>Genero (GLMM random slope): o teto de vidro feminino e de RENDA, nao de categoria — mulheres acessam ocupacoes qualificadas (OR=2,01) mas nao o topo de renda (OR top10=0,522).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" y="662940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  |  Versao Executiva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6. Redes e Heterogeneidade Geografica — A Dimensao Invisivel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BBDEFB"/>
                </a:solidFill>
                <a:latin typeface="Calibri"/>
              </a:rPr>
              <a:t>SNA: exclusao das redes | HLM Random Slope: discriminacao varia 5x entre estados (N=7,7M)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2412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Exclusao das Redes (SNA):</a:t>
            </a:r>
          </a:p>
        </p:txBody>
      </p:sp>
      <p:pic>
        <p:nvPicPr>
          <p:cNvPr id="6" name="Picture 5" descr="sna_rede_demograf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5669280" cy="34747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5029200"/>
            <a:ext cx="5669280" cy="1005840"/>
          </a:xfrm>
          <a:prstGeom prst="rect">
            <a:avLst/>
          </a:prstGeom>
          <a:solidFill>
            <a:srgbClr val="FFEBEE"/>
          </a:solidFill>
          <a:ln w="127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507492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71C1C"/>
                </a:solidFill>
                <a:latin typeface="Calibri"/>
              </a:rPr>
              <a:t>Betweenness centrality = 0 para negros
em TODOS os niveis de escolaridade.
Diplomas negros valem menos porque
faltam redes para converter titulos em empregos.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02412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Discriminacao varia entre estados (HLM):</a:t>
            </a:r>
          </a:p>
        </p:txBody>
      </p:sp>
      <p:pic>
        <p:nvPicPr>
          <p:cNvPr id="10" name="Picture 9" descr="mapa_po_regio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371600"/>
            <a:ext cx="3931920" cy="380948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309360" y="5870448"/>
            <a:ext cx="5577840" cy="603504"/>
          </a:xfrm>
          <a:prstGeom prst="rect">
            <a:avLst/>
          </a:prstGeom>
          <a:solidFill>
            <a:srgbClr val="E3F2FD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907024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alibri"/>
              </a:rPr>
              <a:t>Amplitude -20% a -2% entre UFs | LRT LR=7612, p&lt;0,001*** — maior penalidade nos estados mais ricos (DF, RJ, SP), nao nos mais pobres.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" y="662940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  |  Versao Executiva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7. O Gap e Real — Tres Testes de Robustez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BBDEFB"/>
                </a:solidFill>
                <a:latin typeface="Calibri"/>
              </a:rPr>
              <a:t>Nenhuma variavel omitida plausivel consegue anular os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2412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Calibri"/>
              </a:rPr>
              <a:t>Poderia o gap ser explicado por variaveis nao observadas?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3749039" cy="4434840"/>
          </a:xfrm>
          <a:prstGeom prst="rect">
            <a:avLst/>
          </a:prstGeom>
          <a:solidFill>
            <a:srgbClr val="F5F5F5"/>
          </a:solidFill>
          <a:ln w="254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3749039" cy="45720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4533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Konfound (Frank, 2013)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84831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F3864"/>
                </a:solidFill>
                <a:latin typeface="Calibri"/>
              </a:rPr>
              <a:t>99,5% dos casos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432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precisariam ser removidos ou alterados para anular o resultado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822191"/>
            <a:ext cx="3657600" cy="27432"/>
          </a:xfrm>
          <a:prstGeom prst="rect">
            <a:avLst/>
          </a:prstGeom>
          <a:solidFill>
            <a:srgbClr val="61616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8862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16161"/>
                </a:solidFill>
                <a:latin typeface="Calibri"/>
              </a:rPr>
              <a:t>Como referencia: um confundidor assim nunca existiu em Ciencias Sociais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508760"/>
            <a:ext cx="3749039" cy="4434840"/>
          </a:xfrm>
          <a:prstGeom prst="rect">
            <a:avLst/>
          </a:prstGeom>
          <a:solidFill>
            <a:srgbClr val="F5F5F5"/>
          </a:solidFill>
          <a:ln w="254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1508760"/>
            <a:ext cx="3749039" cy="457200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19" y="154533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E-values (VanderWeele, 2017)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19" y="2084831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B71C1C"/>
                </a:solidFill>
                <a:latin typeface="Calibri"/>
              </a:rPr>
              <a:t>E &gt;= 2,25x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19" y="27432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de associacao com raca E com ocupacao simultaneamente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79" y="3822191"/>
            <a:ext cx="3657600" cy="27432"/>
          </a:xfrm>
          <a:prstGeom prst="rect">
            <a:avLst/>
          </a:prstGeom>
          <a:solidFill>
            <a:srgbClr val="61616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19" y="38862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16161"/>
                </a:solidFill>
                <a:latin typeface="Calibri"/>
              </a:rPr>
              <a:t>Uma variavel oculta teria que ser 2,3x mais preditiva que TODAS as observadas juntas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598" y="1508760"/>
            <a:ext cx="3749039" cy="4434840"/>
          </a:xfrm>
          <a:prstGeom prst="rect">
            <a:avLst/>
          </a:prstGeom>
          <a:solidFill>
            <a:srgbClr val="F5F5F5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598" y="1508760"/>
            <a:ext cx="3749039" cy="457200"/>
          </a:xfrm>
          <a:prstGeom prst="rect">
            <a:avLst/>
          </a:prstGeom>
          <a:solidFill>
            <a:srgbClr val="1565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58" y="154533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Oster Bounds (Oster, 2019)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8" y="2084831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565C0"/>
                </a:solidFill>
                <a:latin typeface="Calibri"/>
              </a:rPr>
              <a:t>delta* negativo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58" y="27432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variaveis omitidas teriam que agir na direcao OPOSTA as observadas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18" y="3822191"/>
            <a:ext cx="3657600" cy="27432"/>
          </a:xfrm>
          <a:prstGeom prst="rect">
            <a:avLst/>
          </a:prstGeom>
          <a:solidFill>
            <a:srgbClr val="61616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58" y="38862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16161"/>
                </a:solidFill>
                <a:latin typeface="Calibri"/>
              </a:rPr>
              <a:t>Impossivel: estudos mostram que omitidas e observadas agem na mesma direcao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6053328"/>
            <a:ext cx="11612880" cy="53035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099048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Veredicto: os tres metodos independentes concordam. O gap racial no mercado de trabalho brasileiro e real,
robusto e nao pode ser explicado por variaveis ocultas plausíveis.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" y="662940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  |  Versao Executiva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1288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8. O Que Fazer — Tres Eixos de Politica Publica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BBDEFB"/>
                </a:solidFill>
                <a:latin typeface="Calibri"/>
              </a:rPr>
              <a:t>TOPSIS + AHP + Programacao Linear — prioridade: atacar a porta de entrada, nao o salario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alibri"/>
              </a:rPr>
              <a:t>84% do gap e de ACESSO. As politicas precisam refletir isso.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81328"/>
            <a:ext cx="3749039" cy="5074920"/>
          </a:xfrm>
          <a:prstGeom prst="rect">
            <a:avLst/>
          </a:prstGeom>
          <a:solidFill>
            <a:srgbClr val="F5F5F5"/>
          </a:solidFill>
          <a:ln w="254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3749039" cy="457200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1790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#1 — Acesso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029968"/>
            <a:ext cx="34747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8483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71C1C"/>
                </a:solidFill>
                <a:latin typeface="Calibri"/>
              </a:rPr>
              <a:t>Cotas CBO (Dirigente/Profissional)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688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meta IR &gt;= 0,80 ate 2030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346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16161"/>
                </a:solidFill>
                <a:latin typeface="Calibri"/>
              </a:rPr>
              <a:t>TOPSIS CC=0,834 — 2,1x superior ao 2o colocado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493008"/>
            <a:ext cx="34747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4787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71C1C"/>
                </a:solidFill>
                <a:latin typeface="Calibri"/>
              </a:rPr>
              <a:t>PRONATEC c/ recorte racial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9319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subsidio de transporte em UPAs pobres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976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16161"/>
                </a:solidFill>
                <a:latin typeface="Calibri"/>
              </a:rPr>
              <a:t>ataca segregacao residencial (52% do gap)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956048"/>
            <a:ext cx="34747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01091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71C1C"/>
                </a:solidFill>
                <a:latin typeface="Calibri"/>
              </a:rPr>
              <a:t>Residencias em empresas de alta renda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3949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bolsas para egressos negros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7607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16161"/>
                </a:solidFill>
                <a:latin typeface="Calibri"/>
              </a:rPr>
              <a:t>quebra a barreira de redes (betweenness=0)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59" y="1481328"/>
            <a:ext cx="3749039" cy="5074920"/>
          </a:xfrm>
          <a:prstGeom prst="rect">
            <a:avLst/>
          </a:prstGeom>
          <a:solidFill>
            <a:srgbClr val="F5F5F5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59" y="1481328"/>
            <a:ext cx="3749039" cy="457200"/>
          </a:xfrm>
          <a:prstGeom prst="rect">
            <a:avLst/>
          </a:prstGeom>
          <a:solidFill>
            <a:srgbClr val="1565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19" y="151790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#2 — Remuneracao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19" y="2029968"/>
            <a:ext cx="34747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208483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565C0"/>
                </a:solidFill>
                <a:latin typeface="Calibri"/>
              </a:rPr>
              <a:t>Transparencia salarial por raca/genero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24688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obrigatoria para empresas &gt;100 func.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28346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16161"/>
                </a:solidFill>
                <a:latin typeface="Calibri"/>
              </a:rPr>
              <a:t>visa o gap residual de 6,2% (HLM M4)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19" y="3493008"/>
            <a:ext cx="34747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59" y="354787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565C0"/>
                </a:solidFill>
                <a:latin typeface="Calibri"/>
              </a:rPr>
              <a:t>Auditoria de igual pagamento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59" y="39319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penalidades progressivas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59" y="42976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16161"/>
                </a:solidFill>
                <a:latin typeface="Calibri"/>
              </a:rPr>
              <a:t>enforcement direto do sticky floor (q10=33%)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19" y="4956048"/>
            <a:ext cx="34747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59" y="501091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565C0"/>
                </a:solidFill>
                <a:latin typeface="Calibri"/>
              </a:rPr>
              <a:t>Piso salarial nas categorias de maior gap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59" y="53949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indexado ao gap HLM M4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59" y="57607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16161"/>
                </a:solidFill>
                <a:latin typeface="Calibri"/>
              </a:rPr>
              <a:t>protecao prioritaria para trabalhadores da base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598" y="1481328"/>
            <a:ext cx="3749039" cy="5074920"/>
          </a:xfrm>
          <a:prstGeom prst="rect">
            <a:avLst/>
          </a:prstGeom>
          <a:solidFill>
            <a:srgbClr val="F5F5F5"/>
          </a:solidFill>
          <a:ln w="254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598" y="1481328"/>
            <a:ext cx="3749039" cy="45720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58" y="151790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#3 — Redes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66758" y="2029968"/>
            <a:ext cx="34747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58198" y="208483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F3864"/>
                </a:solidFill>
                <a:latin typeface="Calibri"/>
              </a:rPr>
              <a:t>Mentoria estruturada por empresas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198" y="24688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elevacao da betweenness centrality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198" y="28346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16161"/>
                </a:solidFill>
                <a:latin typeface="Calibri"/>
              </a:rPr>
              <a:t>SNA: betweenness=0 anula retorno ao diploma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66758" y="3493008"/>
            <a:ext cx="34747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58198" y="354787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F3864"/>
                </a:solidFill>
                <a:latin typeface="Calibri"/>
              </a:rPr>
              <a:t>30% DAS e liderancas corporativas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198" y="39319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reserva para negros ate 2030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198" y="42976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16161"/>
                </a:solidFill>
                <a:latin typeface="Calibri"/>
              </a:rPr>
              <a:t>inclusao nas redes de decisao (glass ceiling)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66758" y="4956048"/>
            <a:ext cx="34747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58198" y="501091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F3864"/>
                </a:solidFill>
                <a:latin typeface="Calibri"/>
              </a:rPr>
              <a:t>Equidade educacional de qualidade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198" y="53949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nao apenas de acesso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198" y="57607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16161"/>
                </a:solidFill>
                <a:latin typeface="Calibri"/>
              </a:rPr>
              <a:t>gap qualificacao: 11% negros vs 22% brancos — estavel em 10 anos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6309360"/>
            <a:ext cx="11612880" cy="292608"/>
          </a:xfrm>
          <a:prstGeom prst="rect">
            <a:avLst/>
          </a:prstGeom>
          <a:solidFill>
            <a:srgbClr val="FF8F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6336793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3864"/>
                </a:solidFill>
                <a:latin typeface="Calibri"/>
              </a:rPr>
              <a:t>Pareto: cotas (Eixo 1) + mentoria (Eixo 3) = combinacao otima. E focalizar o orcamento nas UFs de maior penalidade (DF, Norte) rende +68,2% vs. distribuicao uniforme.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7160" y="662940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  |  Versao Executiva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61288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D1F3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9. Conclusao — O Que Este Trabalho Prova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2743200" cy="1280160"/>
          </a:xfrm>
          <a:prstGeom prst="rect">
            <a:avLst/>
          </a:prstGeom>
          <a:solidFill>
            <a:srgbClr val="1A305C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8F00"/>
                </a:solidFill>
                <a:latin typeface="Calibri"/>
              </a:rPr>
              <a:t>19,3%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Gap bruto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16161"/>
                </a:solidFill>
                <a:latin typeface="Calibri"/>
              </a:rPr>
              <a:t>sem controles (HLM M1)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777240"/>
            <a:ext cx="2743200" cy="1280160"/>
          </a:xfrm>
          <a:prstGeom prst="rect">
            <a:avLst/>
          </a:prstGeom>
          <a:solidFill>
            <a:srgbClr val="1A305C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8229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8F00"/>
                </a:solidFill>
                <a:latin typeface="Calibri"/>
              </a:rPr>
              <a:t>6,2%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463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Discriminacao pura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830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16161"/>
                </a:solidFill>
                <a:latin typeface="Calibri"/>
              </a:rPr>
              <a:t>mesma funcao e empresa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777240"/>
            <a:ext cx="2743200" cy="1280160"/>
          </a:xfrm>
          <a:prstGeom prst="rect">
            <a:avLst/>
          </a:prstGeom>
          <a:solidFill>
            <a:srgbClr val="1A305C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8229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8F00"/>
                </a:solidFill>
                <a:latin typeface="Calibri"/>
              </a:rPr>
              <a:t>0,691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463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Odds Ratio GLMM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7830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16161"/>
                </a:solidFill>
                <a:latin typeface="Calibri"/>
              </a:rPr>
              <a:t>acesso ocupacao qualificada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777240"/>
            <a:ext cx="2743200" cy="1280160"/>
          </a:xfrm>
          <a:prstGeom prst="rect">
            <a:avLst/>
          </a:prstGeom>
          <a:solidFill>
            <a:srgbClr val="1A305C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8229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8F00"/>
                </a:solidFill>
                <a:latin typeface="Calibri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1463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Betweenness negros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7830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16161"/>
                </a:solidFill>
                <a:latin typeface="Calibri"/>
              </a:rPr>
              <a:t>em todas as escolaridades (SNA)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212848"/>
            <a:ext cx="11612880" cy="859536"/>
          </a:xfrm>
          <a:prstGeom prst="rect">
            <a:avLst/>
          </a:prstGeom>
          <a:solidFill>
            <a:srgbClr val="0F274A"/>
          </a:solidFill>
          <a:ln w="190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2212848"/>
            <a:ext cx="164592" cy="859536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24942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71C1C"/>
                </a:solidFill>
                <a:latin typeface="Calibri"/>
              </a:rPr>
              <a:t>A discriminacao e real e mensuravel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61518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5 metodos independentes chegam ao mesmo diagnostico. Nao e artefato estatistico.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145536"/>
            <a:ext cx="11612880" cy="859536"/>
          </a:xfrm>
          <a:prstGeom prst="rect">
            <a:avLst/>
          </a:prstGeom>
          <a:solidFill>
            <a:srgbClr val="0F274A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145536"/>
            <a:ext cx="164592" cy="859536"/>
          </a:xfrm>
          <a:prstGeom prst="rect">
            <a:avLst/>
          </a:prstGeom>
          <a:solidFill>
            <a:srgbClr val="FF8F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18211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F00"/>
                </a:solidFill>
                <a:latin typeface="Calibri"/>
              </a:rPr>
              <a:t>Opera em duas etapas distintas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54787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84% na PORTA DE ENTRADA (acesso a funcoes qualificadas) + 16% no SALARIO dentro da funcao.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078224"/>
            <a:ext cx="11612880" cy="859536"/>
          </a:xfrm>
          <a:prstGeom prst="rect">
            <a:avLst/>
          </a:prstGeom>
          <a:solidFill>
            <a:srgbClr val="0F274A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4078224"/>
            <a:ext cx="164592" cy="859536"/>
          </a:xfrm>
          <a:prstGeom prst="rect">
            <a:avLst/>
          </a:prstGeom>
          <a:solidFill>
            <a:srgbClr val="1565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114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  <a:latin typeface="Calibri"/>
              </a:rPr>
              <a:t>E geograficamente heterogenea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4805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O gap varia de -19.8% a -2.2% entre estados (random slope HLM, N=7.689.426). Estados mais ricos (DF, RJ, SP) concentram a MAIOR penalidade.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010912"/>
            <a:ext cx="11612880" cy="859536"/>
          </a:xfrm>
          <a:prstGeom prst="rect">
            <a:avLst/>
          </a:prstGeom>
          <a:solidFill>
            <a:srgbClr val="0F274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5010912"/>
            <a:ext cx="164592" cy="859536"/>
          </a:xfrm>
          <a:prstGeom prst="rect">
            <a:avLst/>
          </a:prstGeom>
          <a:solidFill>
            <a:srgbClr val="2E7D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0474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Calibri"/>
              </a:rPr>
              <a:t>Politicas precisam ser especificas e focalizadas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4132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Cotas ocupacionais (CBO) + mentoria atacam 84% do problema. E focalizar o orcamento nas UFs de maior penalidade rende +68,2% vs. distribuicao uniforme (DF, Norte primeiro).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D1F3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473952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A4AE"/>
                </a:solidFill>
                <a:latin typeface="Calibri"/>
              </a:rPr>
              <a:t>Ricardo Calheiros  |  MBA Data Science &amp; Analytics  |  USP/ESALQ  |  rickinrj@gmail.com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