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no Mercado de Trabalho Brasileiro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O que 15,9 milhões de registros da PNAD Contínua revelam sobre desigualdade, acesso e oportunidade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109728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37,5%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médio
(mediana: 27,5%)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
vaga qualificada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de renda com
inclusão produtiva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no ritmo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8909C"/>
                </a:solidFill>
                <a:latin typeface="Calibri"/>
              </a:rPr>
              <a:t>Dados: PNAD Contínua 2016–2025 (IBGE)  |  5 metodologias estatísticas  |  Período: 10 anos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Três realidades que os números confirmam — e que políticas isoladas não resolvem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A desigualdade racial no trabalho não é apenas salário: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3749039" cy="54864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Acesso bloqueado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Negros têm 25% menos chance de estar em cargos qualificados mesmo com a mesma formação, a mesma experiência e morando no mesmo bairro que um colega branco.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343400"/>
            <a:ext cx="3529584" cy="27432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C62828"/>
                </a:solidFill>
                <a:latin typeface="Calibri"/>
              </a:rPr>
              <a:t>Mulheres negras sofrem dupla barreira: discriminação racial + de gênero simultaneamente (Crenshaw, 1989).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554480"/>
            <a:ext cx="3749039" cy="54864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Salário diferente
pela mesma função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19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Após controlar todas as características observáveis, negros ainda recebem 5,4% menos na mesma função. No topo salarial esse gap chega a 12%.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1687" y="4343400"/>
            <a:ext cx="3529584" cy="2743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1565C0"/>
                </a:solidFill>
                <a:latin typeface="Calibri"/>
              </a:rPr>
              <a:t>A discriminação não para na contratação — continua na progressão e no salário.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598" y="1554480"/>
            <a:ext cx="3749039" cy="54864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6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Onde você mora
determina o que você ganha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8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Mais de 1 em cada 5 reais da diferença salarial entre trabalhadores vem do bairro (UPA) onde cada um vive — não da competência individual.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9326" y="4343400"/>
            <a:ext cx="3529584" cy="27432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8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00696D"/>
                </a:solidFill>
                <a:latin typeface="Calibri"/>
              </a:rPr>
              <a:t>Segregação residencial se converte diretamente em segregação de renda.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Onde Você Mora Determina Sua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segregação residencial se converte diretamente em segregação de renda</a:t>
            </a:r>
          </a:p>
        </p:txBody>
      </p:sp>
      <p:pic>
        <p:nvPicPr>
          <p:cNvPr id="5" name="Picture 4" descr="hlm_justif_caterpil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3035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isso significa?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1848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Dois trabalhadores idênticos — mesma idade, mesmo diploma, mesma função — ganham salários diferentes porque nasceram em bairros diferentes.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257860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262432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 renda média do bairro (UPA) é o MAIOR determinante individual de renda — mais do que a educação.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358444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363016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Negros são super-representados nas UPAs de menor renda: o racismo histórico na moradia amplia o racismo atual no trabalho.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459028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463600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Políticas de emprego que ignoram a dimensão territorial atacam apenas parte do problema.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559552"/>
            <a:ext cx="11612880" cy="566928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5099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se você mudar um negro do bairro mais pobre para o mais rico, você explica mais da metade do gap salarial — sem mudar nenhuma característica individual.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Pirâmide Racial do Trabalho Brasileiro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Nas melhores vagas: poucos negros. Nos piores empregos: maioria negra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1791148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0158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por 100 brancos
na mesma função de dirigente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023359" y="4617720"/>
            <a:ext cx="3566160" cy="128016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9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2,1×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mais negros em
ocupações elementares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772398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8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0,47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8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índice de representação
negra no top 5% das capitais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38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solidFill>
            <a:srgbClr val="FFEBEE"/>
          </a:solidFill>
          <a:ln w="1524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0807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A sub-representação não é resultado de falta de qualificação — é o produto de barreiras sistemáticas de acesso confirmadas pelos modelos estatísticos.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Negros Têm Menos Chance nas Melhores Vagas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Mesmo com o mesmo diploma, o mesmo bairro e a mesma experiência — a barreira persiste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627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 análise mostrou: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60020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62828"/>
                </a:solidFill>
                <a:latin typeface="Calibri"/>
              </a:rPr>
              <a:t>25% menos chance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02996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Um trabalhador negro com exatamente as mesmas características que um branco tem 25% menos chance de estar em uma ocupação qualificada (gerente, engenheiro, advogado...)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92608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−1,07 pontos percentuais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35584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Mesmo após considerar o bairro onde mora, o setor de trabalho e horas trabalhadas, negros ainda ficam fora das melhores vagas. Isso é o resíduo puro da discriminação.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425196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4297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Não é falta de diploma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68172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 modelo controla educação, experiência, setor, horas e bairro. O que sobra é a cor da pele sendo usada como critério de seleção.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Teto de Vidro É Real — e Piora no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Quanto maior o salário, maior a barreira racial — confirmado por análise estatística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Como ler este gráfico: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55448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5910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Eixo vertical: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91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Quanto negros ganham a menos (%) em cada faixa salarial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237744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4140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Linha descendente: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140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 desvantagem CRESCE conforme o salário aumenta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320040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23697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No salário mínimo: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369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de ~10% — ruim, mas menor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402336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4059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No topo 5%: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05993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sobe para ~22% — a barreira é mais alta exatamente onde os prêmios são maiores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484632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A cor da pele: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8828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age como um filtro que fica mais opaco conforme a vaga fica mais valiosa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596128"/>
            <a:ext cx="11612880" cy="566928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568756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Ciclo de vida: o gap cresce de 9% (14–24 anos) para 37,5% (35–44 anos, pico de carreira) — o teto de vidro se fecha exatamente quando as promoções mais importam.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Rede que Exclui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Negros ficam fora das redes que convertem diplomas em empregos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240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são as redes profissionais?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57276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1848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Vagas nunca anunciadas são preenchidas por indicação — quem está na rede chega antes.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44144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8716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Mentores, referências e "network" determinam promoção tão quanto o desempenho.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31012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335584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A análise mostra: brancos atuam como conectores (brokers) em TODOS os níveis educacionais.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4178808"/>
            <a:ext cx="5577840" cy="77724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2452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62828"/>
                </a:solidFill>
                <a:latin typeface="Calibri"/>
              </a:rPr>
              <a:t>✗  Negros ficam nas bordas da rede — mesmo com pós-graduação, sem acesso ao centro.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4748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509320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Resultado: o diploma negro vale menos porque falta a rede que o converte em oportunidade.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989320"/>
            <a:ext cx="5943600" cy="621792"/>
          </a:xfrm>
          <a:prstGeom prst="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8076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"Mesmo que dois candidatos tenham o mesmo currículo, o que tem a rede certa chega primeiro. Essa rede, historicamente, é majoritariamente branca."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Estado Ajuda — Mas Não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Setor público reduz a desigualdade geral, mas o gap racial persiste e o de gênero é MAIOR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486400" cy="2309167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97280"/>
            <a:ext cx="5852160" cy="246613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E7D32"/>
                </a:solidFill>
                <a:latin typeface="Calibri"/>
              </a:rPr>
              <a:t>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Gini público &lt; privado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0,466 vs 0,472 — melhora marginal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4617720"/>
            <a:ext cx="3566160" cy="109728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8F00"/>
                </a:solidFill>
                <a:latin typeface="Calibri"/>
              </a:rPr>
              <a:t>Não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racial não some no concurso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−25,2% público vs −29,2% privado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617720"/>
            <a:ext cx="356616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62828"/>
                </a:solidFill>
                <a:latin typeface="Calibri"/>
              </a:rPr>
              <a:t>Piora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de gênero é maior no público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−20,8% público vs −16,9% privado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33872"/>
            <a:ext cx="11612880" cy="502920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2531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concurso público equaliza a entrada, mas a promoção às posições de liderança (DAS, chefia) ainda reflete os vieses do setor privado — ou piores.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Custo para Todos Nós — Inclusão Produtiva como Oportunidade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Hsieh et al. (2019): discriminação racial e de gênero custou ao EUA 20–40% do crescimento 1960–2010</a:t>
            </a:r>
          </a:p>
        </p:txBody>
      </p:sp>
      <p:pic>
        <p:nvPicPr>
          <p:cNvPr id="5" name="Picture 4" descr="estado_h4_inclu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4972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09728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aconteceria se negros tivessem
acesso igual às melhores vagas?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8288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75120" y="1828800"/>
            <a:ext cx="5303520" cy="36576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8653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240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Calibri"/>
              </a:rPr>
              <a:t>Mediana salarial: R$2.000 (brancos) vs R$1.450 (negros) — gap de 27,5%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5786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Gap médio de 37,5%; em cargos de alta qualificação: 11% negros vs 22% brancos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2004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3200400"/>
            <a:ext cx="5303520" cy="36576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2369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+127% renda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Se negros tivessem a mesma distribuição ocupacional que brancos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9502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A renda média dos trabalhadores negros mais que dobraria — sem nenhum aumento de produtividade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45720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572000"/>
            <a:ext cx="5303520" cy="36576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6085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Proxy: +74 p.p. PIB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983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6D"/>
                </a:solidFill>
                <a:latin typeface="Calibri"/>
              </a:rPr>
              <a:t>Estimativa conservadora do impacto no crescimento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53218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Incluir negros nas melhores vagas seria um dos maiores motores de crescimento disponíveis hoje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Que Funciona — Três Eixos de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Nenhum eixo isolado resolve. Os três precisam atuar simultaneamente.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Abrir as Portas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Cotas de acesso a cargos
qualificados (meta: IR ≥ 0,80)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338328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Formação profissional com
recorte racial e bolsas de
residência em empresas premium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14800"/>
            <a:ext cx="356616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C62828"/>
                </a:solidFill>
                <a:latin typeface="Calibri"/>
              </a:rPr>
              <a:t>Atacar onde os dados apontam:
barreiras de ACESSO, não só salário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7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Pagar Igual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Transparência salarial por raça
obrigatória (empresas &gt; 100 fun.)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39" y="2834640"/>
            <a:ext cx="338328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39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Auditoria de igual pagamento
por trabalho igual com
penalidades progressivas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399" y="4114800"/>
            <a:ext cx="356616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19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565C0"/>
                </a:solidFill>
                <a:latin typeface="Calibri"/>
              </a:rPr>
              <a:t>O gap residual de 5,4% é real
e mensurável — e deve ser eliminado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8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6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Ampliar as Redes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Mentoria estruturada para elevar
a posição de negros nas redes
profissionais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78" y="2834640"/>
            <a:ext cx="338328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8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30% dos cargos de liderança
(DAS + corporativo) para negros
até 2030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38" y="4114800"/>
            <a:ext cx="356616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58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2E7D32"/>
                </a:solidFill>
                <a:latin typeface="Calibri"/>
              </a:rPr>
              <a:t>Sem acesso às redes que convertem
diplomas em empregos, nada muda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3550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62828"/>
                </a:solidFill>
                <a:latin typeface="Calibri"/>
              </a:rPr>
              <a:t>⚠  Sem ação simultânea nos três eixos, fechar o gap levará mais de 100 anos no ritmo atual.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Urgência — O Que Está em Jogo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Pleno emprego sem prosperidade: 94,4% empregados, renda real estagnada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387374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760720" cy="242320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754880"/>
            <a:ext cx="2743200" cy="123444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emprego em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máxima histórica da série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R$1.283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renda real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queda vs R$1.345 em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11%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em alta
qualificação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brancos: 22,4%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4754880"/>
            <a:ext cx="2743200" cy="123444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anos para fechar
o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no ritmo atual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309360"/>
            <a:ext cx="11612880" cy="402336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400800"/>
            <a:ext cx="11338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Brasil está a produzir emprego, mas não prosperidade igualitária. Pleno emprego com segregação ocupacional é o cenário atual — e não se resolve sozinho.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 pergunta não é se o racismo estrutural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8F00"/>
                </a:solidFill>
                <a:latin typeface="Calibri"/>
              </a:rPr>
              <a:t>Os dados respondem isso com clareza.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69848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 pergunta é: o que faremos com esse conhecimento?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25%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 uma
vaga qualificada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27,5%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na
mediana bruta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potencial de
renda com inclusão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40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sem ação deliberada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78909C"/>
                </a:solidFill>
                <a:latin typeface="Calibri"/>
              </a:rPr>
              <a:t>Dados e código disponíveis  |  Metodologia: HLM + ML/SHAP + Oaxaca-Blinder + GLMM + Reg. Quantílica  |  PNAD Contínua 2016–2025 (IBGE)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8909C"/>
                </a:solidFill>
                <a:latin typeface="Calibri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