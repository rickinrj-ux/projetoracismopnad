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57200"/>
            <a:ext cx="11274552" cy="3749039"/>
          </a:xfrm>
          <a:prstGeom prst="rect">
            <a:avLst/>
          </a:prstGeom>
          <a:solidFill>
            <a:srgbClr val="0D1F3C"/>
          </a:solidFill>
          <a:ln w="254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libri"/>
              </a:rPr>
              <a:t>Racismo Estrutural e Mercado de Trabalho no Brasil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BDEFB"/>
                </a:solidFill>
                <a:latin typeface="Calibri"/>
              </a:rPr>
              <a:t>Evidencias quantitativas da PNAD Continua 2016-2025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788920"/>
            <a:ext cx="10515600" cy="36576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926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Ricardo Calheiros  |  MBA Data Science &amp; Analytics  |  USP/ESALQ  | 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4572000"/>
            <a:ext cx="2651760" cy="109728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61772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7,7M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1663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trabalhadores analisados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80" y="4572000"/>
            <a:ext cx="2651760" cy="109728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0" y="461772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51663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anos de dados (2016-2025)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4572000"/>
            <a:ext cx="2651760" cy="109728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461772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51663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metodos complementares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35440" y="4572000"/>
            <a:ext cx="2651760" cy="109728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0" y="461772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0" y="51663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barreiras estruturais mapeadas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640080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90A4AE"/>
                </a:solidFill>
                <a:latin typeface="Calibri"/>
              </a:rPr>
              <a:t>VERSAO EXECUTIVA — 10 SLIDES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400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1. O Custo do Racismo para o Brasil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BBDEFB"/>
                </a:solidFill>
                <a:latin typeface="Calibri"/>
              </a:rPr>
              <a:t>Uma questao economica, nao apenas moral — trabalhadores negros representam 56% da PEA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5156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3864"/>
                </a:solidFill>
                <a:latin typeface="Calibri"/>
              </a:rPr>
              <a:t>Por que isso importa para o pais?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600200"/>
            <a:ext cx="3749039" cy="3474720"/>
          </a:xfrm>
          <a:prstGeom prst="rect">
            <a:avLst/>
          </a:prstGeom>
          <a:solidFill>
            <a:srgbClr val="F5F5F5"/>
          </a:solidFill>
          <a:ln w="254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600200"/>
            <a:ext cx="3749039" cy="50292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645920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+127,3%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194560"/>
            <a:ext cx="3474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212121"/>
                </a:solidFill>
                <a:latin typeface="Calibri"/>
              </a:rPr>
              <a:t>ganho de renda para negros se tivessem a mesma distribuicao ocupacional (CBO) que brancos
— simulacao com dados reais PNAD 2025 (run_hipoteses_estado.py)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59" y="1600200"/>
            <a:ext cx="3749039" cy="3474720"/>
          </a:xfrm>
          <a:prstGeom prst="rect">
            <a:avLst/>
          </a:prstGeom>
          <a:solidFill>
            <a:srgbClr val="F5F5F5"/>
          </a:solidFill>
          <a:ln w="254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59" y="1600200"/>
            <a:ext cx="3749039" cy="502920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19" y="1645920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+74,3 p.p.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19" y="2194560"/>
            <a:ext cx="3474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212121"/>
                </a:solidFill>
                <a:latin typeface="Calibri"/>
              </a:rPr>
              <a:t>proxy de ganho produtivo agregado (127,3% x participacao negra na forca de trabalho ~58%)
— proxy conservador, nao e estimativa de PIB formal (Hsieh et al., 2019 como referencia)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598" y="1600200"/>
            <a:ext cx="3749039" cy="3474720"/>
          </a:xfrm>
          <a:prstGeom prst="rect">
            <a:avLst/>
          </a:prstGeom>
          <a:solidFill>
            <a:srgbClr val="F5F5F5"/>
          </a:solidFill>
          <a:ln w="254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598" y="1600200"/>
            <a:ext cx="3749039" cy="50292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58" y="1645920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+100 anos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58" y="2194560"/>
            <a:ext cx="3474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212121"/>
                </a:solidFill>
                <a:latin typeface="Calibri"/>
              </a:rPr>
              <a:t>tempo para eliminar o gap ao ritmo atual de convergencia espontanea
— tendencia temporal: delta = 0,001 log-pt/ano (WLS 2016-2025, p=0,077 — nao significativo)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5212080"/>
            <a:ext cx="11612880" cy="5486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52578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Este trabalho quantifica os mecanismos — onde a discriminacao opera, qual a magnitude e o que pode ser feito.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" y="662940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  |  Versao Executiva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61288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Calibri"/>
              </a:rPr>
              <a:t>2/10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400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2. Tres Barreiras Estruturais — O Diagnostico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BBDEFB"/>
                </a:solidFill>
                <a:latin typeface="Calibri"/>
              </a:rPr>
              <a:t>5 metodos convergem para o mesmo mapa de exclusao racial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2412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3864"/>
                </a:solidFill>
                <a:latin typeface="Calibri"/>
              </a:rPr>
              <a:t>A desigualdade racial no mercado de trabalho opera em tres estagios independentes: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481328"/>
            <a:ext cx="3749039" cy="4709160"/>
          </a:xfrm>
          <a:prstGeom prst="rect">
            <a:avLst/>
          </a:prstGeom>
          <a:solidFill>
            <a:srgbClr val="F5F5F5"/>
          </a:solidFill>
          <a:ln w="254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481328"/>
            <a:ext cx="3749039" cy="84124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50876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BARREIRA 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90195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BBDEFB"/>
                </a:solidFill>
                <a:latin typeface="Calibri"/>
              </a:rPr>
              <a:t>Acesso e Segregacao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2316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▸  Negros tem 30,9% menos chance de obter
ocupacao qualificada (GLMM M2)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15468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▸  Mesmo com educacao, sexo e bairro IDENTICOS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88620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▸  Causa: segregacao residencial e
exclusao das redes profissionais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59" y="1481328"/>
            <a:ext cx="3749039" cy="4709160"/>
          </a:xfrm>
          <a:prstGeom prst="rect">
            <a:avLst/>
          </a:prstGeom>
          <a:solidFill>
            <a:srgbClr val="F5F5F5"/>
          </a:solidFill>
          <a:ln w="254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51959" y="1481328"/>
            <a:ext cx="3749039" cy="841248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19" y="150876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BARREIRA II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19" y="190195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FFF5E0"/>
                </a:solidFill>
                <a:latin typeface="Calibri"/>
              </a:rPr>
              <a:t>Penalidade Salarial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39" y="242316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▸  Gap salarial residual de 6,2% dentro
da mesma funcao e empresa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39" y="315468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▸  Cresce para 15-18% para mulheres negras
(interseccionalidade de Crenshaw, 1989)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39" y="388620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▸  Gap varia entre estados: SD = 5,0 log-pt
(random slope HLM — N=7,7M)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598" y="1481328"/>
            <a:ext cx="3749039" cy="4709160"/>
          </a:xfrm>
          <a:prstGeom prst="rect">
            <a:avLst/>
          </a:prstGeom>
          <a:solidFill>
            <a:srgbClr val="F5F5F5"/>
          </a:solidFill>
          <a:ln w="254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598" y="1481328"/>
            <a:ext cx="3749039" cy="8412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66758" y="150876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BARREIRA III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58" y="190195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BBDEFB"/>
                </a:solidFill>
                <a:latin typeface="Calibri"/>
              </a:rPr>
              <a:t>Isolamento Estrutural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78" y="242316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▸  Betweenness centrality = 0 para negros
em TODAS as faixas de escolaridade (SNA)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78" y="315468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▸  Diplomas negros valem menos porque
faltam redes para converte-los em empregos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78" y="388620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▸  Glass ceiling de progressao: gap cresce
de 9,1% (jovens) para 37,5% (35-44 anos)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6281928"/>
            <a:ext cx="11612880" cy="347472"/>
          </a:xfrm>
          <a:prstGeom prst="rect">
            <a:avLst/>
          </a:prstGeom>
          <a:solidFill>
            <a:srgbClr val="FFF9E7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6309360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1F3864"/>
                </a:solidFill>
                <a:latin typeface="Calibri"/>
              </a:rPr>
              <a:t>Conclusao: politicas que agem apenas no salario atacam 16% do problema. 84% esta na porta de entrada.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7160" y="662940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  |  Versao Executiva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61288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Calibri"/>
              </a:rPr>
              <a:t>3/10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400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3. O Gap Racial — Do Bruto ao Residual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BBDEFB"/>
                </a:solidFill>
                <a:latin typeface="Calibri"/>
              </a:rPr>
              <a:t>HLM 3 niveis (N=7,7M) decompoe o gap em camadas causais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2412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F3864"/>
                </a:solidFill>
                <a:latin typeface="Calibri"/>
              </a:rPr>
              <a:t>Quanto do gap salarial e discriminacao pura?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0" y="1536192"/>
            <a:ext cx="7941564" cy="621792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16459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B71C1C"/>
                </a:solidFill>
                <a:latin typeface="Calibri"/>
              </a:rPr>
              <a:t>Gap BRUTO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6012" y="1664208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19.3%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76404" y="1664208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Sem controles — diferenca observada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74720" y="2340864"/>
            <a:ext cx="3950208" cy="621792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2450592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1565C0"/>
                </a:solidFill>
                <a:latin typeface="Calibri"/>
              </a:rPr>
              <a:t>Mediacao UPA (bairro)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34656" y="2468880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565C0"/>
                </a:solidFill>
                <a:latin typeface="Calibri"/>
              </a:rPr>
              <a:t>9.6%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5048" y="2468880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52% explicado por onde o trabalhador mora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720" y="3145536"/>
            <a:ext cx="3991356" cy="621792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2880" y="3255264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F8F00"/>
                </a:solidFill>
                <a:latin typeface="Calibri"/>
              </a:rPr>
              <a:t>Gap LIQUIDO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75804" y="3273552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8F00"/>
                </a:solidFill>
                <a:latin typeface="Calibri"/>
              </a:rPr>
              <a:t>9.7%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26196" y="3273552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Discriminacao residual pos-contexto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720" y="3950208"/>
            <a:ext cx="1440180" cy="621792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82880" y="4059936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2E7D32"/>
                </a:solidFill>
                <a:latin typeface="Calibri"/>
              </a:rPr>
              <a:t>Mediacao Ocupacional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4628" y="4078224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2E7D32"/>
                </a:solidFill>
                <a:latin typeface="Calibri"/>
              </a:rPr>
              <a:t>3.5%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75020" y="4078224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18% explicado pelo tipo de funcao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74720" y="4754880"/>
            <a:ext cx="2551176" cy="621792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2880" y="486460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B71C1C"/>
                </a:solidFill>
                <a:latin typeface="Calibri"/>
              </a:rPr>
              <a:t>Gap PURO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35624" y="4882896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6.2%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86016" y="4882896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Discriminacao de remuneracao irredutivel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5806440"/>
            <a:ext cx="11612880" cy="594360"/>
          </a:xfrm>
          <a:prstGeom prst="rect">
            <a:avLst/>
          </a:prstGeom>
          <a:solidFill>
            <a:srgbClr val="FFEBEE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85216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F3864"/>
                </a:solidFill>
                <a:latin typeface="Calibri"/>
              </a:rPr>
              <a:t>70% do gap e explicado por contexto (bairro) e ocupacao — mas 6,2% persiste como discriminacao pura,
mesmo controlando escolaridade, experiencia, setor, formalidade e funcao.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7160" y="662940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  |  Versao Executiva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61288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Calibri"/>
              </a:rPr>
              <a:t>4/10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400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4. Barreira de Acesso — Onde a Discriminacao Comeca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BBDEFB"/>
                </a:solidFill>
                <a:latin typeface="Calibri"/>
              </a:rPr>
              <a:t>Regressao logistica multinivel (N=7,7M, 40,9k bairros) + Oaxaca-Blinder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51560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3864"/>
                </a:solidFill>
                <a:latin typeface="Calibri"/>
              </a:rPr>
              <a:t>Barreira de ACESSO a empregos qualificados: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54480"/>
            <a:ext cx="5577840" cy="1554480"/>
          </a:xfrm>
          <a:prstGeom prst="rect">
            <a:avLst/>
          </a:prstGeom>
          <a:solidFill>
            <a:srgbClr val="1A050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627632"/>
            <a:ext cx="53583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BDEFB"/>
                </a:solidFill>
                <a:latin typeface="Calibri"/>
              </a:rPr>
              <a:t>Odds Ratio (GLMM M2)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938528"/>
            <a:ext cx="535838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B71C1C"/>
                </a:solidFill>
                <a:latin typeface="Calibri"/>
              </a:rPr>
              <a:t>0,691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2743200"/>
            <a:ext cx="53583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chance de ocupacao qualificada (M2 — apos todos os controles)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3246120"/>
            <a:ext cx="5577840" cy="1554480"/>
          </a:xfrm>
          <a:prstGeom prst="rect">
            <a:avLst/>
          </a:prstGeom>
          <a:solidFill>
            <a:srgbClr val="1A1500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3319272"/>
            <a:ext cx="53583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BDEFB"/>
                </a:solidFill>
                <a:latin typeface="Calibri"/>
              </a:rPr>
              <a:t>AME — efeito marginal medio (M2)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3630168"/>
            <a:ext cx="535838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8F00"/>
                </a:solidFill>
                <a:latin typeface="Calibri"/>
              </a:rPr>
              <a:t>−4,84 p.p.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" y="4434840"/>
            <a:ext cx="53583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gap de probabilidade de acesso que persiste com bairro identico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892040"/>
            <a:ext cx="5577840" cy="1005840"/>
          </a:xfrm>
          <a:prstGeom prst="rect">
            <a:avLst/>
          </a:prstGeom>
          <a:solidFill>
            <a:srgbClr val="FFEBEE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937760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71C1C"/>
                </a:solidFill>
                <a:latin typeface="Calibri"/>
              </a:rPr>
              <a:t>Mesmo com EDUCACAO, SEXO, IDADE e BAIRRO
IDENTICOS aos de um branco, um trabalhador
negro tem 30,9% MENOS chance de trabalho qualificado.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1051560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3864"/>
                </a:solidFill>
                <a:latin typeface="Calibri"/>
              </a:rPr>
              <a:t>Onde opera o gap? Oaxaca-Blinder: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1554480"/>
            <a:ext cx="5394960" cy="210312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92240" y="1554480"/>
            <a:ext cx="1005840" cy="210312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1874520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84%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0" y="1645920"/>
            <a:ext cx="4160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565C0"/>
                </a:solidFill>
                <a:latin typeface="Calibri"/>
              </a:rPr>
              <a:t>Efeito ACESSO (dotacoes)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0" y="2057400"/>
            <a:ext cx="41605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Negros estao em ocupacoes piores,
setores menos remunerados,
emprego informal. Discriminacao
pre-mercado e de recrutamento.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2240" y="3749039"/>
            <a:ext cx="5394960" cy="173736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92240" y="3749039"/>
            <a:ext cx="1005840" cy="173736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0" y="4069079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16%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0" y="3840479"/>
            <a:ext cx="4160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B71C1C"/>
                </a:solidFill>
                <a:latin typeface="Calibri"/>
              </a:rPr>
              <a:t>Efeito SALARIO (retornos)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4251959"/>
            <a:ext cx="41605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O mercado remunera as mesmas
caracteristicas a taxas menores
para negros — discriminacao
dentro da funcao.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37160" y="662940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  |  Versao Executiva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61288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Calibri"/>
              </a:rPr>
              <a:t>5/10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400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5. Glass Ceiling — A Barreira Cresce com a Carreira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BBDEFB"/>
                </a:solidFill>
                <a:latin typeface="Calibri"/>
              </a:rPr>
              <a:t>Regressao quantilica + curva de ciclo de vida racial | gap piora ao longo do tempo</a:t>
            </a:r>
          </a:p>
        </p:txBody>
      </p:sp>
      <p:pic>
        <p:nvPicPr>
          <p:cNvPr id="5" name="Picture 4" descr="quantreg_trajeto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1560"/>
            <a:ext cx="6217920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105156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3864"/>
                </a:solidFill>
                <a:latin typeface="Calibri"/>
              </a:rPr>
              <a:t>O que os dados mostram: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1536192"/>
            <a:ext cx="5120640" cy="1261872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0" y="1536192"/>
            <a:ext cx="5120640" cy="38404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95160" y="157276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Gap sobe no topo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60" y="1965960"/>
            <a:ext cx="4846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Gap de 8,0% na mediana (q50)
para 11,8% no topo (q90)
— glass ceiling formal confirmado
(QR global sem controles ocupacionais)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0" y="2926080"/>
            <a:ext cx="5120640" cy="1261872"/>
          </a:xfrm>
          <a:prstGeom prst="rect">
            <a:avLst/>
          </a:prstGeom>
          <a:solidFill>
            <a:srgbClr val="F5F5F5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0" y="2926080"/>
            <a:ext cx="5120640" cy="384048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2962656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Gap piora com a idade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3355848"/>
            <a:ext cx="4846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14-24 anos: gap = 9,1%
35-44 anos: gap = 37,5%
Barreira aprofunda-se na carreira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0" y="4315968"/>
            <a:ext cx="5120640" cy="1261872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0" y="4315968"/>
            <a:ext cx="5120640" cy="384048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95160" y="4352544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Causa: dotacoes, nao retornos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5160" y="4745736"/>
            <a:ext cx="4846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RIF-OB: q90 = 75,8% por ACESSO
e 11,2% por discriminacao salarial
Falha esta em antes do emprego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5074920"/>
            <a:ext cx="11612880" cy="640080"/>
          </a:xfrm>
          <a:prstGeom prst="rect">
            <a:avLst/>
          </a:prstGeom>
          <a:solidFill>
            <a:srgbClr val="FFF9E7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512064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F3864"/>
                </a:solidFill>
                <a:latin typeface="Calibri"/>
              </a:rPr>
              <a:t>Sticky Floor: discriminacao e 3x mais intensa na base (q10=33,1%) do que no topo (q90=11,2%).
Enforcement anti-discriminatorio deve focar nos trabalhadores de menor renda.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7160" y="662940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  |  Versao Executiva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61288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Calibri"/>
              </a:rPr>
              <a:t>6/10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400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6. Redes e Heterogeneidade Geografica — A Dimensao Invisivel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BBDEFB"/>
                </a:solidFill>
                <a:latin typeface="Calibri"/>
              </a:rPr>
              <a:t>SNA: exclusao das redes | HLM Random Slope: discriminacao varia 5x entre estados (N=7,7M)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024128"/>
            <a:ext cx="5669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Exclusao das Redes (SNA):</a:t>
            </a:r>
          </a:p>
        </p:txBody>
      </p:sp>
      <p:pic>
        <p:nvPicPr>
          <p:cNvPr id="6" name="Picture 5" descr="sna_rede_demograf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63040"/>
            <a:ext cx="5669280" cy="34747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5029200"/>
            <a:ext cx="5669280" cy="1005840"/>
          </a:xfrm>
          <a:prstGeom prst="rect">
            <a:avLst/>
          </a:prstGeom>
          <a:solidFill>
            <a:srgbClr val="FFEBEE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5074920"/>
            <a:ext cx="5394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71C1C"/>
                </a:solidFill>
                <a:latin typeface="Calibri"/>
              </a:rPr>
              <a:t>Betweenness centrality = 0 para negros
em TODOS os niveis de escolaridade.
Diplomas negros valem menos porque
faltam redes para converter titulos em empregos.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024128"/>
            <a:ext cx="5577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Discriminacao varia entre estados (HLM):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508760"/>
            <a:ext cx="5394960" cy="1280160"/>
          </a:xfrm>
          <a:prstGeom prst="rect">
            <a:avLst/>
          </a:prstGeom>
          <a:solidFill>
            <a:srgbClr val="1A050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581912"/>
            <a:ext cx="51755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BDEFB"/>
                </a:solidFill>
                <a:latin typeface="Calibri"/>
              </a:rPr>
              <a:t>Gap medio (efeito fixo)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1892808"/>
            <a:ext cx="517550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B71C1C"/>
                </a:solidFill>
                <a:latin typeface="Calibri"/>
              </a:rPr>
              <a:t>11.5%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9088" y="2697480"/>
            <a:ext cx="51755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penalidade salarial racial media nacional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2907792"/>
            <a:ext cx="539496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944368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8F00"/>
                </a:solidFill>
                <a:latin typeface="Calibri"/>
              </a:rPr>
              <a:t>Variacao entre estados (95% das UFs):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329184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3864"/>
                </a:solidFill>
                <a:latin typeface="Calibri"/>
              </a:rPr>
              <a:t>de -19.8% ate -2.2% — amplitude de 17.6 pp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4069080"/>
            <a:ext cx="539496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4105656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65C0"/>
                </a:solidFill>
                <a:latin typeface="Calibri"/>
              </a:rPr>
              <a:t>Correlacao estado rico x gap racial: rho = -0.372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4453128"/>
            <a:ext cx="51206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Estados mais pobres concentram maior penalidade racial.
Politicas nacionais uniformes ignoram essa heterogeneidade.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9360" y="5230368"/>
            <a:ext cx="5394960" cy="804672"/>
          </a:xfrm>
          <a:prstGeom prst="rect">
            <a:avLst/>
          </a:prstGeom>
          <a:solidFill>
            <a:srgbClr val="E3F2FD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5276088"/>
            <a:ext cx="5120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LRT boundary test: LR=7612 | p&lt;0,001*** — variacao geografica CONFIRMADA (N=7.689.426)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662940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  |  Versao Executiva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61288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Calibri"/>
              </a:rPr>
              <a:t>7/10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400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7. O Gap e Real — Tres Testes de Robustez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BBDEFB"/>
                </a:solidFill>
                <a:latin typeface="Calibri"/>
              </a:rPr>
              <a:t>Nenhuma variavel omitida plausivel consegue anular os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2412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F3864"/>
                </a:solidFill>
                <a:latin typeface="Calibri"/>
              </a:rPr>
              <a:t>Poderia o gap ser explicado por variaveis nao observadas?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508760"/>
            <a:ext cx="3749039" cy="4434840"/>
          </a:xfrm>
          <a:prstGeom prst="rect">
            <a:avLst/>
          </a:prstGeom>
          <a:solidFill>
            <a:srgbClr val="F5F5F5"/>
          </a:solidFill>
          <a:ln w="254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508760"/>
            <a:ext cx="3749039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545336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Konfound (Frank, 2013)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084831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1F3864"/>
                </a:solidFill>
                <a:latin typeface="Calibri"/>
              </a:rPr>
              <a:t>99,5% dos casos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74320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precisariam ser removidos ou alterados para anular o resultado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3822191"/>
            <a:ext cx="3657600" cy="27432"/>
          </a:xfrm>
          <a:prstGeom prst="rect">
            <a:avLst/>
          </a:prstGeom>
          <a:solidFill>
            <a:srgbClr val="616161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88620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1">
                <a:solidFill>
                  <a:srgbClr val="616161"/>
                </a:solidFill>
                <a:latin typeface="Calibri"/>
              </a:rPr>
              <a:t>Como referencia: um confundidor assim nunca existiu em Ciencias Sociais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59" y="1508760"/>
            <a:ext cx="3749039" cy="4434840"/>
          </a:xfrm>
          <a:prstGeom prst="rect">
            <a:avLst/>
          </a:prstGeom>
          <a:solidFill>
            <a:srgbClr val="F5F5F5"/>
          </a:solidFill>
          <a:ln w="254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51959" y="1508760"/>
            <a:ext cx="3749039" cy="45720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19" y="1545336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E-values (VanderWeele, 2017)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19" y="2084831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B71C1C"/>
                </a:solidFill>
                <a:latin typeface="Calibri"/>
              </a:rPr>
              <a:t>E &gt;= 2,25x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19" y="274320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de associacao com raca E com ocupacao simultaneamente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79" y="3822191"/>
            <a:ext cx="3657600" cy="27432"/>
          </a:xfrm>
          <a:prstGeom prst="rect">
            <a:avLst/>
          </a:prstGeom>
          <a:solidFill>
            <a:srgbClr val="616161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19" y="388620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1">
                <a:solidFill>
                  <a:srgbClr val="616161"/>
                </a:solidFill>
                <a:latin typeface="Calibri"/>
              </a:rPr>
              <a:t>Uma variavel oculta teria que ser 2,3x mais preditiva que TODAS as observadas juntas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598" y="1508760"/>
            <a:ext cx="3749039" cy="4434840"/>
          </a:xfrm>
          <a:prstGeom prst="rect">
            <a:avLst/>
          </a:prstGeom>
          <a:solidFill>
            <a:srgbClr val="F5F5F5"/>
          </a:solidFill>
          <a:ln w="254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598" y="1508760"/>
            <a:ext cx="3749039" cy="45720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66758" y="1545336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Oster Bounds (Oster, 2019)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58" y="2084831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1565C0"/>
                </a:solidFill>
                <a:latin typeface="Calibri"/>
              </a:rPr>
              <a:t>delta* negativo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58" y="274320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variaveis omitidas teriam que agir na direcao OPOSTA as observadas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75318" y="3822191"/>
            <a:ext cx="3657600" cy="27432"/>
          </a:xfrm>
          <a:prstGeom prst="rect">
            <a:avLst/>
          </a:prstGeom>
          <a:solidFill>
            <a:srgbClr val="616161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66758" y="388620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1">
                <a:solidFill>
                  <a:srgbClr val="616161"/>
                </a:solidFill>
                <a:latin typeface="Calibri"/>
              </a:rPr>
              <a:t>Impossivel: estudos mostram que omitidas e observadas agem na mesma direcao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6053328"/>
            <a:ext cx="11612880" cy="53035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6099048"/>
            <a:ext cx="112471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Veredicto: os tres metodos independentes concordam. O gap racial no mercado de trabalho brasileiro e real,
robusto e nao pode ser explicado por variaveis ocultas plausíveis.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7160" y="662940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  |  Versao Executiva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61288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Calibri"/>
              </a:rPr>
              <a:t>8/10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400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8. O Que Fazer — Tres Eixos de Politica Publica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BBDEFB"/>
                </a:solidFill>
                <a:latin typeface="Calibri"/>
              </a:rPr>
              <a:t>TOPSIS + AHP + Programacao Linear — prioridade: atacar a porta de entrada, nao o salario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3864"/>
                </a:solidFill>
                <a:latin typeface="Calibri"/>
              </a:rPr>
              <a:t>84% do gap e de ACESSO. As politicas precisam refletir isso.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481328"/>
            <a:ext cx="3749039" cy="5074920"/>
          </a:xfrm>
          <a:prstGeom prst="rect">
            <a:avLst/>
          </a:prstGeom>
          <a:solidFill>
            <a:srgbClr val="F5F5F5"/>
          </a:solidFill>
          <a:ln w="254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481328"/>
            <a:ext cx="3749039" cy="45720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517904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#1 — Acesso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2029968"/>
            <a:ext cx="347472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084832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B71C1C"/>
                </a:solidFill>
                <a:latin typeface="Calibri"/>
              </a:rPr>
              <a:t>Cotas CBO (Dirigente/Profissional)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46888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meta IR &gt;= 0,80 ate 2030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83464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TOPSIS CC=0,834 — 2,1x superior ao 2o colocado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493008"/>
            <a:ext cx="347472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3547872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B71C1C"/>
                </a:solidFill>
                <a:latin typeface="Calibri"/>
              </a:rPr>
              <a:t>PRONATEC c/ recorte racial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93192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subsidio de transporte em UPAs pobres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29768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ataca segregacao residencial (52% do gap)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4956048"/>
            <a:ext cx="347472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5010912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B71C1C"/>
                </a:solidFill>
                <a:latin typeface="Calibri"/>
              </a:rPr>
              <a:t>Residencias em empresas de alta renda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39496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bolsas para egressos negros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76072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quebra a barreira de redes (betweenness=0)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51959" y="1481328"/>
            <a:ext cx="3749039" cy="5074920"/>
          </a:xfrm>
          <a:prstGeom prst="rect">
            <a:avLst/>
          </a:prstGeom>
          <a:solidFill>
            <a:srgbClr val="F5F5F5"/>
          </a:solidFill>
          <a:ln w="254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51959" y="1481328"/>
            <a:ext cx="3749039" cy="45720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89119" y="1517904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#2 — Remuneracao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89119" y="2029968"/>
            <a:ext cx="347472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0559" y="2084832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565C0"/>
                </a:solidFill>
                <a:latin typeface="Calibri"/>
              </a:rPr>
              <a:t>Transparencia salarial por raca/genero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59" y="246888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obrigatoria para empresas &gt;100 func.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59" y="283464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visa o gap residual de 6,2% (HLM M4)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119" y="3493008"/>
            <a:ext cx="347472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80559" y="3547872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565C0"/>
                </a:solidFill>
                <a:latin typeface="Calibri"/>
              </a:rPr>
              <a:t>Auditoria de igual pagamento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59" y="393192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penalidades progressivas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59" y="429768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enforcement direto do sticky floor (q10=33%)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19" y="4956048"/>
            <a:ext cx="347472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80559" y="5010912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565C0"/>
                </a:solidFill>
                <a:latin typeface="Calibri"/>
              </a:rPr>
              <a:t>Piso salarial nas categorias de maior gap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59" y="539496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indexado ao gap HLM M4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80559" y="576072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protecao prioritaria para trabalhadores da base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29598" y="1481328"/>
            <a:ext cx="3749039" cy="5074920"/>
          </a:xfrm>
          <a:prstGeom prst="rect">
            <a:avLst/>
          </a:prstGeom>
          <a:solidFill>
            <a:srgbClr val="F5F5F5"/>
          </a:solidFill>
          <a:ln w="254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229598" y="1481328"/>
            <a:ext cx="3749039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66758" y="1517904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#3 — Redes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66758" y="2029968"/>
            <a:ext cx="347472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58198" y="2084832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F3864"/>
                </a:solidFill>
                <a:latin typeface="Calibri"/>
              </a:rPr>
              <a:t>Mentoria estruturada por empresas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58198" y="246888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elevacao da betweenness centrality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198" y="283464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SNA: betweenness=0 anula retorno ao diploma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366758" y="3493008"/>
            <a:ext cx="347472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58198" y="3547872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F3864"/>
                </a:solidFill>
                <a:latin typeface="Calibri"/>
              </a:rPr>
              <a:t>30% DAS e liderancas corporativas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58198" y="393192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reserva para negros ate 2030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198" y="429768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inclusao nas redes de decisao (glass ceiling)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366758" y="4956048"/>
            <a:ext cx="347472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58198" y="5010912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F3864"/>
                </a:solidFill>
                <a:latin typeface="Calibri"/>
              </a:rPr>
              <a:t>Equidade educacional de qualidade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58198" y="539496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nao apenas de acesso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58198" y="576072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gap qualificacao: 11% negros vs 22% brancos — estavel em 10 anos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74320" y="6309360"/>
            <a:ext cx="11612880" cy="292608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57200" y="6336793"/>
            <a:ext cx="11247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1F3864"/>
                </a:solidFill>
                <a:latin typeface="Calibri"/>
              </a:rPr>
              <a:t>Pareto (lambda=0,5): combinacao otima = Eixo 1 (cotas) + Eixo 3 (mentoria). Atuacao isolada em remuneracao e insuficiente.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37160" y="662940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  |  Versao Executiva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61288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Calibri"/>
              </a:rPr>
              <a:t>9/10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D1F3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Calibri"/>
              </a:rPr>
              <a:t>9. Conclusao — O Que Este Trabalho Prova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777240"/>
            <a:ext cx="2743200" cy="128016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19,3%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Gap bruto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830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16161"/>
                </a:solidFill>
                <a:latin typeface="Calibri"/>
              </a:rPr>
              <a:t>sem controles (HLM M1)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777240"/>
            <a:ext cx="2743200" cy="128016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3280" y="82296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6,2%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14630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Discriminacao pura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17830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16161"/>
                </a:solidFill>
                <a:latin typeface="Calibri"/>
              </a:rPr>
              <a:t>mesma funcao e empresa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777240"/>
            <a:ext cx="2743200" cy="128016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82296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0,691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4630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Odds Ratio GLMM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17830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16161"/>
                </a:solidFill>
                <a:latin typeface="Calibri"/>
              </a:rPr>
              <a:t>acesso ocupacao qualificada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0" y="777240"/>
            <a:ext cx="2743200" cy="128016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0" y="82296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5440" y="14630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Betweenness negros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5440" y="17830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16161"/>
                </a:solidFill>
                <a:latin typeface="Calibri"/>
              </a:rPr>
              <a:t>em todas as escolaridades (SNA)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2212848"/>
            <a:ext cx="11612880" cy="859536"/>
          </a:xfrm>
          <a:prstGeom prst="rect">
            <a:avLst/>
          </a:prstGeom>
          <a:solidFill>
            <a:srgbClr val="0F274A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4320" y="2212848"/>
            <a:ext cx="164592" cy="859536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2249424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B71C1C"/>
                </a:solidFill>
                <a:latin typeface="Calibri"/>
              </a:rPr>
              <a:t>A discriminacao e real e mensuravel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615184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5 metodos independentes chegam ao mesmo diagnostico. Nao e artefato estatistico.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145536"/>
            <a:ext cx="11612880" cy="859536"/>
          </a:xfrm>
          <a:prstGeom prst="rect">
            <a:avLst/>
          </a:prstGeom>
          <a:solidFill>
            <a:srgbClr val="0F274A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74320" y="3145536"/>
            <a:ext cx="164592" cy="859536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3182112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8F00"/>
                </a:solidFill>
                <a:latin typeface="Calibri"/>
              </a:rPr>
              <a:t>Opera em duas etapas distintas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3547872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84% na PORTA DE ENTRADA (acesso a funcoes qualificadas) + 16% no SALARIO dentro da funcao.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4078224"/>
            <a:ext cx="11612880" cy="859536"/>
          </a:xfrm>
          <a:prstGeom prst="rect">
            <a:avLst/>
          </a:prstGeom>
          <a:solidFill>
            <a:srgbClr val="0F274A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74320" y="4078224"/>
            <a:ext cx="164592" cy="859536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41148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565C0"/>
                </a:solidFill>
                <a:latin typeface="Calibri"/>
              </a:rPr>
              <a:t>E geograficamente heterogenea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448056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O gap varia de -19.8% a -2.2% entre estados (random slope HLM, N=7.689.426). Estados pobres concentram mais discriminacao.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5010912"/>
            <a:ext cx="11612880" cy="859536"/>
          </a:xfrm>
          <a:prstGeom prst="rect">
            <a:avLst/>
          </a:prstGeom>
          <a:solidFill>
            <a:srgbClr val="0F274A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74320" y="5010912"/>
            <a:ext cx="164592" cy="859536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5047488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7D32"/>
                </a:solidFill>
                <a:latin typeface="Calibri"/>
              </a:rPr>
              <a:t>Politicas precisam ser especificas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541324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Cotas ocupacionais (CBO) + mentoria de redes atacam 84% do problema. Transparencia salarial ataca o restante.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D1F3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4320" y="6473952"/>
            <a:ext cx="1161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0A4AE"/>
                </a:solidFill>
                <a:latin typeface="Calibri"/>
              </a:rPr>
              <a:t>Ricardo Calheiros  |  MBA Data Science &amp; Analytics  |  USP/ESALQ  |  rickinrj@gmail.com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