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3474720"/>
          </a:xfrm>
          <a:prstGeom prst="rect">
            <a:avLst/>
          </a:prstGeom>
          <a:solidFill>
            <a:srgbClr val="0D1F3C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Racismo Estrutural e Mercado de Trabalho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  <a:latin typeface="Calibri"/>
              </a:rPr>
              <a:t>Evidências da PNAD Contínua 2016–2025 via HLM, Oaxaca-Blinder,
GLMM logístico e Regressão Quantílica/RIF (XGBoost/SHAP como robustez)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10515600" cy="2743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Ricardo Calheiros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  <a:latin typeface="Calibri"/>
              </a:rPr>
              <a:t>MBA em Data Science e Analytics  |  USP/ESALQ  |  Defesa: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15,9M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observações brutas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7,7M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obs. PEA c/ renda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métodos no núcleo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de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A4AE"/>
                </a:solidFill>
                <a:latin typeface="Calibri"/>
              </a:rPr>
              <a:t>Orientador: Edilson José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Em três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que foi medido, o que se achou e o que isso muda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44168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Entre 2016 e 2025, um trabalhador negro ganhou em média 10,5% a menos que um branco com a mesma escolaridade, idade e sexo.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04872"/>
            <a:ext cx="11430000" cy="10058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 desequilíbrio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Comparando só pessoas do mesmo bairro, o gap cai 39,5% (a parte mediada pela segregação residencial) — e ainda sobram 6,1%, dos quais 5,6% persistem dentro da mesma ocupação.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75304"/>
            <a:ext cx="11430000" cy="10058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85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A evidência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685032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Quatro métodos independentes sobre a população da PNAD Contínua (41.454 bairros): o bairro medeia 39,5% do gap; 17,9% do gap são retornos diferenciais; a penalidade cresce no topo; e a chance de chegar a um cargo qualificado é 19% menor.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45736"/>
            <a:ext cx="11430000" cy="10058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554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 que muda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855464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Entre os mais escolarizados, a penalidade salarial é pequena, mas a desvantagem de acesso persiste — política de educação isolada não alcança a porta.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11430000" cy="6858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87044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 a mesma escolaridade, idade, sexo e bairro, um trabalhador negro ganha 6,1% a menos e tem chances 19% menores de chegar a um cargo qualificado. O diploma quase iguala o salário, mas não abre a porta.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Mesma escolaridade, salário menor: o gap racial não é só qualificação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Por que olhar o gap racial brasileiro com métodos multinível?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 gap salarial racial persiste mesmo após décadas de políticas inclusivas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A renda média de negros é 37,7% menor que a de brancos — bruta, sem controles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O gap persiste mesmo após controlar escolaridade, sexo e experiência: é estrutural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Mecanismos: segregação residencial, barreira de acesso às ocupações, teto de vidro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Estudos tradicionais usam apenas OLS — não separam ACESSO de REMUNERAÇÃO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097280"/>
            <a:ext cx="4754880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Inovações deste TCC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691640"/>
            <a:ext cx="4297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565C0"/>
                </a:solidFill>
                <a:latin typeface="Calibri"/>
              </a:rPr>
              <a:t>✦ 15,9M obs. — série histórica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212848"/>
            <a:ext cx="42976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CBO, vínculo, horas e escolaridade (V4010/VD4009/VD4031/VD3004) extraídos dos ZIPs brutos do IBGE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227832"/>
            <a:ext cx="4297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ACESSO (GLMM logístico)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749040"/>
            <a:ext cx="4297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REMUNERAÇÃO (HLM + QR)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70248"/>
            <a:ext cx="4297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Convergência de 4 métodos do núcleo + robustez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2. Dez anos de PNAD Contínua: 7,7 milhões de trabalhadores, 41 mil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PNAD Contínua 2016–2025 | renda em reais do 2º tri/2026 (deflator IBGE) + efeito de 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Observações brutas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15,9M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PNAD 2016–2025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PEA com renda positiva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7,7M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filtros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UPAs (bairros)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41.454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Nível 2 do HLM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Cobertura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10 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2016 T1 →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Enriquecimento dos microdados: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V4010  →  ocp_grupo_cbo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Grupo ocupacional CBO-Domiciliar
(10 grupos ISCO-08)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VD4009  →  emprego_formal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Vínculo empregatício detalhado
(carteira, servidor, conta-própria...)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VD4031  →  horas_c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Horas habitualmente
trabalhadas (centrada)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16161"/>
                </a:solidFill>
                <a:latin typeface="Calibri"/>
              </a:rPr>
              <a:t>Estratégia: leitura seletiva dos ZIPs originais do IBGE — sem re-download.
Join por chave composta (Ano+Trimestre+UPA+V1008+V2003) com os microdados da PNAD.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11612880" cy="91440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1324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O que chamamos de “bairro”: a UPA (Unidade Primária de Amostragem) é do desenho da própria PNAD — o setor censitário, ou setores vizinhos, que o IBGE sorteia e identifica no microdado. Não é um recorte criado pelo trabalho; é a menor unidade territorial que a PNAD permite enxergar.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3. Antes de qualquer modelo: brancos e negros não moram nos mesmos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mediano bruto de 31,1% | ponderado pelo desenho amostral | reais do 2º tri/2026 | PNAD Contínua 2016–2025</a:t>
            </a:r>
          </a:p>
        </p:txBody>
      </p:sp>
      <p:pic>
        <p:nvPicPr>
          <p:cNvPr id="5" name="Picture 4" descr="fig1_densidade_log_sa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3217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os números dizem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0020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mediano bruto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31,1%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R$2.641 vs negros R$1.819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60020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na média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37,7%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R$4.245 vs negros R$2.643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8036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log-renda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42,1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diferença de médias do log, em log-pontos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88036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Formal (brancos/neg.)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F00"/>
                </a:solidFill>
                <a:latin typeface="Calibri"/>
              </a:rPr>
              <a:t>53,3%/48,6%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21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4,7 p.p. a menos de emprego formal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577840" cy="105156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87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Interpretação da curva de densidade: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622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Curva vermelha (negros) deslocada à esquerda ao longo de toda a distribuição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Linhas tracejadas = médias de log-renda de cada grupo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A curva dos negros está à esquerda em toda a distribuição; a QR e a RIF mostram onde pesa mais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49240"/>
            <a:ext cx="11612880" cy="59436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 gap persiste em TODOS os níveis educacionais — inclusive pós-graduação (26,1% na mediana). Educação é condição necessária, mas não suficiente para eliminar a desigualdade racial.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Quatro métodos que respondem a quatro perguntas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Núcleo de 4 métodos + robustez (ML/SHAP) — convergência de evidências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2402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Modelo Hierárquico Linear
(indivíduo em UPA, UF fixa)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057400" cy="1828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Gap médio e
mediação contextual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520440"/>
            <a:ext cx="2057400" cy="1828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E9E9E"/>
                </a:solidFill>
                <a:latin typeface="Calibri"/>
              </a:rPr>
              <a:t>Pergunta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  <a:latin typeface="Calibri"/>
              </a:rPr>
              <a:t>Quanto do gap está no bairro onde se mora?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143000"/>
            <a:ext cx="224028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Oaxaca-Blinder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Decomposição do gap
em dotações vs retornos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606040"/>
            <a:ext cx="2057400" cy="1828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ONDE opera
a discriminação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520440"/>
            <a:ext cx="2057400" cy="1828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E9E9E"/>
                </a:solidFill>
                <a:latin typeface="Calibri"/>
              </a:rPr>
              <a:t>Pergunta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319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  <a:latin typeface="Calibri"/>
              </a:rPr>
              <a:t>O gap é diferença de características ou de preço pago por elas?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80" y="1143000"/>
            <a:ext cx="2240280" cy="45720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GLMM logístico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Regressão logística
com intercepto de UPA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606040"/>
            <a:ext cx="2057400" cy="1828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F00"/>
                </a:solidFill>
                <a:latin typeface="Calibri"/>
              </a:rPr>
              <a:t>Gap de ACESSO
a oportunidades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3520440"/>
            <a:ext cx="2057400" cy="1828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E9E9E"/>
                </a:solidFill>
                <a:latin typeface="Calibri"/>
              </a:rPr>
              <a:t>Pergunta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9319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  <a:latin typeface="Calibri"/>
              </a:rPr>
              <a:t>Quem, com o mesmo perfil, chega ao cargo qualificado e ao topo da renda?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1143000"/>
            <a:ext cx="2240280" cy="45720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QR + RIF-OB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Gap por quantil
da distribuição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2606040"/>
            <a:ext cx="205740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Teto de vidro e
piso pegajoso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3520440"/>
            <a:ext cx="205740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E9E9E"/>
                </a:solidFill>
                <a:latin typeface="Calibri"/>
              </a:rPr>
              <a:t>Pergunta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9319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  <a:latin typeface="Calibri"/>
              </a:rPr>
              <a:t>A penalidade é a mesma na base e no topo da distribuição?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38360" y="1143000"/>
            <a:ext cx="2240280" cy="457200"/>
          </a:xfrm>
          <a:prstGeom prst="rect">
            <a:avLst/>
          </a:prstGeom>
          <a:solidFill>
            <a:srgbClr val="9E9E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Robustez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XGBoost + SHAP,
E-value, Konfound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2606040"/>
            <a:ext cx="2057400" cy="18288"/>
          </a:xfrm>
          <a:prstGeom prst="rect">
            <a:avLst/>
          </a:prstGeom>
          <a:solidFill>
            <a:srgbClr val="9E9E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E9E9E"/>
                </a:solidFill>
                <a:latin typeface="Calibri"/>
              </a:rPr>
              <a:t>Fora do núcleo:
confere o núcleo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3520440"/>
            <a:ext cx="2057400" cy="18288"/>
          </a:xfrm>
          <a:prstGeom prst="rect">
            <a:avLst/>
          </a:prstGeom>
          <a:solidFill>
            <a:srgbClr val="9E9E9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E9E9E"/>
                </a:solidFill>
                <a:latin typeface="Calibri"/>
              </a:rPr>
              <a:t>Pergunta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9319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864"/>
                </a:solidFill>
                <a:latin typeface="Calibri"/>
              </a:rPr>
              <a:t>O resultado sobrevive a outro modelo e a um confundidor omitido?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623560"/>
            <a:ext cx="11612880" cy="457200"/>
          </a:xfrm>
          <a:prstGeom prst="rect">
            <a:avLst/>
          </a:prstGeom>
          <a:solidFill>
            <a:srgbClr val="E8EA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Discriminação de ACESSO (GLMM) + Discriminação de REMUNERAÇÃO (HLM + Quantílica/RIF) + Penalidade interseccional (raça×gênero)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Por que multinível: 35% da variação da renda está entre bairros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Modelo nulo: τ²=0,3018 entre bairros e σ²=0,5524 dentro deles — ignorar essa estrutura invalida a inferência</a:t>
            </a:r>
          </a:p>
        </p:txBody>
      </p:sp>
      <p:pic>
        <p:nvPicPr>
          <p:cNvPr id="5" name="Picture 4" descr="hlm_efeitos_uf_blup_u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052567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343400"/>
            <a:ext cx="36576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389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ICC do bairro (UPA)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63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35,3%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184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τ²/(τ²+σ²) — Raudenbush &amp; Bryk (2002)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343400"/>
            <a:ext cx="38404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Bairros no HLM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40.728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5184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contra 27 UFs — daí UPA aleatória e UF fixa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4343400"/>
            <a:ext cx="3703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43891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LR do contexto do bairro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4663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29.811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51846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M2 vs. M1 — o contexto não é ornamento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62356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▸  </a:t>
            </a:r>
            <a:r>
              <a:rPr sz="1250">
                <a:solidFill>
                  <a:srgbClr val="212121"/>
                </a:solidFill>
                <a:latin typeface="Calibri"/>
              </a:rPr>
              <a:t>A PNAD amostra por conglomerados: ignorar a correlação intra-UPA subestima os erros-padrão (Moulton)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▸  </a:t>
            </a:r>
            <a:r>
              <a:rPr sz="1250">
                <a:solidFill>
                  <a:srgbClr val="212121"/>
                </a:solidFill>
                <a:latin typeface="Calibri"/>
              </a:rPr>
              <a:t>27 UFs são poucas para um terceiro nível aleatório — entram como 26 efeitos fixos, sem hipótese distribucional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▸  </a:t>
            </a:r>
            <a:r>
              <a:rPr sz="1250">
                <a:solidFill>
                  <a:srgbClr val="212121"/>
                </a:solidFill>
                <a:latin typeface="Calibri"/>
              </a:rPr>
              <a:t>Contraprova: tudo reestimado com efeitos fixos de UF e erro agrupado por UPA leva às mesmas conclusões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6. A penalidade racial muda de bairro para bairro — e é maior onde a renda é mais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M3 com intercepto e inclinação de negro aleatórios por UPA | LR = 26.267 (2 g.l.) contra o M3 de inclinação única</a:t>
            </a:r>
          </a:p>
        </p:txBody>
      </p:sp>
      <p:pic>
        <p:nvPicPr>
          <p:cNvPr id="5" name="Picture 4" descr="hlm_rs_retas_u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0163175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623560"/>
            <a:ext cx="11612880" cy="77724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6875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Inclinação média -0,066 log-pontos, com desvio-padrão de 0,145 entre bairros; a correlação entre renda-base e inclinação é -0,53. A discriminação salarial tem geografia.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Comparar vizinhos reduz o gap em cerca de 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Do gap agregado de 10,5% ao que persiste dentro da mesma ocupação, 5,6% — cada degrau acrescenta um bloco de controles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25880"/>
            <a:ext cx="8186057" cy="7315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24585" y="1508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1C1C"/>
                </a:solidFill>
                <a:latin typeface="Calibri"/>
              </a:rPr>
              <a:t>10,5%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3716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12121"/>
                </a:solidFill>
                <a:latin typeface="Calibri"/>
              </a:rPr>
              <a:t>Agregado
(sem bairro)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08760"/>
            <a:ext cx="79117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Individual + UF, comparando pessoas de bairros diferentes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377440"/>
            <a:ext cx="5063870" cy="7315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2398" y="2560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6,5%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12121"/>
                </a:solidFill>
                <a:latin typeface="Calibri"/>
              </a:rPr>
              <a:t>M1
(mesmo bairro)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4230" y="248716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O bairro medeia 39,5% do gap agregado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429000"/>
            <a:ext cx="4773790" cy="73152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2318" y="3611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F00"/>
                </a:solidFill>
                <a:latin typeface="Calibri"/>
              </a:rPr>
              <a:t>6,1%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34747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12121"/>
                </a:solidFill>
                <a:latin typeface="Calibri"/>
              </a:rPr>
              <a:t>M3
(gap líquido)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4150" y="353872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contexto do bairro e efeitos
fixos de estado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480560"/>
            <a:ext cx="4404316" cy="7315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2844" y="46634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5,6%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452628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12121"/>
                </a:solidFill>
                <a:latin typeface="Calibri"/>
              </a:rPr>
              <a:t>M4
(dentro da ocupação)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676" y="459028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Limite inferior: a ocupação é ela
própria resultado da barreira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11430000" cy="566928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881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Achado central: 47,6% do gap é mediado pelo bairro e pela ocupação — mas 5,6% persistem dentro da mesma ocupação, e 6,1% sem tratar a ocupação como característica.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 A ocupação explica muito — mas a ocupação é ela própria desigual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Sub-representação sistemática nos grupos de alto prestígio</a:t>
            </a:r>
          </a:p>
        </p:txBody>
      </p:sp>
      <p:pic>
        <p:nvPicPr>
          <p:cNvPr id="5" name="Picture 4" descr="comp_razao_grupo_c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6107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303520"/>
            <a:ext cx="11612880" cy="54864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Dirigentes: 42 negros para cada 100 brancos na mesma função  |  Ocupações elementares: 2,12x mais negros que brancos  |  E a chance de acesso ao cargo qualificado é 19% menor (GLMM)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9. Tratar a ocupação como “característica” reduz pouco a discriminação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total 53,0% | 82% explicado por características sem a ocupação, 85% com ela</a:t>
            </a:r>
          </a:p>
        </p:txBody>
      </p:sp>
      <p:pic>
        <p:nvPicPr>
          <p:cNvPr id="5" name="Picture 4" descr="fig_ob_casc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123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97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Interpretação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85% = Efeito DOTAÇÕES
Negros têm menor acesso a ocupações de prestígio, emprego formal, mais horas em subemprego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15% = Efeito RETORNOS
O mercado remunera as mesmas características a taxas diferentes por raça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Conclusão: 15,4 dos 17,9 pontos não explicados persistem dentro da mesma ocupação; a porta de entrada responde pelos outros 2,5 — e é medida diretamente pelo GLMM (OR 0,814)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074920"/>
            <a:ext cx="11704320" cy="8686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389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Implicação de política: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Combater APENAS desigualdade salarial é insuficiente. É preciso atacar as barreiras de ACESSO a ocupações qualificadas.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10. Também há barreira na porta: chances 19% menores de chegar a cargo qualificado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GLMM lme4 com efeito aleatório de UPA — barreira de ACESSO (n=7.699.273, 41.454 UPAs)</a:t>
            </a:r>
          </a:p>
        </p:txBody>
      </p:sp>
      <p:pic>
        <p:nvPicPr>
          <p:cNvPr id="5" name="Picture 4" descr="fig_glmm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970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Resultados-chave (GLMM)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54480"/>
            <a:ext cx="493776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81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OR = 0,805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581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(A1 — individual + UF)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441448"/>
            <a:ext cx="493776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F00"/>
                </a:solidFill>
                <a:latin typeface="Calibri"/>
              </a:rPr>
              <a:t>OR = 0,814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(A2 — + contexto do bairro)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328416"/>
            <a:ext cx="493776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3558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-2,75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355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Efeito marginal, controles individuais
(A1 — sem contexto do bairro)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215384"/>
            <a:ext cx="493776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2428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-2,60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242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Efeito marginal com contexto
(A2 — mesmo bairro)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5166360"/>
            <a:ext cx="4937760" cy="86868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23036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Mesmo com educação, sexo, idade e local de moradia IDÊNTICOS, negros têm chance (odds) 18,6% menor de estar em ocupação qualificada (OR=0,814, GLMM A2).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11. O diploma quase iguala o salário — não a 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Penalidade salarial por nível de escolaridade (HLM) × chances de chegar a cargo qualificado (GLMM, A4)</a:t>
            </a:r>
          </a:p>
        </p:txBody>
      </p:sp>
      <p:pic>
        <p:nvPicPr>
          <p:cNvPr id="5" name="Picture 4" descr="hlm_negro_por_educ_r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949440" cy="487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188720"/>
            <a:ext cx="43891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Salário, sem fundamental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19" y="15087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−9,6%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0299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penalidade racial condicional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560320"/>
            <a:ext cx="43891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26060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Salário, pós-graduação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880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F00"/>
                </a:solidFill>
                <a:latin typeface="Calibri"/>
              </a:rPr>
              <a:t>−1,1%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3401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quase igual ao branco de mesmo perfil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931920"/>
            <a:ext cx="43891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3977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Acesso a cargo qualificado, pós-graduação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4251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−23%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4773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nas chances (odds), GLMM 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257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Diferenças condicionais entre pessoas comparáveis — não o efeito de estudar mais.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12. Entre pares, a penalidade racial cresce rumo ao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gap racial aumenta no topo da distribuição de renda — confirmação formal</a:t>
            </a:r>
          </a:p>
        </p:txBody>
      </p:sp>
      <p:pic>
        <p:nvPicPr>
          <p:cNvPr id="5" name="Picture 4" descr="fig_qr_r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1982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32120"/>
            <a:ext cx="1161288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Teto de vidro: a penalidade condicional vai de 4,4 log-pontos (4,3%) no q10 a 8,8 log-pontos (8,4%) no q90 (Z = -25,87, bootstrap em blocos de UPA). O painel da direita — a RIF-OB — é o tema do próximo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13. Na base da distribuição, o preço pesa 3,0 vezes mais que no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Firpo, Fortin &amp; Lemieux (2018) | N=7.699.278 | Decomposição incondicional por quantil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6126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1600200"/>
                <a:gridCol w="16002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Quantil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Gap obs. (log)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Dotações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Retornos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q10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73,5%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26,5%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q25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0,223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77,7%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22,3%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q50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0,375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79,4%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20,6%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q75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0,448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83,1%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16,9%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q90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0,564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91,1%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  <a:latin typeface="Calibri"/>
                        </a:rPr>
                        <a:t>8,9%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892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Dotações + Retornos = 100% do gap RIF em cada quantil, como na tabela do relatório.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 que a RIF-OB revela além da QR?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B71C1C"/>
                </a:solidFill>
                <a:latin typeface="Calibri"/>
              </a:rPr>
              <a:t>▸  </a:t>
            </a:r>
            <a:r>
              <a:rPr sz="1400">
                <a:solidFill>
                  <a:srgbClr val="212121"/>
                </a:solidFill>
                <a:latin typeface="Calibri"/>
              </a:rPr>
              <a:t>Retornos DECLINAM: q10=26,5% → q90=8,9%  (Δ = -17,6 pp)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B71C1C"/>
                </a:solidFill>
                <a:latin typeface="Calibri"/>
              </a:rPr>
              <a:t>▸  </a:t>
            </a:r>
            <a:r>
              <a:rPr sz="1400">
                <a:solidFill>
                  <a:srgbClr val="212121"/>
                </a:solidFill>
                <a:latin typeface="Calibri"/>
              </a:rPr>
              <a:t>Dotações CRESCEM: q10=73,5% → q90=91,1%  (Δ = +17,6 pp)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B71C1C"/>
                </a:solidFill>
                <a:latin typeface="Calibri"/>
              </a:rPr>
              <a:t>▸  </a:t>
            </a:r>
            <a:r>
              <a:rPr sz="1400">
                <a:solidFill>
                  <a:srgbClr val="212121"/>
                </a:solidFill>
                <a:latin typeface="Calibri"/>
              </a:rPr>
              <a:t>No topo, o gap é consistente com desvantagens PRÉ-MERCADO
(educação, jornada, segregação residencial)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B71C1C"/>
                </a:solidFill>
                <a:latin typeface="Calibri"/>
              </a:rPr>
              <a:t>▸  </a:t>
            </a:r>
            <a:r>
              <a:rPr sz="1400">
                <a:solidFill>
                  <a:srgbClr val="212121"/>
                </a:solidFill>
                <a:latin typeface="Calibri"/>
              </a:rPr>
              <a:t>Mais do que com um preço diferente cobrado no topo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760720"/>
            <a:ext cx="116128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Piso pegajoso: a parcela de retornos é 3,0× maior na base (q10=26,5%) do que no topo (q90=8,9%). Fiscalizar igual pagamento atua na base; ampliar acesso e dotações atua no topo.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14. A mulher negra entra pelas ocupações feminizadas, mas não chega ao comando nem ao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À esquerda, o acesso (GLMM por grupo); à direita, o salário (Oaxaca-Blinder vs. homem branco) | em log-pontos, gap dela 0,592 &lt; soma 0,629: as desvantagens se acumulam</a:t>
            </a:r>
          </a:p>
        </p:txBody>
      </p:sp>
      <p:pic>
        <p:nvPicPr>
          <p:cNvPr id="5" name="Picture 4" descr="grupo_rg_intersec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Salário: Oaxaca-Blinder dos 4 grupos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72768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572768"/>
            <a:ext cx="5394960" cy="43891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002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Branca — gap 19,9%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84831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Retornos dominam: 197%
Penalidade de gênero sobre o mesmo perfil
(dotações a favor dela: -97,0%)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108960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108960"/>
            <a:ext cx="5394960" cy="43891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3136392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Homem Negro — gap 56,4%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621023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Dotações dominam: 77%
Gap majoritariamente de composição
(escolaridade, ocupação, bairro)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645152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6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645152"/>
            <a:ext cx="5394960" cy="438912"/>
          </a:xfrm>
          <a:prstGeom prst="rect">
            <a:avLst/>
          </a:prstGeom>
          <a:solidFill>
            <a:srgbClr val="6A00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672584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Negra — gap 80,7%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157215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O maior gap, mas abaixo da soma dos dois eixos
em log-pontos (0,592 &lt; 0,629): acumula as duas
desvantagens sem multiplicá-las (Crenshaw, 1989)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99632"/>
            <a:ext cx="11612880" cy="512064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45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Acesso por grande grupo: dirigentes OR=0,63; apoio administrativo 1,96 (mulher branca 2,20). Top 10%: OR=0,28, o grupo mais distante do homem branco.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15. Quão forte teria de ser o que não medimos para derrubar o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Konfound (salário) e E-value (acesso, com RR ≈ √OR para desfecho comum)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Konfound HLM (% de viés)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E-value GLMM (acesso)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98,5%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1,47×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98,4%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1,46×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98,4%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1,50×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98,3%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121"/>
                          </a:solidFill>
                          <a:latin typeface="Calibri"/>
                        </a:rPr>
                        <a:t>1,51×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6052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Konfound: fração da estimativa que teria de ser viés para anulá-la (Frank et al., 2013). E-value: associação mínima que um confundidor omitido precisaria ter com a raça e com o desfecho para anular a OR (VanderWeele &amp; Ding, 2017).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Resultados de robustez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572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09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Konfound HLM (Frank et al., 2013)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38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98,5% (M1)  |  98,4% (M3)  |  98,3% (M4)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98,4% da estimativa do gap líquido teria de ser viés para anulá-la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715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752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71C1C"/>
                </a:solidFill>
                <a:latin typeface="Calibri"/>
              </a:rPr>
              <a:t>E-values GLMM lme4 (VanderWeele &amp; Ding, 2017)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81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E ≥ 1,47× (A1)  |  E ≥ 1,46× (A2)  para anular OR = 0,805 / 0,814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Confundidor precisaria de associação ≥ 1,5× com raça E com o acesso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858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895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Calibri"/>
              </a:rPr>
              <a:t>No topo da renda (GLMM, top 10%)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24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E ≥ 1,96× para anular OR = 0,761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A barreira mais estreita é também a mais difícil de explicar por omissão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16. Sem impor forma funcional, a raça continua pesando na previsão da renda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XGBoost com R² de teste 0,644 | profundidade escolhida por validação cruzada (10)</a:t>
            </a:r>
          </a:p>
        </p:txBody>
      </p:sp>
      <p:pic>
        <p:nvPicPr>
          <p:cNvPr id="5" name="Picture 4" descr="shap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6060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Destaques com as novas variáveis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Calibri"/>
              </a:rPr>
              <a:t>Renda média UPA (exceto o próprio)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1600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|SHAP| = 0,188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920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Wilson (1987): o contexto do bairro pesa tanto quanto o diploma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359152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4048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Educ.: superior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24048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 = 0,178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7249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163824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09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20954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Horas trabalhadas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20954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 = 0,172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529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jornada — a variável de esforço declarado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968496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14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0142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Gênero (feminino)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4014216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 = 0,106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3342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773168"/>
            <a:ext cx="5303520" cy="749808"/>
          </a:xfrm>
          <a:prstGeom prst="rect">
            <a:avLst/>
          </a:prstGeom>
          <a:solidFill>
            <a:srgbClr val="FFEBEE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818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#14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8188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71C1C"/>
                </a:solidFill>
                <a:latin typeface="Calibri"/>
              </a:rPr>
              <a:t>Raça (negro)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8188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Calibri"/>
              </a:rPr>
              <a:t>|SHAP| = 0,027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138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sem a renda do bairro entre as features: 0,029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17. Os quatro métodos apontam para o mesmo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Os quatro métodos convergem: há barreira no salário e no acesso às ocupações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68580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Resultado-chave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Gap e mediação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HLM (UPA aleatória, UF fixa)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Gap 10,5% (agregado) → 5,6% (M4); 47,6% mediado por bairro e ocupação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Composição × discriminação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Oaxaca-Blinder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82,1% dotações / 17,9% não explicado (sem ocupação); 15,4% com ocupação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Teto de vidro (acesso)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GLMM logístico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OR 0,814 (cargo qualif.) → 0,761 (top 10%); E-value 1,5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Distribuição da renda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Quantílica / RIF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Gap 4,3% (q10) → 8,4% (q90); piso pegajoso: retornos 27% → 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Interseccionalidade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Oaxaca 4 grupos + GLMM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Mulher Negra: gap 80,7% (abaixo da soma dos eixos em log); OR 0,63 entre dirigentes, 0,28 no top 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Robustez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XGBoost + SHAP / E-value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121"/>
                          </a:solidFill>
                          <a:latin typeface="Calibri"/>
                        </a:rPr>
                        <a:t>R²=0,64; raça é o 14º de 28 preditores; E-value 1,5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Leitura: cada linha é um método independente respondendo uma pergunta distinta; OR &lt; 1 indica menor acesso para negros de mesmo perfil.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18. Duas barreiras, um sistema: porta de entrada e salário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Os métodos do núcleo apontam para o mesmo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 DE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GLMM: OR=0,814 para ocp. qualificada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311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AME=-2,60 p.p. no A2 (mesmo bairro)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Persiste após todos os controles observáveis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 DE REMUNERAÇÃO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HLM M4: gap de 5,6% dentro da ocupação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311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Quantílica: de 4,3% no q10 a 8,4% no q90 (penalidade condicional)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066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SHAP: raça é o 14º de 28 preditores no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611880"/>
            <a:ext cx="530352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611880"/>
            <a:ext cx="530352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PENALIDADE INTERSECCIONAL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788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Mulher Negra: gap de 80,7%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542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Acumula raça e gênero, sem multiplicar (log)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1297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Dirigentes: OR 0,63; top 10%: OR 0,28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52160"/>
            <a:ext cx="116128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Oaxaca: 82,1% do gap é composição e 17,9% retornos | GLMM mostra a barreira de acesso (OR=0,814) | RIF: discriminação de preço maior na base (piso pegajoso)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19. As políticas de diversidade cuidam da entrada, não da subida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que os resultados dizem sobre os instrumentos vigentes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81178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811780" cy="5029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2628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Ingresso, não ascensão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374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Cotas no ensino (Lei 12.711/2012, atualizada em 2023) e nos concursos (Lei 15.142/2025) atuam na entrada. A barreira cresce no topo: chances 24% menores no décimo mais rico. A reserva de cargos de confiança (Decreto 11.443/2023) vale só no governo federal.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3260" y="1143000"/>
            <a:ext cx="281178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3260" y="1143000"/>
            <a:ext cx="2811780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4700" y="1188720"/>
            <a:ext cx="2628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Educação iguala o salário, não a 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1783080"/>
            <a:ext cx="25374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A penalidade cai a 1,1% na pós-graduação, mas as chances de acesso seguem 23% menores. Prouni, Fies e cotas no ensino atacam a barreira que mais cede ao diploma.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281178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811780" cy="5029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628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 território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5374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39,5% do gap passa pelo bairro de moradia, e nenhum instrumento federal de diversidade usa o local de moradia como critério.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9700" y="1143000"/>
            <a:ext cx="281178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6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9700" y="1143000"/>
            <a:ext cx="2811780" cy="502920"/>
          </a:xfrm>
          <a:prstGeom prst="rect">
            <a:avLst/>
          </a:prstGeom>
          <a:solidFill>
            <a:srgbClr val="6A00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1140" y="1188720"/>
            <a:ext cx="2628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Um eixo de cada vez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1783080"/>
            <a:ext cx="25374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Metas separadas por raça e por gênero podem ser cumpridas sem alcançar a mulher negra: entre dirigentes, OR 0,63. A lei de transparência salarial (14.611/2023) coleta raça, mas exige igualdade só entre mulheres e homens.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722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Associações condicionais, não efeitos causais: os números mostram onde a política não chega, não o efeito de uma política.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20. Cinco propostas para reduzir o racismo estrutural no mercado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Sugeridas pelos resultados, não avaliadas por 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09728" cy="77724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1C1C"/>
                </a:solidFill>
                <a:latin typeface="Calibri"/>
              </a:rPr>
              <a:t>1. Metas de comando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Representação em cargos de direção e gerência no setor privado, com recorte interseccional, no relatório que a Lei 14.611 já exige.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109728" cy="77724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2. Igualdade salarial por raça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9456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Obrigação, não só dado, com fiscalização dirigida à diferença dentro da mesma ocupação (5,6%).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09728" cy="77724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3. Território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546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Intermediação de emprego, transporte e qualificação priorizados nos bairros de maior proporção de população negra.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69080"/>
            <a:ext cx="109728" cy="77724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F00"/>
                </a:solidFill>
                <a:latin typeface="Calibri"/>
              </a:rPr>
              <a:t>4. Promoção, não só ingresso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11480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Estender a reserva de cargos de confiança a estatais e à progressão nas carreiras.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109728" cy="7772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5. Monitoramento 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749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Gap líquido, chance de acesso e chance de comando por raça e gênero, reproduzíveis com a PNAD Contínua.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21. O que estes números não dizem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Honestidade acadêmica: o que este trabalho não faz e por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1C1C"/>
                </a:solidFill>
                <a:latin typeface="Calibri"/>
              </a:rPr>
              <a:t>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PNAD não permite experimentos causais — coeficientes são associações condicionais, não efeitos causais no sentido de Rubin/Pearl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UPA como proxy de bairro: unidade de amostragem ≠ bairro administrativo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GLMM logístico estimado na PEA completa via lme4::glmer (nAGQ=0, bobyqa, n=7.699.273, 41.454 UPAs), com efeito aleatório de UPA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Médias de bairro calculadas sem a própria pessoa (leave-one-out), mas choques comuns ao bairro ainda impedem leitura causal do contexto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CBO auto-declarado pode ter viés de classificação por raça (rebaixamento da ocupação declarada)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Agenda Futura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variáveis instrumentais (IV) para identificação causal — distância à escola técnica como instrumento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RAIS linkada à PNAD para rastrear trajetórias de mobilidade intraempresa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mediação formal (path analysis) raça → ocupação → renda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Extensão ao setor público por UF — heterogeneidade do teto de vidro entre estados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Modelo longitudinal com painéis rotativos da PNAD (2T seguidos) para efeitos fixos de indivíduo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629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10,5%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Gap racial agregado
(sem efeito de bairro)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5,6%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Persiste dentro da
mesma ocupação (M4)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OR=0,814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Acesso qualificado
(GLMM A2, lme4)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da variação da renda
está entre bairros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A desigualdade racial no mercado de trabalho brasileiro é estrutural e multicausal: o gap recua, mas devagar demais para fechar sozinho.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Duas barreiras que respondem de modo diferente à escolaridade: a penalidade salarial cai de 9,6% (sem fundamental) a 1,1% (pós-graduação), mas, com pós, as chances de chegar a cargo qualificado seguem 23% menores.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3. O teto de vidro é real e cresce no topo da distribuição: a penalidade condicional vai de 4,3% no q10 a 8,4% no q90 (Z=-25,9).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 Política que atua só no salário deixa de fora a barreira de acesso: a chance de chegar a cargo qualificado é 19% menor e, no topo da renda, 24% menor.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669280"/>
            <a:ext cx="116128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8F00"/>
                </a:solidFill>
                <a:latin typeface="Calibri"/>
              </a:rPr>
              <a:t>Com a mesma escolaridade, idade, sexo e bairro, um trabalhador negro ganha 6,1% a menos e tem chances 19% menores de chegar a um cargo qualificado. O diploma quase iguala o salário, mas não abre a porta.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Calibri"/>
              </a:rP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