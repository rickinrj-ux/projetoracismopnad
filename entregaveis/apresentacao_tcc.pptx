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ML/SHAP,
Oaxaca-Blinder, Logit Multinível e Regressão Quantílica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metodologias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Orientador: Edilson José Rodrigues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1. 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um mestrado quantitativo sobre o gap racial brasileiro?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Trabalhadores negros ganham em média 40–55% menos que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exclusão das redes profissionais, glass ceiling ocupacional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Variáveis CBO, vínculo e horas (VD4009/V4010/VD4031) extraídas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(logit)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0690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4 métodos do núcleo + robustez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2. 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+ enriquecimento com variáveis ocupacionais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Total de horas efetivamente
trabalhadas (centralizada)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(≈8,4 GB) — sem re-download.
Join por chave composta (Ano+Trimestre+UPA+V1008+V2003) → taxa NA = 0% na amostra de trabalho.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3. Análise Descritiva — A Desigualdade nos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27,5% | 7,7 milhões de empregados com renda positiva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27,5%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R$2.000 vs negros R$1.450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R$3.256 vs negros R$2.040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equivalente em renda esperada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53%/48%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5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06240"/>
            <a:ext cx="5577840" cy="141732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O deslocamento é estrutural — não se concentra em nenhuma faixa específica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4114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(19,1%).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Arquitetura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Núcleo de 4 métodos + robustez (ML/SHAP)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Modelos Hierárquicos
Lineares (3 níveis)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ML/SHAP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Random Forest
+ SHAP Values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  <a:latin typeface="Calibri"/>
              </a:rPr>
              <a:t>Importância e
direção das variáveis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Logit Multinível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estrutura multinível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Reg. Quantílica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Glass Ceiling
formal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↓ Convergência do núcleo de 4 métodos = robustez diagnóstica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(GLMM) + Discriminação de REMUNERAÇÃO (HLM + Quantílica/RIF) + Penalidade interseccional (raça×gênero)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HLM — Decomposição do Gap em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bruto de 19,3% ao resíduo de discriminação pura de 6,2%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0412272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9472" y="13533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23444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BRUTO
(M1)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92432" y="1280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Sem controles contextuais
nem ocupacionais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75688"/>
            <a:ext cx="5179161" cy="65836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6361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212140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UPA
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321" y="21671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Local de moradia explica
52% do gap bruto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62656"/>
            <a:ext cx="5233111" cy="65836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0311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" y="3008376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LÍQUIDO
(M3)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3271" y="30540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UPA + UF FE
(discriminação residual)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9624"/>
            <a:ext cx="1888235" cy="65836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45436" y="40142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" y="3895344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Ocp.
(M4)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8396" y="39410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CBO + formalidade + horas
explicam mais 18,1%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36592"/>
            <a:ext cx="3344875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02075" y="49011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" y="4782312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PURO
(M4)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5035" y="48280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Discriminação residual
pós-ocupação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097280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70,0% do gap é explicado por mediação contextual (UPA) e ocupacional — mas 6,2% persiste como discriminação de remuneração pura.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6. Composição Ocupacional — Onde Estão Negros e Brancos?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1848010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486400" cy="1950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apenas 42 negros por 100 brancos na mesma função  |  Top 5% das capitais: IR = 0,47 (negros são 47% do esperado)  |  Elementares: 2,12× mais negros que brancos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Oaxaca-Blinder — Onde Opera a Discriminação?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84% explicado por diferenças nas características dos trabalhadores</a:t>
            </a:r>
          </a:p>
        </p:txBody>
      </p:sp>
      <p:pic>
        <p:nvPicPr>
          <p:cNvPr id="5" name="Picture 4" descr="oaxaca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01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84%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16%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discriminação opera primariamente no ACESSO, não no salário dentro da função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4937760"/>
            <a:ext cx="4572000" cy="9144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527608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8. Gap por Subgrupo e Ciclo de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Regressão Mincer com controles progressivos + curva de ciclo de vida racial</a:t>
            </a:r>
          </a:p>
        </p:txBody>
      </p:sp>
      <p:pic>
        <p:nvPicPr>
          <p:cNvPr id="5" name="Picture 4" descr="fig4_gap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Regressões Mincer progressivas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572768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93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M1 — Só raça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60934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−23,1%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322576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5915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M2 — + Sexo, educ., experiência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591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−22,3%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72384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108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M3 — + Efeitos fixos de 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1089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822192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587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M4 — + Horas, formal, setor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8587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572000"/>
            <a:ext cx="5760720" cy="685800"/>
          </a:xfrm>
          <a:prstGeom prst="rect">
            <a:avLst/>
          </a:prstGeom>
          <a:solidFill>
            <a:srgbClr val="E8F5E9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6085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M5 — + Ocupação CBO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4608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−6,2%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349240"/>
            <a:ext cx="11612880" cy="8229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Ciclo de vida: gap de 9,1% (14–24 anos) cresce para 37,5% (35–44 anos) — a barreira racial se aprofunda ao longo da carreira.  |  Interação negro×experiência (β=−0,0019, p&lt;0,001): o retorno à senioridade é menor para negros — glass ceiling de progressão longitudinal confirmado.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9. Logit Multinível — Gap de Oportunidades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discriminação de ACESSO confirmada (n=7,7M, 40,9k UPAs)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373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0,676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(M1 — só ind. + UPA 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56032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587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0,693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5877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(M2 — +contexto UPA)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56616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−5,04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5935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pós-controles individuais
(M1 — sem contexto UPA)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57200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−4,73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5994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residual c/ contexto UPA
(M2 — discriminação líquida)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623560"/>
            <a:ext cx="493776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669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30,7% menor odds de estar em ocupação qualificada (OR=0,693 GLMM M2).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10. Regressão Quantílica — Formalização do Glass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4854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 gráfico mostra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Eixo Y: gap racial em % (quanto negros ganham a menos)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Cada ponto: estimativa para aquele percentil da distribuição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Inclinação descendente = gap CRESCE no topo = Glass Ceiling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M3 vs M4: a diferença é a mediação ocupacional — maior no topo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No q95, mais da metade do gap é explicada pela exclusão de ocupações de alta remuneração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4572000"/>
            <a:ext cx="4846320" cy="15544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Glass Ceiling Racial: confirmado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0292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gap não é uniforme — cresce sistematicamente quanto maior a remuneração. Isso significa que a barreira racial é mais intensa exatamente onde os prêmios de progressão são maiores.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RIF-OB — Sticky Floor Discriminatório vs. Glass Ceiling por Dotações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N=7.694.198 | Decomposição incondicional por quantil</a:t>
            </a:r>
          </a:p>
        </p:txBody>
      </p:sp>
      <p:pic>
        <p:nvPicPr>
          <p:cNvPr id="5" name="Picture 4" descr="rif_ob_retornos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3849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217627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58191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Quantil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Dotações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6988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Retornos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993392"/>
            <a:ext cx="5029200" cy="548640"/>
          </a:xfrm>
          <a:prstGeom prst="rect">
            <a:avLst/>
          </a:prstGeom>
          <a:solidFill>
            <a:srgbClr val="FFEBEE"/>
          </a:solidFill>
          <a:ln w="762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0299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q10  (base)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61,3%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33,1%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587752"/>
            <a:ext cx="5029200" cy="548640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624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q50  (mediana)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57,4%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21,5%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182112"/>
            <a:ext cx="5029200" cy="548640"/>
          </a:xfrm>
          <a:prstGeom prst="rect">
            <a:avLst/>
          </a:prstGeom>
          <a:solidFill>
            <a:srgbClr val="E3F2FD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2186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q90  (topo)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75,8%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11,2%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822191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Retornos DECLINAM: q10=33,1% → q90=11,2%  (Δ = −21,9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Dotações CRESCEM: q10=61,3% → q90=75,8%  (Δ = +14,4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Glass ceiling salarial causado por desvantagens PRÉ-MERCADO
(educação, redes, segregação residencial)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Não por discriminação crescente no topo da hierarquia salarial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Sticky Floor: discriminação de mercado é 3× mais intensa na base (q10=33,1%) do que no topo (q90=11,2%). Enforcement antidiscriminação ataca o q10; reformar dotações (acesso, redes) erode o glass ceiling no topo.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Interseccionalidade — OB em 4 Grupos (Crenshaw, 1989)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OB twofold vs. Homem Branco | N=2.357.851 | penalidade interseccional extra = +9,5 pp</a:t>
            </a:r>
          </a:p>
        </p:txBody>
      </p:sp>
      <p:pic>
        <p:nvPicPr>
          <p:cNvPr id="5" name="Picture 4" descr="interseccional_ob4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9317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OB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46,6%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109%
Discriminação de gênero pura
(dotações ligeiramente negativas: −8,9%)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40,3%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71%
Gap majoritariamente estrutural
(capital humano acumulado inferior)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96,4%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Penalidade interseccional extra: +9,5 pp
acima da soma Mulher Branca + Homem Negro
(Crenshaw, 1989 — confirmado empiricamente)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HLM interseccional: β_neg×fem = +0,069 (p&lt;0,001) → penalidade combinada (−40,5%) &lt; soma isolada (−44,5%): as duas desvantagens competem pelo mesmo mecanismo de exclusão — efeito de compressão.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Sensibilidade — Konfound, E-values e Oster Bounds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3 métodos complementares — nenhum consegue anular o gap racial observado</a:t>
            </a:r>
          </a:p>
        </p:txBody>
      </p:sp>
      <p:pic>
        <p:nvPicPr>
          <p:cNvPr id="5" name="Picture 4" descr="sensibilidade_konfound_e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23791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pkonfound: 99,5% (M1)  |  98,8% (M2/M3)  |  98,5% (M4)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99,5% dos casos precisariam ser removidos para anular 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F00"/>
                </a:solidFill>
                <a:latin typeface="Calibri"/>
              </a:rPr>
              <a:t>OLS subestima robustez — Δ = 5,4–9,7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OLS: 91,5% / 93,5% / 88,7%  →  HLM: +7,9 / +5,4 / +9,7 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SEs OLS são 6–16× maiores: não captura clustering → robustez subestimada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2,319× (M1)  |  E ≥ 2,243× (M2)  para anular OR = 0,676 / 0,693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Confounder precisaria ter associação ≥ 2,3× com raça E com ocupação — implausível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5001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5038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Oster Bounds OLS auxiliar (Oster, 2019)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δ* ∈ {−0,48; −0,43; −0,39} — todos negativos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715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Omitidas precisariam agir na direção OPOSTA aos observáveis — impossível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ML/SHAP — O Que Mais Determina a Renda?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R²=0,6162 | Horas + CBO + Formalidade emergem como top preditores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9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Renda média da UPA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|SHAP|=0,272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onde mora supera o quanto estudou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40487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VD4031 extraído do ZIP bruto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CBO: Profissionais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2095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V4010 primeiro dígito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Emprego formal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0142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VD4009 carteira/público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4818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|SHAP|=0,029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−2,5% residual pós-ocupação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20. Por Que Esses Modelos? — Justificação Estatística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LRT χ²=191.625 confirma hierarquia | ICC=9,80% &gt; limiar 5% | HLM supera OLS+FE em AIC</a:t>
            </a:r>
          </a:p>
        </p:txBody>
      </p:sp>
      <p:pic>
        <p:nvPicPr>
          <p:cNvPr id="5" name="Picture 4" descr="modelos_loglik_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58979"/>
          </a:xfrm>
          <a:prstGeom prst="rect">
            <a:avLst/>
          </a:prstGeom>
        </p:spPr>
      </p:pic>
      <p:pic>
        <p:nvPicPr>
          <p:cNvPr id="6" name="Picture 5" descr="modelos_lrt_i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180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160520"/>
            <a:ext cx="35661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06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LRT HLM vs OLS (nulo)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191.625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017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χ² Δk=1 — hierarquia confirmada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416052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4206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por UPA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480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9,80%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0017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&gt; 5% — Raudenbush &amp; Bryk (2002)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160520"/>
            <a:ext cx="45720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4206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AIC HLM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44805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3.588.684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OLS+FE(UF): 3.684.833 (+96k pior)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44068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 ignora correlação intra-UPA → erros padrão subestimados → inferência inválida (θ OLS ≠ θ BLUP)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OLS+FE(UF) piora AIC vs OLS Individual: dummies de UF são grosseiras demais para capturar variação intra-estado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HLM 3 níveis (indivíduo &gt; UPA &gt; UF) é o único estimador com estrutura compatível com os dados e inferência válida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21. Síntese — Triângulo de Evidências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Os métodos do núcleo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OR=0,693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AME=−4,73 p.p. residual (M2)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residual 6,2%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Quantile Reg.: cresce no topo (glass ceiling)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−2,5% efeito racial residual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9319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93192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PENALIDADE
INTERSECCIONAL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4805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Mulher Negra: gap de 96,4%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Penalidade extra de +9,5 p.p. (não-aditiva)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577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Raça×gênero como mecanismo próprio (Crenshaw)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Oaxaca: 83,8% do gap é composição/ACESSO e 16,2% remuneração | GLMM mostra a barreira de acesso (OR=0,705) | RIF: discriminação de preço maior na base (sticky floor)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27. Implicações de Política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Três eixos simultâneos — ações isoladas são insuficientes para romper a armadilha estrutural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1 —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Cotas de acesso CBO Dirigente/Profissional:
meta IR ≥ 0,80 até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PRONATEC c/ recorte racial e subsídio de
transporte para trabalhadores de UPAs pobres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Bolsas de residência profissional em empresas
de alta remuneração para egressos negros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2 —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Transparência salarial por raça/gênero
obrigatória (empresas &gt; 100 funcionários)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39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Auditoria de igual pagamento por trabalho igual
com penalidades progressivas (gap HLM M4)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Piso salarial indexado nas categorias com
maior gap racial residual (6,2% HLM M4)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3 — Acesso a Ocupações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8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Mentoria e acesso a redes profissionais
qualificadas para egressos negros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30% dos cargos DAS e liderança corporativa
para negros até 2030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Ampliar acesso a ocupações qualificadas:
principal canal do gap (Oaxaca + GLMM)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179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⚠  Ao ritmo atual de convergência (~0,02 log-pontos/ano), eliminar o gap levaria mais de 100 anos.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28/29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28. Limitações e Agenda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logístico estimado na PEA completa via lme4::glmer (nAGQ=0, bobyqa, n=7,7M, 40,9k UPAs), com efeito aleatório de UPA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(deflation de ocupação)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glass ceiling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29/29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29. 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bruto
(M1 HLM)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Discriminação pura
(M4 HLM)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OR=0,693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M2,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χ²=191k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LRT confirma
hierarquia UPA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estrutural, multicausal e resistente à convergência espontânea.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461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A discriminação opera em dois estágios independentes: barreiras de ACESSO a ocupações qualificadas (GLMM: OR=0,693, AME=−4,73 p.p.) e discriminação de REMUNERAÇÃO dentro das mesmas funções (HLM M4: 6,2%).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glass ceiling racial é real e crescente no topo da distribuição — confirmado formalmente pela regressão quantílica e consistente com o IR=0,47 nas capitais.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Políticas que atuam apenas no gap salarial direto atacam 16% do problema. Os 84% restantes requerem ação nas portas de entrada das ocupações de alto prestígio.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