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 porta antes do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alibri"/>
              </a:rPr>
              <a:t>Como a desigualdade racial opera no mercado de trabalho brasileiro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474720"/>
            <a:ext cx="2011680" cy="54864"/>
          </a:xfrm>
          <a:prstGeom prst="rect">
            <a:avLst/>
          </a:prstGeom>
          <a:solidFill>
            <a:srgbClr val="FFFFFF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PNAD Contínua 2016–2025 · 7,7 milhões de trabalhadores · 40.969 bairros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Ricardo Calheiros · MBA em Data Science e Analytics · ESALQ/USP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Educação explica o gap racial de renda? Os dados dizem que não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A pergunta que organiza 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12121"/>
                </a:solidFill>
                <a:latin typeface="Calibri"/>
              </a:rPr>
              <a:t>A explicação usual para o gap racial de renda é diferença de qualificação. Se fosse só isso, ampliar o acesso ao ensino resolveria. Este trabalho testa essa hipótese separando, um a um, os mecanismos que produzem o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do gap é diferença de características — e quanto é preço diferente pelas mesmas características?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vem de onde a pessoa mora?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barreira está no salário ou antes dele, no acesso à ocupação?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penalidade é a mesma em toda a distribuição de renda?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Quatro perguntas, quatro métodos — e uma resposta que não é a do senso comum.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Dez anos de PNAD Contínua, sem amostragem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A base é a população de trabalhadores ocupados com rendimento, não uma amostra dela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Trabalhadores analisados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7,7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Todos os ocupados com rendimento positivo,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2016 a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Bairros (setores censitários)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40.969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unidade de vizinhança da PNAD —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que permite comparar vizinhos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Trimestres cobertos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Série completa da pesquisa,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sem recorte de conveniência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Por que isso importa: com a população inteira, o resultado não depende de qual amostra foi sorteada. A pergunta deixa de ser “será que é ruído?” e passa a ser “qual é o tamanho do efeito?”.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Os erros-padrão são agrupados por bairro, porque a PNAD entrevista domicílios vizinhos — ignorar isso faria qualquer diferença parecer mais precisa do que 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 primeira barreira é a porta: 30% menos chance de chegar a um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Comparando pessoas com a mesma escolaridade, idade, sexo e bairro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Acesso a cargo qualificado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chance (odds ratio 0,699)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= 5,5 pontos percentuais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20% da renda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barreira aperta conforme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posição sobe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10% da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teto de vidro: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quanto mais alto, mais estreita 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Mesma escolaridade. Mesma idade. Mesmo sexo. Mesmo bairro. A diferença que resta é o acesso à ocupação — e ela é maior do que a diferença de salário.</a:t>
            </a:r>
          </a:p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Seria preciso um fator não medido associado tanto à raça quanto ao acesso com força de 2,2× para explicar esse resultado por inteiro — mais forte que ter ensino superior.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B71C1C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 exclusão começa antes do contracheque.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Metade do gap salarial desaparece ao comparar pessoas do mesmo bairro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 o que sobra não é explicado por escolaridade, estado nem ocupação</a:t>
            </a:r>
          </a:p>
        </p:txBody>
      </p:sp>
      <p:pic>
        <p:nvPicPr>
          <p:cNvPr id="5" name="Picture 4" descr="fig_hlm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858000" cy="3332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46304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de partida: 19,1% a menos, mesma escolaridade e idade.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47,0% desse gap é mediado pelo bairro de moradia.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líquido: 10,2% — mesma escolaridade, idade, sexo e bairro.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Dentro da mesma ocupação ainda restam 7,0%.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37% da variação de renda está entre bairros, não entre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Onde a pessoa mora explica metade do gap — política de renda que ignora território tem eficácia limitada.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28,4% do gap não é diferença de características: é preço diferente pelas mesmas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Decomposição de Oaxaca–Blinder, o método padrão da economia do trabalho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2792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46304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Como ler: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71,6% do gap vem de os grupos terem características diferentes (dotações).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28,4% vem de as mesmas características renderem menos a trabalhadores negros.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Quando a ocupação entra como se fosse característica, essa segunda parcela cai para 16,2% — mas isso subestima o problema, porque o acesso à ocupação é ele próprio desigual (slide anterior).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As mesmas credenciais rendem menos — por isso educação, sozinha, não fecha a conta.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Quanto mais alto o salário, maior a penalidade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E, na base da distribuição, a maior parte do gap é preço, não característica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338560" cy="4350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esquerda: a penalidade cresce de 8,0% na base para 11,6% no topo — é o teto de vidro.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direita: na base da distribuição, 35,1% do gap é preço diferente; no topo, 12,9% — é o piso pegajoso.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Dois retratos do mesmo fenômeno: quem está embaixo é mal pago; quem sobe encontra teto.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 mulher negra entra na categoria, mas não chega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Raça e gênero não se somam: combinam-se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035040" cy="399070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0" y="1417320"/>
            <a:ext cx="420624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24928" y="15270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Gap da mulher negra vs. homem branco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4928" y="19202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80,6%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2788920"/>
            <a:ext cx="3986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o maior de todos os grupos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474720"/>
            <a:ext cx="4206240" cy="210312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35844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Penalidade além da soma raça + gênero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39776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+4,6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4846320"/>
            <a:ext cx="3986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o efeito interseccional puro —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existe, e é menor que o dobro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Política desenhada só para “negros” ou só para “mulheres” deixa essa parcela de fora.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 resultado sobrevive a tudo o que se tentou contra 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Quatro checagens independentes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impor forma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modelo de machine learning, que não assume relação linear, coloca a raça na 11ª posição entre 29 variáveis — mesmo com todas as informações de escolaridade e contexto.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E se faltasse uma 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fator não medido precisaria ter força de 2,2× para anular o resultado do acesso, e seria preciso que 99,0% da estimativa do gap fosse viés.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sobreajuste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Validação cruzada de 5 partições sobre a população inteira: R² de 0,628 com variação de 0,0007 entre elas. O erro típico de previsão é de R$ 538 por mês.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depender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Retirando a renda do bairro do modelo, a contribuição da raça praticamente não muda (0,0314 contra 0,0307): o achado não é um artefato dessa variável.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Nenhuma dessas checagens é decisiva sozinha — juntas, tornam a explicação alternativa implausível.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Cada barreira medida tem um instrumento legal que já existe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diagnóstico aponta onde intensificar, não o que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44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Barreira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013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12.990/2014 (cotas em concursos federais)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43560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diagnóstico sugere ampliar o alcance para níveis hierárquicos superiores, onde a porta é mais estreita (−35% no topo 10%).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5292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Retorno da qualificação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0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Prouni, Fies e o legado do PRONATEC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4436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As mesmas credenciais rendem menos; esses programas precisam vir acompanhados de mecanismos de inserção ocupacional.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6168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Discriminação salarial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18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9.029/1995 e Estatuto da Igualdade Racial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45312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gap líquido de 10,2% — e os 7,0% que persistem dentro da mesma ocupação — justificam reforçar a fiscalização.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3864"/>
                </a:solidFill>
                <a:latin typeface="Calibri"/>
              </a:rPr>
              <a:t>Com a mesma escolaridade, idade, sexo e bairro, um trabalhador negro ganha 10,2% a menos — e a barreira mais dura não é o salário, é a porta.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