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Oaxaca-Blinder,
GLMM logístico e Regressão Quantílica/RIF (XGBoost/SHAP como robustez)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métodos no núcleo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Em três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foi medido, o que se achou e o que isso muda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4416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4416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2016 e 2025, um trabalhador negro ganhou em média 10,5% a menos que um branco com a mesma escolaridade, idade e sexo.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04872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146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Comparando só pessoas do mesmo bairro, o gap cai 39,5% (a parte mediada pela segregação residencial) — e ainda sobram 6,1%, dos quais 5,6% persistem dentro da mesma ocupação.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75304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850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A evidência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685032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Quatro métodos independentes sobre a população da PNAD Contínua (41.454 bairros): o bairro medeia 39,5% do gap; 17,9% do gap são retornos diferenciais; a penalidade cresce no topo; e a chance de chegar a um cargo qualificado é 19% menor.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45736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554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muda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855464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os mais escolarizados, a penalidade salarial é pequena, mas a desvantagem de acesso persiste — política de educação isolada não alcança a porta.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833872"/>
            <a:ext cx="11430000" cy="6858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870448"/>
            <a:ext cx="11064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1. Mesma escolaridade, salário menor: o gap racial não é só qualificação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olhar o gap racial brasileiro com métodos multinível?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A renda média de negros é 37,7% menor que a de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barreira de acesso às ocupações, teto de vidro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12848"/>
            <a:ext cx="42976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CBO, vínculo, horas e escolaridade (V4010/VD4009/VD4031/VD3004) extraídos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227832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(GLMM logístico)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7490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270248"/>
            <a:ext cx="42976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2. Dez anos de PNAD Contínua: 7,7 milhões de trabalhadores, 41 mil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| renda em reais do 2º tri/2026 (deflator IBGE) + efeito de ano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41.454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habitualmente
trabalhadas (centrada)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do IBGE — sem re-download.
Join por chave composta (Ano+Trimestre+UPA+V1008+V2003) com os microdados da PNAD.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11612880" cy="9144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41324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864"/>
                </a:solidFill>
                <a:latin typeface="Calibri"/>
              </a:rPr>
              <a:t>O que chamamos de “bairro”: a UPA (Unidade Primária de Amostragem) é do desenho da própria PNAD — o setor censitário, ou setores vizinhos, que o IBGE sorteia e identifica no microdado. Não é um recorte criado pelo trabalho; é a menor unidade territorial que a PNAD permite enxergar.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3. Antes de qualquer modelo: brancos e negros não moram nos mesmos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31,1% | ponderado pelo desenho amostral | reais do 2º tri/2026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3217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31,1%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R$2.641 vs negros R$1.819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R$4.245 vs negros R$2.643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diferença de médias do log, em log-pontos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53,3%/48,6%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4,7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160520"/>
            <a:ext cx="5577840" cy="10515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1879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46227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A curva dos negros está à esquerda em toda a distribuição; a QR e a RIF mostram onde pesa mais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59436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(26,1% na mediana).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 Quatro métodos que respondem a quatro perguntas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 Hierárquico Linear
(indivíduo em UPA, UF fixa)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5204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Quanto do gap está no bairro onde se mora?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80" y="35204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gap é diferença de características ou de preço pago por elas?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GLMM logístico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intercepto de UPA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35204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7492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Quem, com o mesmo perfil, chega ao cargo qualificado e ao topo da renda?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QR + RIF-OB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Teto de vidro e
piso pegajoso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2360" y="35204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A penalidade é a mesma na base e no topo da distribuição?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Robustez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SHAP,
E-value, Konfound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E9E9E"/>
                </a:solidFill>
                <a:latin typeface="Calibri"/>
              </a:rPr>
              <a:t>Fora do núcleo:
confere o núcleo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29800" y="35204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980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resultado sobrevive a outro modelo e a um confundidor omitido?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 Por que multinível: 35% da variação da renda está entre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Modelo nulo: τ²=0,3018 entre bairros e σ²=0,5524 dentro deles — ignorar essa estrutura invalida a inferência</a:t>
            </a:r>
          </a:p>
        </p:txBody>
      </p:sp>
      <p:pic>
        <p:nvPicPr>
          <p:cNvPr id="5" name="Picture 4" descr="hlm_efeitos_uf_blup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7052567" cy="3154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4343400"/>
            <a:ext cx="36576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do bairro (UPA)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35,3%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846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τ²/(τ²+σ²) — Raudenbush &amp; Bryk (2002)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4343400"/>
            <a:ext cx="38404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Bairros no HLM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663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40.728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51846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contra 27 UFs — daí UPA aleatória e UF fixa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4343400"/>
            <a:ext cx="3703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 do contexto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4663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29.811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51846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M2 vs. M1 — o contexto não é ornamento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62356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A PNAD amostra por conglomerados: ignorar a correlação intra-UPA subestima os erros-padrão (Moulton)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27 UFs são poucas para um terceiro nível aleatório — entram como 26 efeitos fixos, sem hipótese distribucional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Contraprova: tudo reestimado com efeitos fixos de UF e erro agrupado por UPA leva às mesmas conclusões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6. A penalidade racial muda de bairro para bairro — e é maior onde a renda é mais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M3 com intercepto e inclinação de negro aleatórios por UPA | LR = 26.267 (2 g.l.) contra o M3 de inclinação única</a:t>
            </a:r>
          </a:p>
        </p:txBody>
      </p:sp>
      <p:pic>
        <p:nvPicPr>
          <p:cNvPr id="5" name="Picture 4" descr="hlm_rs_retas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0163175" cy="4434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623560"/>
            <a:ext cx="1161288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68756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Inclinação média -0,066 log-pontos, com desvio-padrão de 0,145 entre bairros; a correlação entre renda-base e inclinação é -0,53. A discriminação salarial tem geografia.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Comparar vizinhos reduz o gap em cerca de 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agregado de 10,5% ao que persiste dentro da mesma ocupação, 5,6% — cada degrau acrescenta um bloco de controles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325880"/>
            <a:ext cx="8186057" cy="7315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24585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Agregado
(sem bairro)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508760"/>
            <a:ext cx="791173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Individual + UF, comparando pessoas de bairros diferentes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77440"/>
            <a:ext cx="5063870" cy="7315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2398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6,5%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242316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M1
(mesmo 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4230" y="248716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 bairro medeia 39,5% do gap agregado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4773790" cy="7315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2318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6,1%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347472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M3
(gap líquido)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4150" y="353872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do bairro e efeitos
fixos de estado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480560"/>
            <a:ext cx="4404316" cy="7315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2844" y="46634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5,6%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452628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M4
(dentro da ocupação)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4676" y="459028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Limite inferior: a ocupação é ela
própria resultado da barreira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15000"/>
            <a:ext cx="11430000" cy="566928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881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47,6% do gap é mediado pelo bairro e pela ocupação — mas 5,6% persistem dentro da mesma ocupação, e 6,1% sem tratar a ocupação como característica.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8. A ocupação explica muito — mas a ocupação é ela própria desigual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36107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42 negros para cada 100 brancos na mesma função  |  Ocupações elementares: 2,12x mais negros que brancos  |  E a chance de acesso ao cargo qualificado é 19% menor (GLMM)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9. Tratar a ocupação como “característica” reduz pouco a discriminação medida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82% explicado por características sem a ocupação, 85% com ela</a:t>
            </a:r>
          </a:p>
        </p:txBody>
      </p:sp>
      <p:pic>
        <p:nvPicPr>
          <p:cNvPr id="5" name="Picture 4" descr="fig_ob_casc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3123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85%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15%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15,4 dos 17,9 pontos não explicados persistem dentro da mesma ocupação; a porta de entrada responde pelos outros 2,5 — e é medida diretamente pelo GLMM (OR 0,814)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074920"/>
            <a:ext cx="11704320" cy="86868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389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10. Também há barreira na porta: chances 19% menores de chegar a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barreira de ACESSO (n=7.699.273, 41.454 UPAs)</a:t>
            </a:r>
          </a:p>
        </p:txBody>
      </p:sp>
      <p:pic>
        <p:nvPicPr>
          <p:cNvPr id="5" name="Picture 4" descr="fig_glmm_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29701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0,805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(A1 — individual + UF)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441448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0,814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468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(A2 — + contexto do bairro)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328416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35584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-2,75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3558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marginal, controles individuais
(A1 — sem contexto do bairro)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215384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24281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-2,60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2428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 com contexto
(A2 — mesmo bairro)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166360"/>
            <a:ext cx="4937760" cy="8686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230368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chance (odds) 18,6% menor de estar em ocupação qualificada (OR=0,814, GLMM A2).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O diploma quase iguala o salário — não a 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Penalidade salarial por nível de escolaridade (HLM) × chances de chegar a cargo qualificado (GLMM, A4)</a:t>
            </a:r>
          </a:p>
        </p:txBody>
      </p:sp>
      <p:pic>
        <p:nvPicPr>
          <p:cNvPr id="5" name="Picture 4" descr="hlm_negro_por_educ_re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949440" cy="487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1887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234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sem fundamental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15087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−9,6%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0299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penalidade racial condicional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5603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19" y="26060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pós-graduação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28803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34015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quase igual ao branco de mesmo perfil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9319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39776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Acesso a cargo qualificado, pós-graduação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42519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47731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nas chances (odds), GLMM A4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257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Diferenças condicionais entre pessoas comparáveis — não o efeito de estudar mais.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Entre pares, a penalidade racial cresce rumo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fig_qr_r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41982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532120"/>
            <a:ext cx="1161288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596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Teto de vidro: a penalidade condicional vai de 4,4 log-pontos (4,3%) no q10 a 8,8 log-pontos (8,4%) no q90 (Z = -25,87, bootstrap em blocos de UPA). O painel da direita — a RIF-OB — é o tema do próximo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13. Na base da distribuição, o preço pesa 3,0 vezes mais que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N=7.699.278 | Decomposição incondicional por quantil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126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1600200"/>
                <a:gridCol w="16002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Quantil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Gap obs. (log)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Dotações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Retornos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73,5%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26,5%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0,223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77,7%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22,3%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0,375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79,4%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20,6%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0,448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83,1%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16,9%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91,1%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89204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Dotações + Retornos = 100% do gap RIF em cada quantil, como na tabela do relatório.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Retornos DECLINAM: q10=26,5% → q90=8,9%  (Δ = -17,6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Dotações CRESCEM: q10=73,5% → q90=91,1%  (Δ = +17,6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No topo, o gap é consistente com desvantagens PRÉ-MERCADO
(educação, jornada, segregação residencial)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Mais do que com um preço diferente cobrado no topo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Piso pegajoso: a parcela de retornos é 3,0× maior na base (q10=26,5%) do que no topo (q90=8,9%). Fiscalizar igual pagamento atua na base; ampliar acesso e dotações atua no topo.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14. A mulher negra entra pelas ocupações feminizadas, mas não chega ao comando nem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À esquerda, o acesso (GLMM por grupo); à direita, o salário (Oaxaca-Blinder vs. homem branco) | em log-pontos, gap dela 0,592 &lt; soma 0,629: as desvantagens se acumulam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Salário: Oaxaca-Blinder dos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19,9%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197%
Penalidade de gênero sobre o mesmo perfil
(dotações a favor dela: -97,0%)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56,4%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77%
Gap majoritariamente de composição
(escolaridade, ocupação, bairro)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80,7%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maior gap, mas abaixo da soma dos dois eixos
em log-pontos (0,592 &lt; 0,629): acumula as duas
desvantagens sem multiplicá-las (Crenshaw, 1989)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Acesso por grande grupo: dirigentes OR=0,63; apoio administrativo 1,96 (mulher branca 2,20). Top 10%: OR=0,28, o grupo mais distante do homem branco.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15. O agregado esconde: os pretos, o setor privado e os mais velhos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Mesmos modelos por recorte — mesmo perfil e mesmo bairro, contra brancos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7680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Recorte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Penalidade salarial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cargo qualificado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top 10%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Negro (categoria do trabalho)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6,1%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Pardo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5,8%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0,820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Preto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privado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0,685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público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4,6%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14–29 anos  →  65+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1,7% → 14,7%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18872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Pretos: penalidade maior em tudo — salário 7,4% contra 5,8% dos pardos; no topo, a distância cresce (q95: 11,6% × 9,5%)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Setor público: a porta é tão desigual quanto no privado; o que muda é o teto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Idade: de 1,7% a 14,7% — coorte ou carreira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Teto de vidro dentro de cada UF: OR 0,762 (não é efeito da geografia)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9436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"Negro" segue como a categoria da política: pretos e pardos estão abaixo dos brancos em tudo.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16. Quão forte teria de ser o que não medimos para derrubar o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Konfound (salário) e E-value (acesso, com RR ≈ √OR para desfecho comum)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Konfound HLM (% de viés)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E-value GLMM (acesso)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1,47×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1,46×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1,50×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1,51×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Konfound: fração da estimativa que teria de ser viés para anulá-la (Frank et al., 2013). E-value: associação mínima que um confundidor omitido precisaria ter com a raça e com o desfecho para anular a OR (VanderWeele &amp; Ding, 2017).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98,5% (M1)  |  98,4% (M3)  |  98,3% (M4)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98,4% da estimativa do gap líquido teria de ser viés para anulá-la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1,47× (A1)  |  E ≥ 1,46× (A2)  para anular OR = 0,805 / 0,814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Confundidor precisaria de associação ≥ 1,5× com raça E com o acesso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No topo da renda (GLMM, top 10%)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1,96× para anular OR = 0,761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 barreira mais estreita é também a mais difícil de explicar por omissão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17. Sem impor forma funcional, a raça continua pesando na previsão da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com R² de teste 0,644 | profundidade escolhida por validação cruzada (10)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60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Renda média UPA (exceto o próprio)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16002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 = 0,188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 contexto do bairro pesa tanto quanto o diploma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Educ.: superior completo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40487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2095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jornada — a variável de esforço declarado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Gênero (feminino)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401421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81888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 = 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sem a renda do bairro entre as features: 0,029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Os quatro métodos apontam para o mesmo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quatro métodos convergem: há barreira no salário e no acesso às ocupações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03120"/>
                <a:gridCol w="68580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Gap e mediação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HLM (UPA aleatória, UF fixa)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10,5% (agregado) → 5,6% (M4); 47,6% mediado por bairro e ocupação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Composição × discriminação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Oaxaca-Blinder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82,1% dotações / 17,9% não explicado (sem ocupação); 15,4% com ocupação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Teto de vidro (acesso)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GLMM logístico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 0,814 (cargo qualif.) → 0,761 (top 10%); E-value 1,5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Distribuição da renda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Quantílica / RIF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4,3% (q10) → 8,4% (q90); piso pegajoso: retornos 27% → 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Interseccionalidade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 4 grupos + GLMM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Mulher Negra: gap 80,7% (abaixo da soma dos eixos em log); OR 0,63 entre dirigentes, 0,28 no top 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Robustez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XGBoost + SHAP / E-value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R²=0,64; raça é o 14º de 28 preditores; E-value 1,5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Leitura: cada linha é um método independente respondendo uma pergunta distinta; OR &lt; 1 indica menor acesso para negros de mesmo perfil.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Duas barreiras, um sistema: porta de entrada e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OR=0,814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AME=-2,60 p.p. no A2 (mesmo bairro)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de 5,6% dentro da ocupação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Quantílica: de 4,3% no q10 a 8,4% no q90 (penalidade condicional)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raça é o 14º de 28 preditores no XGBoost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61188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61188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657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 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1788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80,7%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65429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Acumula raça e gênero, sem multiplicar (log)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1297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Dirigentes: OR 0,63; top 10%: OR 0,28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82,1% do gap é composição e 17,9% retornos | GLMM mostra a barreira de acesso (OR=0,814) | RIF: discriminação de preço maior na base (piso pegajoso)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20. As políticas de diversidade cuidam da entrada, não da subida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os resultados dizem sobre os instrumentos vigentes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2811780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Ingresso, não ascensão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Cotas no ensino (Lei 12.711/2012, atualizada em 2023) e nos concursos (Lei 15.142/2025) atuam na entrada. A barreira cresce no topo: chances 24% menores no décimo mais rico. A reserva de cargos de confiança (Decreto 11.443/2023) vale só no governo federal.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326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3260" y="1143000"/>
            <a:ext cx="2811780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470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Educação iguala o salário, não a 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A penalidade cai a 1,1% na pós-graduação, mas as chances de acesso seguem 23% menores. Prouni, Fies e cotas no ensino atacam a barreira que mais cede ao diploma.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143000"/>
            <a:ext cx="2811780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Sem território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39,5% do gap passa pelo bairro de moradia, e nenhum instrumento federal de diversidade usa o local de moradia como critério.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970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9700" y="1143000"/>
            <a:ext cx="2811780" cy="502920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114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Um eixo de cada vez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86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Metas separadas por raça e por gênero podem ser cumpridas sem alcançar a mulher negra: entre dirigentes, OR 0,63. A lei de transparência salarial (14.611/2023) coleta raça, mas exige igualdade só entre mulheres e homens.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722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Associações condicionais, não efeitos causais: os números mostram onde a política não chega, não o efeito de uma política.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21. Cinco propostas para reduzir o racismo estrutural no mercado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Sugeridas pelos resultados, não avaliadas por eles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09728" cy="77724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1. Metas de comando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Representação em cargos de direção e gerência no setor privado, com recorte interseccional, no relatório que a Lei 14.611 já exige.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48840"/>
            <a:ext cx="109728" cy="7772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2. Igualdade salarial por raça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9456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Obrigação, não só dado, com fiscalização dirigida à diferença dentro da mesma ocupação (5,6%).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109728" cy="77724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3. Território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546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Intermediação de emprego, transporte e qualificação priorizados nos bairros de maior proporção de população negra.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69080"/>
            <a:ext cx="109728" cy="77724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4. Promoção, não só ingresso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11480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Estender a reserva de cargos de confiança a estatais e à progressão nas carreiras.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109728" cy="7772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5. Monitoramento anual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07492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Gap líquido, chance de acesso e chance de comando por raça e gênero, reproduzíveis com a PNAD Contínua.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O que estes números não dizem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n=7.699.273, 41.454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Médias de bairro calculadas sem a própria pessoa (leave-one-out), mas choques comuns ao bairro ainda impedem leitura causal do contexto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(rebaixamento da ocupação declarada)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teto de vidro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agregado
(sem efeito de bairro)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Persiste dentro da
mesma ocupação (M4)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OR=0,814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A2,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da variação da renda
está entre bairros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 e multicausal: o gap recua, mas devagar demais para fechar sozinho.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004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Duas barreiras que respondem de modo diferente à escolaridade: a penalidade salarial cai de 9,6% (sem fundamental) a 1,1% (pós-graduação), mas, com pós, as chances de chegar a cargo qualificado seguem 23% menores.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2336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teto de vidro é real e cresce no topo da distribuição: a penalidade condicional vai de 4,3% no q10 a 8,4% no q90 (Z=-25,9).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8463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 que atua só no salário deixa de fora a barreira de acesso: a chance de chegar a cargo qualificado é 19% menor e, no topo da renda, 24% menor.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669280"/>
            <a:ext cx="11612880" cy="713232"/>
          </a:xfrm>
          <a:prstGeom prst="rect">
            <a:avLst/>
          </a:prstGeom>
          <a:solidFill>
            <a:srgbClr val="0D1F3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15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8F00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Calibri"/>
              </a:rP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