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3749039"/>
          </a:xfrm>
          <a:prstGeom prst="rect">
            <a:avLst/>
          </a:prstGeom>
          <a:solidFill>
            <a:srgbClr val="0D1F3C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Racismo Estrutural e Mercado de Trabalho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  <a:latin typeface="Calibri"/>
              </a:rPr>
              <a:t>Evidencias quantitativas da PNAD Continua 2016-2025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10515600" cy="36576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Ricardo Calheiros  |  MBA Data Science &amp; Analytics  |  USP/ESALQ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7,7M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trabalhadores analisados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anos de dados (2016-2025)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metodos complementares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572000"/>
            <a:ext cx="2651760" cy="1097280"/>
          </a:xfrm>
          <a:prstGeom prst="rect">
            <a:avLst/>
          </a:prstGeom>
          <a:solidFill>
            <a:srgbClr val="1A305C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F0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barreiras estruturais mapeadas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AE"/>
                </a:solidFill>
                <a:latin typeface="Calibri"/>
              </a:rPr>
              <a:t>VERSAO EXECUTIVA — 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1. O Custo do Racismo para 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Uma questao economica, nao apenas moral — trabalhadores negros representam 56% da PEA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Por que isso importa para o pais?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749039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749039" cy="50292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+127,3%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ganho de renda para negros se tivessem a mesma distribuicao ocupacional (CBO) que brancos
— simulacao com dados reais PNAD 2025 (run_hipoteses_estado.py)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600200"/>
            <a:ext cx="3749039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600200"/>
            <a:ext cx="3749039" cy="502920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+74,3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proxy de ganho produtivo agregado (127,3% x participacao negra na forca de trabalho ~58%)
— proxy conservador, nao e estimativa de PIB formal (Hsieh et al., 2019 como referencia)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600200"/>
            <a:ext cx="3749039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600200"/>
            <a:ext cx="3749039" cy="5029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645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+100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12121"/>
                </a:solidFill>
                <a:latin typeface="Calibri"/>
              </a:rPr>
              <a:t>tempo para eliminar o gap ao ritmo atual de convergencia espontanea
— tendencia temporal: delta = 0,001 log-pt/ano (WLS 2016-2025, p=0,077 — nao significativo)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11612880" cy="54864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Este trabalho quantifica os mecanismos — onde a discriminacao opera, qual a magnitude e o que pode ser feito.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 Tres Barreiras Estruturais — O Diagnostico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5 metodos convergem para o mesmo mapa de exclusao racial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864"/>
                </a:solidFill>
                <a:latin typeface="Calibri"/>
              </a:rPr>
              <a:t>A desigualdade racial no mercado de trabalho opera em tres estagios independentes: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3749039" cy="470916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84124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BARREIRA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BDEFB"/>
                </a:solidFill>
                <a:latin typeface="Calibri"/>
              </a:rPr>
              <a:t>Acesso e Segregacao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Negros tem 30,7% menos chance de obter
ocupacao qualificada (GLMM M2)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Mesmo com educacao, sexo e bairro IDENTICOS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Causa: segregacao residencial e
restricao de acesso a ocupacoes qualificadas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81328"/>
            <a:ext cx="3749039" cy="4709160"/>
          </a:xfrm>
          <a:prstGeom prst="rect">
            <a:avLst/>
          </a:prstGeom>
          <a:solidFill>
            <a:srgbClr val="F5F5F5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481328"/>
            <a:ext cx="3749039" cy="84124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BARREIRA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FF5E0"/>
                </a:solidFill>
                <a:latin typeface="Calibri"/>
              </a:rPr>
              <a:t>Penalidade Salarial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Gap salarial residual de 6,2% dentro
da mesma funcao e empresa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Cresce para 15-18% para mulheres negras
(interseccionalidade de Crenshaw, 1989)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Discriminacao de preco maior na base da
distribuicao (sticky floor, RIF)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1481328"/>
            <a:ext cx="3749039" cy="4709160"/>
          </a:xfrm>
          <a:prstGeom prst="rect">
            <a:avLst/>
          </a:prstGeom>
          <a:solidFill>
            <a:srgbClr val="F5F5F5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8" y="1481328"/>
            <a:ext cx="3749039" cy="841248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BARREIRA 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BDEFB"/>
                </a:solidFill>
                <a:latin typeface="Calibri"/>
              </a:rPr>
              <a:t>Teto de Vidro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Gap cresce ao longo da renda: de -8,0%
no q10 para -12,3% no q95 (quantilica)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8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Negros sao excluidos das posicoes
mais rentaveis (glass ceiling por dotacao)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3886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▸  Glass ceiling de progressao: gap cresce
de 9,1% (jovens) para 37,5% (35-44 anos)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281928"/>
            <a:ext cx="11612880" cy="347472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F3864"/>
                </a:solidFill>
                <a:latin typeface="Calibri"/>
              </a:rPr>
              <a:t>Conclusao: politicas que agem apenas no salario atacam 16% do problema. 84% esta na porta de entrada.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3. O Gap Racial — Do Bruto ao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HLM 3 niveis (N=7,7M) decompoe o gap em camadas causais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Quanto do gap salarial e discriminacao pura?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536192"/>
            <a:ext cx="7941564" cy="62179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71C1C"/>
                </a:solidFill>
                <a:latin typeface="Calibri"/>
              </a:rPr>
              <a:t>Gap BRUTO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6012" y="16642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19.3%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76404" y="16642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Sem controles — diferenca observada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340864"/>
            <a:ext cx="3950208" cy="621792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565C0"/>
                </a:solidFill>
                <a:latin typeface="Calibri"/>
              </a:rPr>
              <a:t>Mediacao UPA (bairro)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656" y="24688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  <a:latin typeface="Calibri"/>
              </a:rPr>
              <a:t>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4688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52% explicado por onde o trabalhador mora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145536"/>
            <a:ext cx="3991356" cy="621792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32552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F00"/>
                </a:solidFill>
                <a:latin typeface="Calibri"/>
              </a:rPr>
              <a:t>Gap LIQUIDO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5804" y="327355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F00"/>
                </a:solidFill>
                <a:latin typeface="Calibri"/>
              </a:rPr>
              <a:t>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196" y="32735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Discriminacao residual pos-contexto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950208"/>
            <a:ext cx="1440180" cy="62179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40599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  <a:latin typeface="Calibri"/>
              </a:rPr>
              <a:t>Mediacao Ocupacional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4628" y="40782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5020" y="40782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18% explicado pelo tipo de funcao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754880"/>
            <a:ext cx="2551176" cy="621792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864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71C1C"/>
                </a:solidFill>
                <a:latin typeface="Calibri"/>
              </a:rPr>
              <a:t>Gap PURO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48828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1C1C"/>
                </a:solidFill>
                <a:latin typeface="Calibri"/>
              </a:rPr>
              <a:t>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48828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Discriminacao de remuneracao irredutivel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06440"/>
            <a:ext cx="11612880" cy="59436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70% do gap e explicado por contexto (bairro) e ocupacao — mas 6,2% persiste como discriminacao pura,
mesmo controlando escolaridade, experiencia, setor, formalidade e funcao.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4. Barreira de Acesso — Onde a Discriminacao Comeca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Regressao logistica multinivel (N=7,7M, 40,9k bairros) + Oaxaca-Blinder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Barreira de ACESSO a empregos qualificados: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1554480"/>
          </a:xfrm>
          <a:prstGeom prst="rect">
            <a:avLst/>
          </a:prstGeom>
          <a:solidFill>
            <a:srgbClr val="1A050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Odds Ratio (GLMM M2)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38528"/>
            <a:ext cx="53583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71C1C"/>
                </a:solidFill>
                <a:latin typeface="Calibri"/>
              </a:rPr>
              <a:t>0,693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43200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chance de ocupacao qualificada (M2 — apos todos os controles)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5577840" cy="1554480"/>
          </a:xfrm>
          <a:prstGeom prst="rect">
            <a:avLst/>
          </a:prstGeom>
          <a:solidFill>
            <a:srgbClr val="1A150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319272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AME — efeito marginal medio (M2)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30168"/>
            <a:ext cx="53583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8F00"/>
                </a:solidFill>
                <a:latin typeface="Calibri"/>
              </a:rPr>
              <a:t>−4,73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34840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gap de probabilidade de acesso que persiste com bairro identico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5577840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Calibri"/>
              </a:rPr>
              <a:t>Mesmo com EDUCACAO, SEXO, IDADE e BAIRRO
IDENTICOS aos de um branco, um trabalhador
negro tem 30,7% MENOS chance de trabalho qualificado.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Onde opera o gap? Oaxaca-Blinder: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554480"/>
            <a:ext cx="539496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554480"/>
            <a:ext cx="1005840" cy="210312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745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84%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645920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Efeito ACESSO (dotacoes)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057400"/>
            <a:ext cx="4160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Negros estao em ocupacoes piores,
setores menos remunerados,
emprego informal. Discriminacao
pre-mercado e de recrutamento.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749039"/>
            <a:ext cx="539496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749039"/>
            <a:ext cx="1005840" cy="173736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7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79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Calibri"/>
              </a:rPr>
              <a:t>Efeito SALARIO (retornos)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51959"/>
            <a:ext cx="4160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O mercado remunera as mesmas
caracteristicas a taxas menores
para negros — discriminacao
dentro da funcao.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5. Glass Ceiling — A Barreira Cresce com a Carreira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Regressao quantilica + curva de ciclo de vida racial | gap piora ao longo do tempo</a:t>
            </a:r>
          </a:p>
        </p:txBody>
      </p:sp>
      <p:pic>
        <p:nvPicPr>
          <p:cNvPr id="5" name="Picture 4" descr="quantreg_traje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2179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051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O que os dados mostram: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36192"/>
            <a:ext cx="5120640" cy="1261872"/>
          </a:xfrm>
          <a:prstGeom prst="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536192"/>
            <a:ext cx="5120640" cy="384048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5727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 sobe no topo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9659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Gap de 8,0% na mediana (q50)
para 11,8% no topo (q90)
— glass ceiling formal confirmado
(QR global sem controles ocupacionais)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926080"/>
            <a:ext cx="5120640" cy="1261872"/>
          </a:xfrm>
          <a:prstGeom prst="rect">
            <a:avLst/>
          </a:prstGeom>
          <a:solidFill>
            <a:srgbClr val="F5F5F5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926080"/>
            <a:ext cx="5120640" cy="38404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 piora com a 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3558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14-24 anos: gap = 9,1%
35-44 anos: gap = 37,5%
Barreira aprofunda-se na carreira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315968"/>
            <a:ext cx="5120640" cy="1261872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4315968"/>
            <a:ext cx="5120640" cy="384048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43525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Causa: dotacoes, nao retornos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745736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RIF-OB: q90 = 75,8% por ACESSO
e 11,2% por discriminacao salarial
Falha esta em antes do emprego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11612880" cy="640080"/>
          </a:xfrm>
          <a:prstGeom prst="rect">
            <a:avLst/>
          </a:prstGeom>
          <a:solidFill>
            <a:srgbClr val="FFF9E7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Sticky Floor: discriminacao e 3x mais intensa na base (q10=33,1%) do que no topo (q90=11,2%).
Enforcement anti-discriminatorio deve focar nos trabalhadores de menor renda.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806440"/>
            <a:ext cx="1161288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84301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Genero (GLMM): o teto de vidro feminino e de RENDA, nao de categoria — mulheres acessam ocupacoes qualificadas (OR=1,99) mas nao o topo de renda (OR top10=0,518).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7. O Gap e Real — Tres Testes de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Nenhuma variavel omitida plausivel consegue anular 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Poderia o gap ser explicado por variaveis nao observadas?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749039" cy="44348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45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Konfound (Frank, 2013)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8483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3864"/>
                </a:solidFill>
                <a:latin typeface="Calibri"/>
              </a:rPr>
              <a:t>99,5% dos casos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precisariam ser removidos ou alterados para anular o resultado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22191"/>
            <a:ext cx="3657600" cy="27432"/>
          </a:xfrm>
          <a:prstGeom prst="rect">
            <a:avLst/>
          </a:prstGeom>
          <a:solidFill>
            <a:srgbClr val="6161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886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16161"/>
                </a:solidFill>
                <a:latin typeface="Calibri"/>
              </a:rPr>
              <a:t>Como referencia: um confundidor assim nunca existiu em Ciencias Sociais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508760"/>
            <a:ext cx="3749039" cy="443484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508760"/>
            <a:ext cx="3749039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545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E-values (VanderWeele, 2017)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08483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71C1C"/>
                </a:solidFill>
                <a:latin typeface="Calibri"/>
              </a:rPr>
              <a:t>E &gt;= 2,24x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de associacao com raca E com ocupacao simultaneamente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3822191"/>
            <a:ext cx="3657600" cy="27432"/>
          </a:xfrm>
          <a:prstGeom prst="rect">
            <a:avLst/>
          </a:prstGeom>
          <a:solidFill>
            <a:srgbClr val="6161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3886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16161"/>
                </a:solidFill>
                <a:latin typeface="Calibri"/>
              </a:rPr>
              <a:t>Uma variavel oculta teria que ser 2,3x mais preditiva que TODAS as observadas juntas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1508760"/>
            <a:ext cx="3749039" cy="443484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8" y="1508760"/>
            <a:ext cx="3749039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1545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Oster Bounds (Oster, 2019)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208483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65C0"/>
                </a:solidFill>
                <a:latin typeface="Calibri"/>
              </a:rPr>
              <a:t>delta* negativo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8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variaveis omitidas teriam que agir na direcao OPOSTA as observadas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8" y="3822191"/>
            <a:ext cx="3657600" cy="27432"/>
          </a:xfrm>
          <a:prstGeom prst="rect">
            <a:avLst/>
          </a:prstGeom>
          <a:solidFill>
            <a:srgbClr val="6161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8" y="3886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16161"/>
                </a:solidFill>
                <a:latin typeface="Calibri"/>
              </a:rPr>
              <a:t>Impossivel: estudos mostram que omitidas e observadas agem na mesma direcao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53328"/>
            <a:ext cx="11612880" cy="53035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990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Veredicto: os tres metodos independentes concordam. O gap racial no mercado de trabalho brasileiro e real,
robusto e nao pode ser explicado por variaveis ocultas plausíveis.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8. O Que Fazer — Tres Eixos de Politica Publica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Prioridade: atacar a porta de entrada (acesso), nao apenas o salario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84% do gap e de ACESSO. As politicas precisam refletir isso.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3749039" cy="5074920"/>
          </a:xfrm>
          <a:prstGeom prst="rect">
            <a:avLst/>
          </a:prstGeom>
          <a:solidFill>
            <a:srgbClr val="F5F5F5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457200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17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#1 — Acesso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2996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71C1C"/>
                </a:solidFill>
                <a:latin typeface="Calibri"/>
              </a:rPr>
              <a:t>Cotas CBO (Dirigente/Profissional)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meta IR &gt;= 0,80 ate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principal canal: 83,8% do gap e composicao/acesso (Oaxaca)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9300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71C1C"/>
                </a:solidFill>
                <a:latin typeface="Calibri"/>
              </a:rPr>
              <a:t>PRONATEC c/ recorte racial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subsidio de transporte em UPAs pobres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ataca segregacao residencial (52% do gap)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95604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109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71C1C"/>
                </a:solidFill>
                <a:latin typeface="Calibri"/>
              </a:rPr>
              <a:t>Residencias em empresas de alta renda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bolsas para egressos negros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amplia o acesso a ocupacoes qualificadas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481328"/>
            <a:ext cx="3749039" cy="5074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1481328"/>
            <a:ext cx="3749039" cy="457200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1517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#2 — Remuneracao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19" y="202996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5C0"/>
                </a:solidFill>
                <a:latin typeface="Calibri"/>
              </a:rPr>
              <a:t>Transparencia salarial por raca/genero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468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obrigatoria para empresas &gt;100 func.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visa o gap residual de 6,2% (HLM M4)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19" y="349300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5C0"/>
                </a:solidFill>
                <a:latin typeface="Calibri"/>
              </a:rPr>
              <a:t>Auditoria de igual pagamento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931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penalidades progressivas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enforcement direto do sticky floor (q10=33%)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19" y="495604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50109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5C0"/>
                </a:solidFill>
                <a:latin typeface="Calibri"/>
              </a:rPr>
              <a:t>Piso salarial nas categorias de maior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indexado ao gap HLM M4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5760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protecao prioritaria para trabalhadores da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8" y="1481328"/>
            <a:ext cx="3749039" cy="5074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598" y="1481328"/>
            <a:ext cx="3749039" cy="4572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8" y="1517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#3 — Inclusao e Mentoria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58" y="202996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198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Mentoria estruturada por empresas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8" y="2468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acesso a redes profissionais qualificadas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8" y="2834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converte o diploma negro em oportunidade de carreira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8" y="349300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198" y="35478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30% DAS e liderancas corporativas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198" y="3931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reserva para negros ate 2030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198" y="4297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inclusao nas redes de decisao (glass ceiling)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8" y="4956048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198" y="50109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Equidade educacional de qualidade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198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nao apenas de acesso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198" y="5760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16161"/>
                </a:solidFill>
                <a:latin typeface="Calibri"/>
              </a:rPr>
              <a:t>gap qualificacao: 11% negros vs 22% brancos — estavel em 10 anos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309360"/>
            <a:ext cx="11612880" cy="292608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33679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Pareto: cotas (Eixo 1) + mentoria (Eixo 3) = combinacao otima. E focalizar o orcamento nas UFs de maior penalidade (DF, Norte) rende +68,2% vs. distribuicao uniforme.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9. Interseccionalidade — O Teto de Vidro Recai sobre a Mulher Negra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BDEFB"/>
                </a:solidFill>
                <a:latin typeface="Calibri"/>
              </a:rPr>
              <a:t>4 grupos raca x genero (ref. homem branco): alcada no acesso, a mais excluida no topo da renda</a:t>
            </a:r>
          </a:p>
        </p:txBody>
      </p:sp>
      <p:pic>
        <p:nvPicPr>
          <p:cNvPr id="5" name="Picture 4" descr="grupo_rg_intersec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949440" cy="4595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371600"/>
            <a:ext cx="420624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444752"/>
            <a:ext cx="3986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Mulher negra — acesso (CBO 1-4)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755648"/>
            <a:ext cx="3986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565C0"/>
                </a:solidFill>
                <a:latin typeface="Calibri"/>
              </a:rPr>
              <a:t>OR 1,33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560320"/>
            <a:ext cx="3986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acima do homem branco (profissoes feminizadas)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291840"/>
            <a:ext cx="4206240" cy="1645920"/>
          </a:xfrm>
          <a:prstGeom prst="rect">
            <a:avLst/>
          </a:prstGeom>
          <a:solidFill>
            <a:srgbClr val="0D1F3C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3364992"/>
            <a:ext cx="3986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Mulher negra — topo 10% renda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3675888"/>
            <a:ext cx="3986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71C1C"/>
                </a:solidFill>
                <a:latin typeface="Calibri"/>
              </a:rPr>
              <a:t>OR 0,34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4480560"/>
            <a:ext cx="3986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  <a:latin typeface="Calibri"/>
              </a:rPr>
              <a:t>a MAIS excluida de todos os grupos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897880"/>
            <a:ext cx="11430000" cy="566928"/>
          </a:xfrm>
          <a:prstGeom prst="rect">
            <a:avLst/>
          </a:prstGeom>
          <a:solidFill>
            <a:srgbClr val="E3F2FD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A mulher negra pode ENTRAR em ocupacoes qualificadas, mas e barrada de CHEGAR AO TOPO da remuneracao: o teto de vidro nao e racial nem sexualmente neutro — combina os dois eixos onde mais importa.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66294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Ricardo Calheiros  |  MBA USP/ESALQ  |  Racismo Estrutural e Mercado de Trabalho  |  Versao Executiva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10/11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10. Conclusao — O Que Este Trabalho Prova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19,3%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Gap bruto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sem controles (HLM M1)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6,2%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Discriminacao pura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mesma funcao e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0,693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Odds Ratio GLMM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acesso ocupacao qualificada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777240"/>
            <a:ext cx="2743200" cy="1280160"/>
          </a:xfrm>
          <a:prstGeom prst="rect">
            <a:avLst/>
          </a:prstGeom>
          <a:solidFill>
            <a:srgbClr val="1A305C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822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F00"/>
                </a:solidFill>
                <a:latin typeface="Calibri"/>
              </a:rPr>
              <a:t>+9,5 p.p.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Penalidade interseccional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16161"/>
                </a:solidFill>
                <a:latin typeface="Calibri"/>
              </a:rPr>
              <a:t>Mulher Negra (nao-aditiva)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12848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212848"/>
            <a:ext cx="164592" cy="859536"/>
          </a:xfrm>
          <a:prstGeom prst="rect">
            <a:avLst/>
          </a:prstGeom>
          <a:solidFill>
            <a:srgbClr val="B71C1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494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Calibri"/>
              </a:rPr>
              <a:t>A discriminacao e real e mensuravel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151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 metodos independentes chegam ao mesmo diagnostico. Nao e artefato estatistico.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45536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145536"/>
            <a:ext cx="164592" cy="859536"/>
          </a:xfrm>
          <a:prstGeom prst="rect">
            <a:avLst/>
          </a:prstGeom>
          <a:solidFill>
            <a:srgbClr val="FF8F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82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F00"/>
                </a:solidFill>
                <a:latin typeface="Calibri"/>
              </a:rPr>
              <a:t>Opera em duas etapas distintas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478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84% na PORTA DE ENTRADA (acesso a funcoes qualificadas) + 16% no SALARIO dentro da funcao.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78224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78224"/>
            <a:ext cx="164592" cy="859536"/>
          </a:xfrm>
          <a:prstGeom prst="rect">
            <a:avLst/>
          </a:prstGeom>
          <a:solidFill>
            <a:srgbClr val="1565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Pesa mais na base da distribuicao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Sticky floor: a discriminacao de preco (retornos) vai de 35,1% no q10 a 12,9% no q90 (RIF) — quem esta na base sofre proporcionalmente mais.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10912"/>
            <a:ext cx="11612880" cy="859536"/>
          </a:xfrm>
          <a:prstGeom prst="rect">
            <a:avLst/>
          </a:prstGeom>
          <a:solidFill>
            <a:srgbClr val="0F274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010912"/>
            <a:ext cx="164592" cy="859536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Politicas precisam priorizar o acesso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13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Cotas ocupacionais (CBO) + mentoria atacam o principal canal: a porta de entrada, onde esta ~84% do gap (composicao/acesso).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9846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  <a:latin typeface="Calibri"/>
              </a:rPr>
              <a:t>Contexto IBGE (2025): a qualidade de vida avancou (POF), mas a desigualdade de renda voltou a subir (Gini domiciliar per capita 0,491) — o avanco agregado nao fecha o gap racial documentado aqui.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D1F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4739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AE"/>
                </a:solidFill>
                <a:latin typeface="Calibri"/>
              </a:rPr>
              <a:t>Ricardo Calheiros  |  MBA Data Science &amp; Analytics  |  USP/ESALQ  |  rickinrj@gmail.com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