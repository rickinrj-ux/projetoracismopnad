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4552" cy="3474720"/>
          </a:xfrm>
          <a:prstGeom prst="rect">
            <a:avLst/>
          </a:prstGeom>
          <a:solidFill>
            <a:srgbClr val="0D1F3C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Racismo Estrutural e Mercado de Trabalho no Brasil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BDEFB"/>
                </a:solidFill>
                <a:latin typeface="Calibri"/>
              </a:rPr>
              <a:t>Evidências da PNAD Contínua 2016–2025 via HLM, ML/SHAP,
Oaxaca-Blinder, Logit Multinível e Regressão Quantílica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34640"/>
            <a:ext cx="10515600" cy="27432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Ricardo Calheiros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BDEFB"/>
                </a:solidFill>
                <a:latin typeface="Calibri"/>
              </a:rPr>
              <a:t>MBA em Data Science e Analytics  |  USP/ESALQ  |  Defesa: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97680"/>
            <a:ext cx="2651760" cy="914400"/>
          </a:xfrm>
          <a:prstGeom prst="rect">
            <a:avLst/>
          </a:prstGeom>
          <a:solidFill>
            <a:srgbClr val="1A305C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3159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F00"/>
                </a:solidFill>
                <a:latin typeface="Calibri"/>
              </a:rPr>
              <a:t>15,9M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28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observações brutas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4297680"/>
            <a:ext cx="2651760" cy="914400"/>
          </a:xfrm>
          <a:prstGeom prst="rect">
            <a:avLst/>
          </a:prstGeom>
          <a:solidFill>
            <a:srgbClr val="1A305C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43159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F00"/>
                </a:solidFill>
                <a:latin typeface="Calibri"/>
              </a:rPr>
              <a:t>7,7M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828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obs. PEA c/ renda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297680"/>
            <a:ext cx="2651760" cy="914400"/>
          </a:xfrm>
          <a:prstGeom prst="rect">
            <a:avLst/>
          </a:prstGeom>
          <a:solidFill>
            <a:srgbClr val="1A305C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3159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F00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828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metodologias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4297680"/>
            <a:ext cx="2651760" cy="914400"/>
          </a:xfrm>
          <a:prstGeom prst="rect">
            <a:avLst/>
          </a:prstGeom>
          <a:solidFill>
            <a:srgbClr val="1A305C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43159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F00"/>
                </a:solidFill>
                <a:latin typeface="Calibri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828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anos de série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0A4AE"/>
                </a:solidFill>
                <a:latin typeface="Calibri"/>
              </a:rPr>
              <a:t>Orientador: Edilson José Rodrigues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1. Mesma escolaridade, salário menor: o gap racial não é só qualificação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Por que um mestrado quantitativo sobre o gap racial brasileiro?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O gap salarial racial persiste mesmo após décadas de políticas inclusivas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6583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▸  </a:t>
            </a:r>
            <a:r>
              <a:rPr sz="1500">
                <a:solidFill>
                  <a:srgbClr val="212121"/>
                </a:solidFill>
                <a:latin typeface="Calibri"/>
              </a:rPr>
              <a:t>Trabalhadores negros ganham em média 40–55% menos que brancos — bruta, sem controles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▸  </a:t>
            </a:r>
            <a:r>
              <a:rPr sz="1500">
                <a:solidFill>
                  <a:srgbClr val="212121"/>
                </a:solidFill>
                <a:latin typeface="Calibri"/>
              </a:rPr>
              <a:t>O gap persiste mesmo após controlar escolaridade, sexo e experiência: é estrutural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▸  </a:t>
            </a:r>
            <a:r>
              <a:rPr sz="1500">
                <a:solidFill>
                  <a:srgbClr val="212121"/>
                </a:solidFill>
                <a:latin typeface="Calibri"/>
              </a:rPr>
              <a:t>Mecanismos: segregação residencial, exclusão das redes profissionais, glass ceiling ocupacional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▸  </a:t>
            </a:r>
            <a:r>
              <a:rPr sz="1500">
                <a:solidFill>
                  <a:srgbClr val="212121"/>
                </a:solidFill>
                <a:latin typeface="Calibri"/>
              </a:rPr>
              <a:t>Estudos tradicionais usam apenas OLS — não separam ACESSO de REMUNERAÇÃO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097280"/>
            <a:ext cx="4754880" cy="4389120"/>
          </a:xfrm>
          <a:prstGeom prst="rect">
            <a:avLst/>
          </a:prstGeom>
          <a:solidFill>
            <a:srgbClr val="F5F5F5"/>
          </a:solidFill>
          <a:ln w="1016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234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Inovações deste TCC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69164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565C0"/>
                </a:solidFill>
                <a:latin typeface="Calibri"/>
              </a:rPr>
              <a:t>✦ 15,9M obs. — série histórica completa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28600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✦ Variáveis CBO, vínculo e horas (VD4009/V4010/VD4031) extraídas dos ZIPs brutos do IBGE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88036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✦ Discriminação de ACESSO (logit)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4747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✦ Discriminação de REMUNERAÇÃO (HLM + QR)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406908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✦ Convergência de 4 métodos do núcleo + robustez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2/29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2. Dez anos de PNAD Contínua: 7,7 milhões de trabalhadores, 41 mil bairros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PNAD Contínua 2016–2025 + enriquecimento com variáveis ocupacionais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56032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Observações brutas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65C0"/>
                </a:solidFill>
                <a:latin typeface="Calibri"/>
              </a:rPr>
              <a:t>15,9M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385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PNAD 2016–2025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097280"/>
            <a:ext cx="256032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143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PEA com renda positiva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417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65C0"/>
                </a:solidFill>
                <a:latin typeface="Calibri"/>
              </a:rPr>
              <a:t>7,7M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9385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após filtros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097280"/>
            <a:ext cx="256032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1143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UPAs (bairros)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417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65C0"/>
                </a:solidFill>
                <a:latin typeface="Calibri"/>
              </a:rPr>
              <a:t>40.120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19385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Nível 2 do HLM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1097280"/>
            <a:ext cx="256032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1143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Cobertura temporal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1417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65C0"/>
                </a:solidFill>
                <a:latin typeface="Calibri"/>
              </a:rPr>
              <a:t>10 anos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19385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2016 T1 →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Enriquecimento dos microdados: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880360"/>
            <a:ext cx="3749039" cy="1371600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9443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ourier New"/>
              </a:rPr>
              <a:t>V4010  →  ocp_grupo_cbo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3832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Grupo ocupacional CBO-Domiciliar
(10 grupos ISCO-08)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2880360"/>
            <a:ext cx="3749039" cy="1371600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29443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ourier New"/>
              </a:rPr>
              <a:t>VD4009  →  emprego_formal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3832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Vínculo empregatício detalhado
(carteira, servidor, conta-própria...)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2880360"/>
            <a:ext cx="3749039" cy="1371600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29443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ourier New"/>
              </a:rPr>
              <a:t>VD4031  →  horas_c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3832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Total de horas efetivamente
trabalhadas (centralizada)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4348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16161"/>
                </a:solidFill>
                <a:latin typeface="Calibri"/>
              </a:rPr>
              <a:t>Estratégia: leitura seletiva dos ZIPs originais (≈8,4 GB) — sem re-download.
Join por chave composta (Ano+Trimestre+UPA+V1008+V2003) → taxa NA = 0% na amostra de trabalho.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3/29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3. Antes de qualquer modelo: brancos e negros não moram nos mesmos bairros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Gap mediano bruto de 27,5% | 7,7 milhões de empregados com renda positiva | PNAD Contínua 2016–2025</a:t>
            </a:r>
          </a:p>
        </p:txBody>
      </p:sp>
      <p:pic>
        <p:nvPicPr>
          <p:cNvPr id="5" name="Picture 4" descr="fig1_densidade_log_sal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85216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O que os números dizem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00200"/>
            <a:ext cx="265176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Gap mediano bruto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71C1C"/>
                </a:solidFill>
                <a:latin typeface="Calibri"/>
              </a:rPr>
              <a:t>27,5%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414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brancos R$2.000 vs negros R$1.450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1600200"/>
            <a:ext cx="283464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16459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Gap na média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1920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71C1C"/>
                </a:solidFill>
                <a:latin typeface="Calibri"/>
              </a:rPr>
              <a:t>37,5%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441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brancos R$3.256 vs negros R$2.040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880360"/>
            <a:ext cx="265176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926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Gap log-renda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00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71C1C"/>
                </a:solidFill>
                <a:latin typeface="Calibri"/>
              </a:rPr>
              <a:t>42,0%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216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equivalente em renda esperada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2880360"/>
            <a:ext cx="283464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9260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Formal (brancos/neg.)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2004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8F00"/>
                </a:solidFill>
                <a:latin typeface="Calibri"/>
              </a:rPr>
              <a:t>53%/48%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7216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5 p.p. a menos de emprego formal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206240"/>
            <a:ext cx="5577840" cy="1417320"/>
          </a:xfrm>
          <a:prstGeom prst="rect">
            <a:avLst/>
          </a:prstGeom>
          <a:solidFill>
            <a:srgbClr val="E3F2FD"/>
          </a:solidFill>
          <a:ln w="1016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51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Interpretação da curva de densidade: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6177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  <a:latin typeface="Calibri"/>
              </a:rPr>
              <a:t>▸  Curva vermelha (negros) deslocada à esquerda ao longo de toda a distribuição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  <a:latin typeface="Calibri"/>
              </a:rPr>
              <a:t>▸  Linhas tracejadas = médias de log-renda de cada grupo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  <a:latin typeface="Calibri"/>
              </a:rPr>
              <a:t>▸  O deslocamento é estrutural — não se concentra em nenhuma faixa específica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349240"/>
            <a:ext cx="11612880" cy="411480"/>
          </a:xfrm>
          <a:prstGeom prst="rect">
            <a:avLst/>
          </a:prstGeom>
          <a:solidFill>
            <a:srgbClr val="FFEBEE"/>
          </a:solidFill>
          <a:ln w="1016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71C1C"/>
                </a:solidFill>
                <a:latin typeface="Calibri"/>
              </a:rPr>
              <a:t>O gap persiste em TODOS os níveis educacionais — inclusive pós-graduação (19,1%). Educação é condição necessária, mas não suficiente para eliminar a desigualdade racial.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4/29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4. Quatro métodos que respondem a quatro perguntas diferentes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Núcleo de 4 métodos + robustez (ML/SHAP) — convergência de evidências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43000"/>
            <a:ext cx="2240280" cy="4389120"/>
          </a:xfrm>
          <a:prstGeom prst="rect">
            <a:avLst/>
          </a:prstGeom>
          <a:solidFill>
            <a:srgbClr val="F5F5F5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2240280" cy="45720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70432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9164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Modelos Hierárquicos
Lineares (3 níveis)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606040"/>
            <a:ext cx="2057400" cy="18288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6974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  <a:latin typeface="Calibri"/>
              </a:rPr>
              <a:t>Gap médio e
mediação contextual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143000"/>
            <a:ext cx="2240280" cy="4389120"/>
          </a:xfrm>
          <a:prstGeom prst="rect">
            <a:avLst/>
          </a:prstGeom>
          <a:solidFill>
            <a:srgbClr val="F5F5F5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1143000"/>
            <a:ext cx="2240280" cy="457200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1170432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ML/SHAP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9164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XGBoost + Random Forest
+ SHAP Values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2606040"/>
            <a:ext cx="2057400" cy="18288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26974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65C0"/>
                </a:solidFill>
                <a:latin typeface="Calibri"/>
              </a:rPr>
              <a:t>Importância e
direção das variáveis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143000"/>
            <a:ext cx="2240280" cy="4389120"/>
          </a:xfrm>
          <a:prstGeom prst="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83480" y="1143000"/>
            <a:ext cx="2240280" cy="457200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1170432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Oaxaca-Blinder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69164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Decomposição do gap
em dotações vs retornos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4920" y="2606040"/>
            <a:ext cx="2057400" cy="18288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6974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71C1C"/>
                </a:solidFill>
                <a:latin typeface="Calibri"/>
              </a:rPr>
              <a:t>ONDE opera
a discriminação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1143000"/>
            <a:ext cx="2240280" cy="4389120"/>
          </a:xfrm>
          <a:prstGeom prst="rect">
            <a:avLst/>
          </a:prstGeom>
          <a:solidFill>
            <a:srgbClr val="F5F5F5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60920" y="1143000"/>
            <a:ext cx="2240280" cy="457200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1170432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Logit Multinível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169164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Regressão logística
com estrutura multinível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2360" y="2606040"/>
            <a:ext cx="2057400" cy="18288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26974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8F00"/>
                </a:solidFill>
                <a:latin typeface="Calibri"/>
              </a:rPr>
              <a:t>Gap de ACESSO
a oportunidades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38360" y="1143000"/>
            <a:ext cx="2240280" cy="4389120"/>
          </a:xfrm>
          <a:prstGeom prst="rect">
            <a:avLst/>
          </a:prstGeom>
          <a:solidFill>
            <a:srgbClr val="F5F5F5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38360" y="1143000"/>
            <a:ext cx="2240280" cy="457200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29800" y="1170432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Reg. Quantílica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169164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Gap por quantil
da distribuição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29800" y="2606040"/>
            <a:ext cx="2057400" cy="18288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29800" y="26974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  <a:latin typeface="Calibri"/>
              </a:rPr>
              <a:t>Glass Ceiling
formal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55778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↓ Convergência do núcleo de 4 métodos = robustez diagnóstica 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623560"/>
            <a:ext cx="11612880" cy="457200"/>
          </a:xfrm>
          <a:prstGeom prst="rect">
            <a:avLst/>
          </a:prstGeom>
          <a:solidFill>
            <a:srgbClr val="E8EAF0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669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Discriminação de ACESSO (GLMM) + Discriminação de REMUNERAÇÃO (HLM + Quantílica/RIF) + Penalidade interseccional (raça×gênero)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5/29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5. Metade do gap desaparece ao comparar pessoas do mesmo bairro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Do gap bruto de 19,3% ao resíduo de discriminação pura de 6,2%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0412272" cy="658368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69472" y="135331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71C1C"/>
                </a:solidFill>
                <a:latin typeface="Calibri"/>
              </a:rPr>
              <a:t>19.3%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" y="123444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12121"/>
                </a:solidFill>
                <a:latin typeface="Calibri"/>
              </a:rPr>
              <a:t>Gap BRUTO
(M1)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92432" y="1280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Sem controles contextuais
nem ocupacionais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75688"/>
            <a:ext cx="5179161" cy="658368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36361" y="2240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65C0"/>
                </a:solidFill>
                <a:latin typeface="Calibri"/>
              </a:rPr>
              <a:t>9.6%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" y="2121408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12121"/>
                </a:solidFill>
                <a:latin typeface="Calibri"/>
              </a:rPr>
              <a:t>Mediação UPA
(M2)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9321" y="216712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Local de moradia explica
52% do gap bruto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62656"/>
            <a:ext cx="5233111" cy="658368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90311" y="312724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F00"/>
                </a:solidFill>
                <a:latin typeface="Calibri"/>
              </a:rPr>
              <a:t>9.7%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" y="3008376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12121"/>
                </a:solidFill>
                <a:latin typeface="Calibri"/>
              </a:rPr>
              <a:t>Gap LÍQUIDO
(M3)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3271" y="305409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Após contexto UPA + UF FE
(discriminação residual)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49624"/>
            <a:ext cx="1888235" cy="658368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45436" y="401421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Calibri"/>
              </a:rPr>
              <a:t>3.5%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" y="3895344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12121"/>
                </a:solidFill>
                <a:latin typeface="Calibri"/>
              </a:rPr>
              <a:t>Mediação Ocp.
(M4)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68396" y="394106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CBO + formalidade + horas
explicam mais 18,1%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36592"/>
            <a:ext cx="3344875" cy="658368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02075" y="490118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71C1C"/>
                </a:solidFill>
                <a:latin typeface="Calibri"/>
              </a:rPr>
              <a:t>6.2%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" y="4782312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12121"/>
                </a:solidFill>
                <a:latin typeface="Calibri"/>
              </a:rPr>
              <a:t>Gap PURO
(M4)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5035" y="482803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Discriminação residual
pós-ocupação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806440"/>
            <a:ext cx="10972800" cy="457200"/>
          </a:xfrm>
          <a:prstGeom prst="rect">
            <a:avLst/>
          </a:prstGeom>
          <a:solidFill>
            <a:srgbClr val="FFF9E7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8521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Calibri"/>
              </a:rPr>
              <a:t>Achado central: 70,0% do gap é explicado por mediação contextual (UPA) e ocupacional — mas 6,2% persiste como discriminação de remuneração pura.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6/29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6. A ocupação explica muito — mas a ocupação é ela própria desigual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Sub-representação sistemática nos grupos de alto prestígio</a:t>
            </a:r>
          </a:p>
        </p:txBody>
      </p:sp>
      <p:pic>
        <p:nvPicPr>
          <p:cNvPr id="5" name="Picture 4" descr="comp_razao_grupo_cb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943600" cy="1848010"/>
          </a:xfrm>
          <a:prstGeom prst="rect">
            <a:avLst/>
          </a:prstGeom>
        </p:spPr>
      </p:pic>
      <p:pic>
        <p:nvPicPr>
          <p:cNvPr id="6" name="Picture 5" descr="comp_representacao_to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97280"/>
            <a:ext cx="5486400" cy="195077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5303520"/>
            <a:ext cx="11612880" cy="548640"/>
          </a:xfrm>
          <a:prstGeom prst="rect">
            <a:avLst/>
          </a:prstGeom>
          <a:solidFill>
            <a:srgbClr val="FFEBEE"/>
          </a:solidFill>
          <a:ln w="1016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349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71C1C"/>
                </a:solidFill>
                <a:latin typeface="Calibri"/>
              </a:rPr>
              <a:t>Dirigentes: apenas 42 negros por 100 brancos na mesma função  |  Top 5% das capitais: IR = 0,47 (negros são 47% do esperado)  |  Elementares: 2,12× mais negros que brancos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7/29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7. Tratar a ocupação como “característica” corta a discriminação medida pela metade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Gap total 53,0% | 84% explicado por diferenças nas características dos trabalhadores</a:t>
            </a:r>
          </a:p>
        </p:txBody>
      </p:sp>
      <p:pic>
        <p:nvPicPr>
          <p:cNvPr id="5" name="Picture 4" descr="oaxaca_decomposi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24014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Interpretação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5544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565C0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84% = Efeito DOTAÇÕES
Negros têm menor acesso a ocupações de prestígio, emprego formal, mais horas em subemprego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565C0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16% = Efeito RETORNOS
O mercado remunera as mesmas características a taxas diferentes por raça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565C0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Conclusão: discriminação opera primariamente no ACESSO, não no salário dentro da função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4937760"/>
            <a:ext cx="4572000" cy="914400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49834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  <a:latin typeface="Calibri"/>
              </a:rPr>
              <a:t>Implicação de política: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5276088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Combater APENAS desigualdade salarial é insuficiente. É preciso atacar as barreiras de ACESSO a ocupações qualificadas.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8/29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8. A penalidade cresce com a idade e não poupa nenhum subgrupo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Regressão Mincer com controles progressivos + curva de ciclo de vida racial</a:t>
            </a:r>
          </a:p>
        </p:txBody>
      </p:sp>
      <p:pic>
        <p:nvPicPr>
          <p:cNvPr id="5" name="Picture 4" descr="fig4_gap_faixa_eta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66928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0972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Regressões Mincer progressivas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572768"/>
            <a:ext cx="5760720" cy="685800"/>
          </a:xfrm>
          <a:prstGeom prst="rect">
            <a:avLst/>
          </a:prstGeom>
          <a:solidFill>
            <a:srgbClr val="FFEBEE"/>
          </a:solidFill>
          <a:ln w="1016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934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M1 — Só raça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160934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B71C1C"/>
                </a:solidFill>
                <a:latin typeface="Calibri"/>
              </a:rPr>
              <a:t>−23,1%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322576"/>
            <a:ext cx="5760720" cy="685800"/>
          </a:xfrm>
          <a:prstGeom prst="rect">
            <a:avLst/>
          </a:prstGeom>
          <a:solidFill>
            <a:srgbClr val="FFEBEE"/>
          </a:solidFill>
          <a:ln w="1016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3591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M2 — + Sexo, educ., experiência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235915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B71C1C"/>
                </a:solidFill>
                <a:latin typeface="Calibri"/>
              </a:rPr>
              <a:t>−22,3%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072384"/>
            <a:ext cx="5760720" cy="685800"/>
          </a:xfrm>
          <a:prstGeom prst="rect">
            <a:avLst/>
          </a:prstGeom>
          <a:solidFill>
            <a:srgbClr val="FFF9E7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1089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M3 — + Efeitos fixos de UF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31089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8F00"/>
                </a:solidFill>
                <a:latin typeface="Calibri"/>
              </a:rPr>
              <a:t>−7,9%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822192"/>
            <a:ext cx="5760720" cy="685800"/>
          </a:xfrm>
          <a:prstGeom prst="rect">
            <a:avLst/>
          </a:prstGeom>
          <a:solidFill>
            <a:srgbClr val="FFF9E7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8587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M4 — + Horas, formal, setor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38587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8F00"/>
                </a:solidFill>
                <a:latin typeface="Calibri"/>
              </a:rPr>
              <a:t>−7,0%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572000"/>
            <a:ext cx="5760720" cy="685800"/>
          </a:xfrm>
          <a:prstGeom prst="rect">
            <a:avLst/>
          </a:prstGeom>
          <a:solidFill>
            <a:srgbClr val="E8F5E9"/>
          </a:solidFill>
          <a:ln w="101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6085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M5 — + Ocupação CBO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46085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2E7D32"/>
                </a:solidFill>
                <a:latin typeface="Calibri"/>
              </a:rPr>
              <a:t>−6,2%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349240"/>
            <a:ext cx="11612880" cy="822960"/>
          </a:xfrm>
          <a:prstGeom prst="rect">
            <a:avLst/>
          </a:prstGeom>
          <a:solidFill>
            <a:srgbClr val="E3F2FD"/>
          </a:solidFill>
          <a:ln w="1016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3949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3864"/>
                </a:solidFill>
                <a:latin typeface="Calibri"/>
              </a:rPr>
              <a:t>Ciclo de vida: gap de 9,1% (14–24 anos) cresce para 37,5% (35–44 anos) — a barreira racial se aprofunda ao longo da carreira.  |  Interação negro×experiência (β=−0,0019, p&lt;0,001): o retorno à senioridade é menor para negros — glass ceiling de progressão longitudinal confirmado.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9/29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9. A barreira maior é a porta: 30% menos chance de cargo qualificado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GLMM lme4 com efeito aleatório de UPA — discriminação de ACESSO confirmada (n=7,7M, 40,9k UPAs)</a:t>
            </a:r>
          </a:p>
        </p:txBody>
      </p:sp>
      <p:pic>
        <p:nvPicPr>
          <p:cNvPr id="5" name="Picture 4" descr="glmm_odds_ratios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400800" cy="3733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Resultados-chave (GLMM)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554480"/>
            <a:ext cx="493776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15819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71C1C"/>
                </a:solidFill>
                <a:latin typeface="Calibri"/>
              </a:rPr>
              <a:t>OR = 0,676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58191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Ocupação qualificada
(M1 — só ind. + UPA 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2560320"/>
            <a:ext cx="493776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5877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8F00"/>
                </a:solidFill>
                <a:latin typeface="Calibri"/>
              </a:rPr>
              <a:t>OR = 0,693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258775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Ocupação qualificada
(M2 — +contexto UPA)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3566160"/>
            <a:ext cx="493776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35935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71C1C"/>
                </a:solidFill>
                <a:latin typeface="Calibri"/>
              </a:rPr>
              <a:t>AME = −5,04 p.p.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359359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Gap pós-controles individuais
(M1 — sem contexto UPA)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4572000"/>
            <a:ext cx="493776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5994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71C1C"/>
                </a:solidFill>
                <a:latin typeface="Calibri"/>
              </a:rPr>
              <a:t>AME = −4,73 p.p.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459943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Gap residual c/ contexto UPA
(M2 — discriminação líquida)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5623560"/>
            <a:ext cx="4937760" cy="548640"/>
          </a:xfrm>
          <a:prstGeom prst="rect">
            <a:avLst/>
          </a:prstGeom>
          <a:solidFill>
            <a:srgbClr val="FFEBEE"/>
          </a:solidFill>
          <a:ln w="1016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56692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71C1C"/>
                </a:solidFill>
                <a:latin typeface="Calibri"/>
              </a:rPr>
              <a:t>Mesmo com educação, sexo, idade e local de moradia IDÊNTICOS, negros têm 30,7% menor odds de estar em ocupação qualificada (OR=0,693 GLMM M2).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10/29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10. Quanto mais alto o salário, maior a penalidade racial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O gap racial aumenta no topo da distribuição de renda — confirmação formal</a:t>
            </a:r>
          </a:p>
        </p:txBody>
      </p:sp>
      <p:pic>
        <p:nvPicPr>
          <p:cNvPr id="5" name="Picture 4" descr="quantreg_trajeto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583680" cy="3485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1097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O que o gráfico mostra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55448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Eixo Y: gap racial em % (quanto negros ganham a menos)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Cada ponto: estimativa para aquele percentil da distribuição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Inclinação descendente = gap CRESCE no topo = Glass Ceiling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M3 vs M4: a diferença é a mediação ocupacional — maior no topo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No q95, mais da metade do gap é explicada pela exclusão de ocupações de alta remuneração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4572000"/>
            <a:ext cx="4846320" cy="1554480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71C1C"/>
                </a:solidFill>
                <a:latin typeface="Calibri"/>
              </a:rPr>
              <a:t>Glass Ceiling Racial: confirmado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502920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O gap não é uniforme — cresce sistematicamente quanto maior a remuneração. Isso significa que a barreira racial é mais intensa exatamente onde os prêmios de progressão são maiores.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11/29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11. Na base da distribuição, a maior parte do gap é preço, não característica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Firpo, Fortin &amp; Lemieux (2018) | N=7.694.198 | Decomposição incondicional por quantil</a:t>
            </a:r>
          </a:p>
        </p:txBody>
      </p:sp>
      <p:pic>
        <p:nvPicPr>
          <p:cNvPr id="5" name="Picture 4" descr="rif_ob_retornos_quant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217920" cy="38494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O que a RIF-OB revela além da QR?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572768"/>
            <a:ext cx="2176272" cy="384048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581912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Quantil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1572768"/>
            <a:ext cx="1399032" cy="384048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1581912"/>
            <a:ext cx="1307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Dotações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69880" y="1572768"/>
            <a:ext cx="1399032" cy="384048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1581912"/>
            <a:ext cx="1307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Retornos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993392"/>
            <a:ext cx="5029200" cy="548640"/>
          </a:xfrm>
          <a:prstGeom prst="rect">
            <a:avLst/>
          </a:prstGeom>
          <a:solidFill>
            <a:srgbClr val="FFEBEE"/>
          </a:solidFill>
          <a:ln w="762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02996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q10  (base)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029968"/>
            <a:ext cx="1399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565C0"/>
                </a:solidFill>
                <a:latin typeface="Calibri"/>
              </a:rPr>
              <a:t>61,3%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029968"/>
            <a:ext cx="1399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71C1C"/>
                </a:solidFill>
                <a:latin typeface="Calibri"/>
              </a:rPr>
              <a:t>33,1%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587752"/>
            <a:ext cx="5029200" cy="548640"/>
          </a:xfrm>
          <a:prstGeom prst="rect">
            <a:avLst/>
          </a:prstGeom>
          <a:solidFill>
            <a:srgbClr val="F5F5F5"/>
          </a:solidFill>
          <a:ln w="762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26243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q50  (mediana)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624328"/>
            <a:ext cx="1399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565C0"/>
                </a:solidFill>
                <a:latin typeface="Calibri"/>
              </a:rPr>
              <a:t>57,4%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69880" y="2624328"/>
            <a:ext cx="1399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71C1C"/>
                </a:solidFill>
                <a:latin typeface="Calibri"/>
              </a:rPr>
              <a:t>21,5%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3182112"/>
            <a:ext cx="5029200" cy="548640"/>
          </a:xfrm>
          <a:prstGeom prst="rect">
            <a:avLst/>
          </a:prstGeom>
          <a:solidFill>
            <a:srgbClr val="E3F2FD"/>
          </a:solidFill>
          <a:ln w="76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2186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q90  (topo)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218688"/>
            <a:ext cx="1399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565C0"/>
                </a:solidFill>
                <a:latin typeface="Calibri"/>
              </a:rPr>
              <a:t>75,8%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69880" y="3218688"/>
            <a:ext cx="1399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71C1C"/>
                </a:solidFill>
                <a:latin typeface="Calibri"/>
              </a:rPr>
              <a:t>11,2%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822191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Retornos DECLINAM: q10=33,1% → q90=11,2%  (Δ = −21,9 pp)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Dotações CRESCEM: q10=61,3% → q90=75,8%  (Δ = +14,4 pp)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Glass ceiling salarial causado por desvantagens PRÉ-MERCADO
(educação, redes, segregação residencial)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Não por discriminação crescente no topo da hierarquia salarial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760720"/>
            <a:ext cx="1161288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Sticky Floor: discriminação de mercado é 3× mais intensa na base (q10=33,1%) do que no topo (q90=11,2%). Enforcement antidiscriminação ataca o q10; reformar dotações (acesso, redes) erode o glass ceiling no topo.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12/29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12. A mulher negra acumula as duas penalidades — e sobra uma terceira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OB twofold vs. Homem Branco | N=2.357.851 | penalidade interseccional extra = +9,5 pp</a:t>
            </a:r>
          </a:p>
        </p:txBody>
      </p:sp>
      <p:pic>
        <p:nvPicPr>
          <p:cNvPr id="5" name="Picture 4" descr="interseccional_ob4gru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943600" cy="29317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10972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Resultados OB 4 Grupos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572768"/>
            <a:ext cx="5394960" cy="1389888"/>
          </a:xfrm>
          <a:prstGeom prst="rect">
            <a:avLst/>
          </a:prstGeom>
          <a:solidFill>
            <a:srgbClr val="F5F5F5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92240" y="1572768"/>
            <a:ext cx="5394960" cy="438912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600200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Mulher Branca — gap 46,6%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084831"/>
            <a:ext cx="5166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Retornos dominam: 109%
Discriminação de gênero pura
(dotações ligeiramente negativas: −8,9%)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3108960"/>
            <a:ext cx="5394960" cy="1389888"/>
          </a:xfrm>
          <a:prstGeom prst="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3108960"/>
            <a:ext cx="5394960" cy="438912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3136392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Homem Negro — gap 40,3%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3621023"/>
            <a:ext cx="5166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Dotações dominam: 71%
Gap majoritariamente estrutural
(capital humano acumulado inferior)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4645152"/>
            <a:ext cx="5394960" cy="1389888"/>
          </a:xfrm>
          <a:prstGeom prst="rect">
            <a:avLst/>
          </a:prstGeom>
          <a:solidFill>
            <a:srgbClr val="F5F5F5"/>
          </a:solidFill>
          <a:ln w="19050">
            <a:solidFill>
              <a:srgbClr val="6A0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4645152"/>
            <a:ext cx="5394960" cy="438912"/>
          </a:xfrm>
          <a:prstGeom prst="rect">
            <a:avLst/>
          </a:prstGeom>
          <a:solidFill>
            <a:srgbClr val="6A00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4672584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Mulher Negra — gap 96,4%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5157215"/>
            <a:ext cx="5166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Penalidade interseccional extra: +9,5 pp
acima da soma Mulher Branca + Homem Negro
(Crenshaw, 1989 — confirmado empiricamente)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6199632"/>
            <a:ext cx="11612880" cy="512064"/>
          </a:xfrm>
          <a:prstGeom prst="rect">
            <a:avLst/>
          </a:prstGeom>
          <a:solidFill>
            <a:srgbClr val="E3F2FD"/>
          </a:solidFill>
          <a:ln w="1016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24535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  <a:latin typeface="Calibri"/>
              </a:rPr>
              <a:t>HLM interseccional: β_neg×fem = +0,069 (p&lt;0,001) → penalidade combinada (−40,5%) &lt; soma isolada (−44,5%): as duas desvantagens competem pelo mesmo mecanismo de exclusão — efeito de compressão.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13/29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13. Para derrubar o resultado, faltaria um confundidor mais forte que tudo o que medimos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3 métodos complementares — nenhum consegue anular o gap racial observado</a:t>
            </a:r>
          </a:p>
        </p:txBody>
      </p:sp>
      <p:pic>
        <p:nvPicPr>
          <p:cNvPr id="5" name="Picture 4" descr="sensibilidade_konfound_e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217920" cy="23791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Resultados de robustez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572768"/>
            <a:ext cx="5120640" cy="1051560"/>
          </a:xfrm>
          <a:prstGeom prst="rect">
            <a:avLst/>
          </a:prstGeom>
          <a:solidFill>
            <a:srgbClr val="F5F5F5"/>
          </a:solidFill>
          <a:ln w="1524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60934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3864"/>
                </a:solidFill>
                <a:latin typeface="Calibri"/>
              </a:rPr>
              <a:t>Konfound HLM (Frank et al., 2013)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9385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12121"/>
                </a:solidFill>
                <a:latin typeface="Calibri"/>
              </a:rPr>
              <a:t>pkonfound: 99,5% (M1)  |  98,8% (M2/M3)  |  98,5% (M4)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286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16161"/>
                </a:solidFill>
                <a:latin typeface="Calibri"/>
              </a:rPr>
              <a:t>99,5% dos casos precisariam ser removidos para anular M1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715768"/>
            <a:ext cx="5120640" cy="1051560"/>
          </a:xfrm>
          <a:prstGeom prst="rect">
            <a:avLst/>
          </a:prstGeom>
          <a:solidFill>
            <a:srgbClr val="F5F5F5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275234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8F00"/>
                </a:solidFill>
                <a:latin typeface="Calibri"/>
              </a:rPr>
              <a:t>OLS subestima robustez — Δ = 5,4–9,7 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30815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12121"/>
                </a:solidFill>
                <a:latin typeface="Calibri"/>
              </a:rPr>
              <a:t>OLS: 91,5% / 93,5% / 88,7%  →  HLM: +7,9 / +5,4 / +9,7 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3429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16161"/>
                </a:solidFill>
                <a:latin typeface="Calibri"/>
              </a:rPr>
              <a:t>SEs OLS são 6–16× maiores: não captura clustering → robustez subestimada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3858768"/>
            <a:ext cx="5120640" cy="1051560"/>
          </a:xfrm>
          <a:prstGeom prst="rect">
            <a:avLst/>
          </a:prstGeom>
          <a:solidFill>
            <a:srgbClr val="F5F5F5"/>
          </a:solidFill>
          <a:ln w="1524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389534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B71C1C"/>
                </a:solidFill>
                <a:latin typeface="Calibri"/>
              </a:rPr>
              <a:t>E-values GLMM lme4 (VanderWeele &amp; Ding, 2017)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42245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12121"/>
                </a:solidFill>
                <a:latin typeface="Calibri"/>
              </a:rPr>
              <a:t>E ≥ 2,319× (M1)  |  E ≥ 2,243× (M2)  para anular OR = 0,676 / 0,693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4572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16161"/>
                </a:solidFill>
                <a:latin typeface="Calibri"/>
              </a:rPr>
              <a:t>Confounder precisaria ter associação ≥ 2,3× com raça E com ocupação — implausível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5001768"/>
            <a:ext cx="5120640" cy="1051560"/>
          </a:xfrm>
          <a:prstGeom prst="rect">
            <a:avLst/>
          </a:prstGeom>
          <a:solidFill>
            <a:srgbClr val="F5F5F5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503834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565C0"/>
                </a:solidFill>
                <a:latin typeface="Calibri"/>
              </a:rPr>
              <a:t>Oster Bounds OLS auxiliar (Oster, 2019)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53675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12121"/>
                </a:solidFill>
                <a:latin typeface="Calibri"/>
              </a:rPr>
              <a:t>δ* ∈ {−0,48; −0,43; −0,39} — todos negativos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5715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16161"/>
                </a:solidFill>
                <a:latin typeface="Calibri"/>
              </a:rPr>
              <a:t>Omitidas precisariam agir na direção OPOSTA aos observáveis — impossível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14/29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14. Sem impor forma funcional, a raça continua pesando na previsão da renda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XGBoost R²=0,6162 | Horas + CBO + Formalidade emergem como top preditores</a:t>
            </a:r>
          </a:p>
        </p:txBody>
      </p:sp>
      <p:pic>
        <p:nvPicPr>
          <p:cNvPr id="5" name="Picture 4" descr="shap_importance_x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217920" cy="44135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Destaques com as novas variáveis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554480"/>
            <a:ext cx="530352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600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Calibri"/>
              </a:rPr>
              <a:t>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Calibri"/>
              </a:rPr>
              <a:t>Renda média da UPA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1600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  <a:latin typeface="Calibri"/>
              </a:rPr>
              <a:t>|SHAP|=0,272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19202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16161"/>
                </a:solidFill>
                <a:latin typeface="Calibri"/>
              </a:rPr>
              <a:t>Wilson (1987): onde mora supera o quanto estudou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2359152"/>
            <a:ext cx="530352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404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Calibri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4048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Horas trabalhadas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4048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Calibri"/>
              </a:rPr>
              <a:t>|SHAP|=0,166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72491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16161"/>
                </a:solidFill>
                <a:latin typeface="Calibri"/>
              </a:rPr>
              <a:t>Novo — VD4031 extraído do ZIP bruto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163824"/>
            <a:ext cx="530352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32095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Calibri"/>
              </a:rPr>
              <a:t>#3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32095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CBO: Profissionais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320954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Calibri"/>
              </a:rPr>
              <a:t>|SHAP|=0,119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352958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16161"/>
                </a:solidFill>
                <a:latin typeface="Calibri"/>
              </a:rPr>
              <a:t>Novo — V4010 primeiro dígito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3968496"/>
            <a:ext cx="530352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40142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Calibri"/>
              </a:rPr>
              <a:t>#4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40142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Emprego formal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401421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Calibri"/>
              </a:rPr>
              <a:t>|SHAP|=0,109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433425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16161"/>
                </a:solidFill>
                <a:latin typeface="Calibri"/>
              </a:rPr>
              <a:t>Novo — VD4009 carteira/público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4773168"/>
            <a:ext cx="5303520" cy="749808"/>
          </a:xfrm>
          <a:prstGeom prst="rect">
            <a:avLst/>
          </a:prstGeom>
          <a:solidFill>
            <a:srgbClr val="FFEBEE"/>
          </a:solidFill>
          <a:ln w="63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48188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71C1C"/>
                </a:solidFill>
                <a:latin typeface="Calibri"/>
              </a:rPr>
              <a:t>#11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8188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71C1C"/>
                </a:solidFill>
                <a:latin typeface="Calibri"/>
              </a:rPr>
              <a:t>Raça (negro)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48188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71C1C"/>
                </a:solidFill>
                <a:latin typeface="Calibri"/>
              </a:rPr>
              <a:t>|SHAP|=0,029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513892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16161"/>
                </a:solidFill>
                <a:latin typeface="Calibri"/>
              </a:rPr>
              <a:t>−2,5% residual pós-ocupação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16/29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15. Por que multinível: 37% da variação da renda está entre bairros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LRT χ²=191.625 confirma hierarquia | ICC=9,80% &gt; limiar 5% | HLM supera OLS+FE em AIC</a:t>
            </a:r>
          </a:p>
        </p:txBody>
      </p:sp>
      <p:pic>
        <p:nvPicPr>
          <p:cNvPr id="5" name="Picture 4" descr="modelos_loglik_a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760720" cy="2458979"/>
          </a:xfrm>
          <a:prstGeom prst="rect">
            <a:avLst/>
          </a:prstGeom>
        </p:spPr>
      </p:pic>
      <p:pic>
        <p:nvPicPr>
          <p:cNvPr id="6" name="Picture 5" descr="modelos_lrt_i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2180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4160520"/>
            <a:ext cx="356616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2062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LRT HLM vs OLS (nulo)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4805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191.625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0017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χ² Δk=1 — hierarquia confirmada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4160520"/>
            <a:ext cx="32004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4206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ICC por UPA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4805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65C0"/>
                </a:solidFill>
                <a:latin typeface="Calibri"/>
              </a:rPr>
              <a:t>9,80%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50017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&gt; 5% — Raudenbush &amp; Bryk (2002)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4160520"/>
            <a:ext cx="45720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4206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AIC HLM Contextual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44805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E7D32"/>
                </a:solidFill>
                <a:latin typeface="Calibri"/>
              </a:rPr>
              <a:t>3.588.684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500176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OLS+FE(UF): 3.684.833 (+96k pior)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440680"/>
            <a:ext cx="11612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OLS ignora correlação intra-UPA → erros padrão subestimados → inferência inválida (θ OLS ≠ θ BLUP)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OLS+FE(UF) piora AIC vs OLS Individual: dummies de UF são grosseiras demais para capturar variação intra-estado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HLM 3 níveis (indivíduo &gt; UPA &gt; UF) é o único estimador com estrutura compatível com os dados e inferência válida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21/29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Os quatro métodos apontam para o mesmo lugar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Os quatro métodos convergem; a discriminação opera sobretudo no acesso às ocupações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114300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103120"/>
                <a:gridCol w="685800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Dimensão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Resultado-chave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Gap e mediação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HLM (3 níveis)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Gap −19,1% (M1) → −6,2% (M4); 69,8% mediado por contexto e ocupação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Composição × discriminação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Oaxaca-Blinder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83,8% dotações (acesso/composição) / 16,2% não explicado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Teto de vidro (acesso)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GLMM logístico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OR 0,705 (cargo qualif.) → 0,656 (top 10%); E-value ≥ 2,2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Distribuição da renda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Quantílica / RIF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Gap −8,0% (q10) → −12,3% (q95); sticky floor: retornos 35% → 13%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Interseccionalidade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Oaxaca 4 grupos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Mulher Negra: gap 96,4%; penalidade extra +9,5 p.p. (não-aditiva)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Robustez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XGBoost + SHAP / E-value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R²=0,62; raça com efeito residual após controles; sem sobreajuste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943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  <a:latin typeface="Calibri"/>
              </a:rPr>
              <a:t>Leitura: cada linha é um método independente respondendo uma pergunta distinta; OR &lt; 1 indica menor acesso para negros de mesmo perfil.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22/29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16. Duas barreiras, um sistema: porta de entrada e salário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Os métodos do núcleo apontam para o mesmo diagnóstico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303520" cy="2377440"/>
          </a:xfrm>
          <a:prstGeom prst="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303520" cy="457200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DISCRIMINAÇÃO
DE ACESSO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GLMM: OR=0,693 para ocp. qualificada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AME=−4,73 p.p. residual (M2)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Persiste após todos os controles observáveis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303520" cy="2377440"/>
          </a:xfrm>
          <a:prstGeom prst="rect">
            <a:avLst/>
          </a:prstGeom>
          <a:solidFill>
            <a:srgbClr val="F5F5F5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5303520" cy="457200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DISCRIMINAÇÃO
DE REMUNERAÇÃO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HLM M4: gap residual 6,2%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Quantile Reg.: cresce no topo (glass ceiling)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346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SHAP: −2,5% efeito racial residual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3931920"/>
            <a:ext cx="5303520" cy="2377440"/>
          </a:xfrm>
          <a:prstGeom prst="rect">
            <a:avLst/>
          </a:prstGeom>
          <a:solidFill>
            <a:srgbClr val="F5F5F5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3931920"/>
            <a:ext cx="5303520" cy="45720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39776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PENALIDADE
INTERSECCIONAL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4805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Mulher Negra: gap de 96,4%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0292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Penalidade extra de +9,5 p.p. (não-aditiva)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55778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Raça×gênero como mecanismo próprio (Crenshaw)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852160"/>
            <a:ext cx="11612880" cy="45720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897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Oaxaca: 83,8% do gap é composição/ACESSO e 16,2% remuneração | GLMM mostra a barreira de acesso (OR=0,705) | RIF: discriminação de preço maior na base (sticky floor)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22/29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17. Cotas de acesso e fiscalização atacam a barreira que medimos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Três eixos simultâneos — ações isoladas são insuficientes para romper a armadilha estrutural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749039" cy="5029200"/>
          </a:xfrm>
          <a:prstGeom prst="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3749039" cy="502920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Eixo 1 — Acesso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Cotas de acesso CBO Dirigente/Profissional:
meta IR ≥ 0,80 até 2030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PRONATEC c/ recorte racial e subsídio de
transporte para trabalhadores de UPAs pobres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Bolsas de residência profissional em empresas
de alta remuneração para egressos negros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097280"/>
            <a:ext cx="3749039" cy="5029200"/>
          </a:xfrm>
          <a:prstGeom prst="rect">
            <a:avLst/>
          </a:prstGeom>
          <a:solidFill>
            <a:srgbClr val="F5F5F5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097280"/>
            <a:ext cx="3749039" cy="502920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399" y="1143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Eixo 2 — Remuneração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39" y="16916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Transparência salarial por raça/gênero
obrigatória (empresas &gt; 100 funcionários)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39" y="24688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Auditoria de igual pagamento por trabalho igual
com penalidades progressivas (gap HLM M4)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39" y="32461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Piso salarial indexado nas categorias com
maior gap racial residual (6,2% HLM M4)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598" y="1097280"/>
            <a:ext cx="3749039" cy="5029200"/>
          </a:xfrm>
          <a:prstGeom prst="rect">
            <a:avLst/>
          </a:prstGeom>
          <a:solidFill>
            <a:srgbClr val="F5F5F5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598" y="1097280"/>
            <a:ext cx="3749039" cy="502920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38" y="1143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Eixo 3 — Acesso a Ocupações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8" y="16916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Mentoria e acesso a redes profissionais
qualificadas para egressos negros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8" y="24688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30% dos cargos DAS e liderança corporativa
para negros até 2030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8" y="32461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Ampliar acesso a ocupações qualificadas:
principal canal do gap (Oaxaca + GLMM)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21792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71C1C"/>
                </a:solidFill>
                <a:latin typeface="Calibri"/>
              </a:rPr>
              <a:t>⚠  Ao ritmo atual de convergência (~0,02 log-pontos/ano), eliminar o gap levaria mais de 100 anos.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28/29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18. O que estes números não dizem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Honestidade acadêmica: o que este trabalho não faz e por quê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71C1C"/>
                </a:solidFill>
                <a:latin typeface="Calibri"/>
              </a:rPr>
              <a:t>Limitações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PNAD não permite experimentos causais — coeficientes são associações condicionais, não efeitos causais no sentido de Rubin/Pearl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UPA como proxy de bairro: unidade de amostragem ≠ bairro administrativo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GLMM logístico estimado na PEA completa via lme4::glmer (nAGQ=0, bobyqa, n=7,7M, 40,9k UPAs), com efeito aleatório de UPA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CBO auto-declarado pode ter viés de classificação por raça (deflation de ocupação)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65C0"/>
                </a:solidFill>
                <a:latin typeface="Calibri"/>
              </a:rPr>
              <a:t>Agenda Futura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565C0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Análise de variáveis instrumentais (IV) para identificação causal — distância à escola técnica como instrumento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565C0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RAIS linkada à PNAD para rastrear trajetórias de mobilidade intraempresa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565C0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Análise de mediação formal (path analysis) raça → ocupação → renda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565C0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Extensão ao setor público por UF — heterogeneidade do glass ceiling entre estados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565C0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Modelo longitudinal com painéis rotativos da PNAD (2T seguidos) para efeitos fixos de indivíduo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29/29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D1F3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29. Conclusão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2743200" cy="1371600"/>
          </a:xfrm>
          <a:prstGeom prst="rect">
            <a:avLst/>
          </a:prstGeom>
          <a:solidFill>
            <a:srgbClr val="1A305C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F00"/>
                </a:solidFill>
                <a:latin typeface="Calibri"/>
              </a:rPr>
              <a:t>19,3%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Gap racial bruto
(M1 HLM)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868680"/>
            <a:ext cx="2743200" cy="1371600"/>
          </a:xfrm>
          <a:prstGeom prst="rect">
            <a:avLst/>
          </a:prstGeom>
          <a:solidFill>
            <a:srgbClr val="1A305C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9144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F00"/>
                </a:solidFill>
                <a:latin typeface="Calibri"/>
              </a:rPr>
              <a:t>6,2%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Discriminação pura
(M4 HLM)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868680"/>
            <a:ext cx="2743200" cy="1371600"/>
          </a:xfrm>
          <a:prstGeom prst="rect">
            <a:avLst/>
          </a:prstGeom>
          <a:solidFill>
            <a:srgbClr val="1A305C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9144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F00"/>
                </a:solidFill>
                <a:latin typeface="Calibri"/>
              </a:rPr>
              <a:t>OR=0,693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Acesso qualificado
(GLMM M2, lme4)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868680"/>
            <a:ext cx="2743200" cy="1371600"/>
          </a:xfrm>
          <a:prstGeom prst="rect">
            <a:avLst/>
          </a:prstGeom>
          <a:solidFill>
            <a:srgbClr val="1A305C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9144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F00"/>
                </a:solidFill>
                <a:latin typeface="Calibri"/>
              </a:rPr>
              <a:t>χ²=191k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LRT confirma
hierarquia UPA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377440"/>
            <a:ext cx="11612880" cy="749808"/>
          </a:xfrm>
          <a:prstGeom prst="rect">
            <a:avLst/>
          </a:prstGeom>
          <a:solidFill>
            <a:srgbClr val="0F274A"/>
          </a:solidFill>
          <a:ln w="762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423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1. A desigualdade racial no mercado de trabalho brasileiro é estrutural, multicausal e resistente à convergência espontânea.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46120"/>
            <a:ext cx="11612880" cy="749808"/>
          </a:xfrm>
          <a:prstGeom prst="rect">
            <a:avLst/>
          </a:prstGeom>
          <a:solidFill>
            <a:srgbClr val="0F274A"/>
          </a:solidFill>
          <a:ln w="76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918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2. A discriminação opera em dois estágios independentes: barreiras de ACESSO a ocupações qualificadas (GLMM: OR=0,693, AME=−4,73 p.p.) e discriminação de REMUNERAÇÃO dentro das mesmas funções (HLM M4: 6,2%).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114800"/>
            <a:ext cx="11612880" cy="749808"/>
          </a:xfrm>
          <a:prstGeom prst="rect">
            <a:avLst/>
          </a:prstGeom>
          <a:solidFill>
            <a:srgbClr val="0F274A"/>
          </a:solidFill>
          <a:ln w="76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1605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3. O glass ceiling racial é real e crescente no topo da distribuição — confirmado formalmente pela regressão quantílica e consistente com o IR=0,47 nas capitais.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83480"/>
            <a:ext cx="11612880" cy="749808"/>
          </a:xfrm>
          <a:prstGeom prst="rect">
            <a:avLst/>
          </a:prstGeom>
          <a:solidFill>
            <a:srgbClr val="0F274A"/>
          </a:solidFill>
          <a:ln w="76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0292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4. Políticas que atuam apenas no gap salarial direto atacam 16% do problema. Os 84% restantes requerem ação nas portas de entrada das ocupações de alto prestígio.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F3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A4AE"/>
                </a:solidFill>
                <a:latin typeface="Calibri"/>
              </a:rPr>
              <a:t>Ricardo Calheiros  |  MBA Data Science &amp; Analytics  |  USP/ESALQ  |  rickinrj@gmail.com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