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38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11274552" cy="3474720"/>
          </a:xfrm>
          <a:prstGeom prst="rect">
            <a:avLst/>
          </a:prstGeom>
          <a:solidFill>
            <a:srgbClr val="0D1F3C"/>
          </a:solidFill>
          <a:ln w="1905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9436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Racismo Estrutural e Mercado de Trabalho no Brasil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659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BBDEFB"/>
                </a:solidFill>
                <a:latin typeface="Calibri"/>
              </a:rPr>
              <a:t>Evidências da PNAD Contínua 2016–2025 via HLM, ML/SHAP,
Oaxaca-Blinder, Logit Multinível e Regressão Quantílica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834640"/>
            <a:ext cx="10515600" cy="27432"/>
          </a:xfrm>
          <a:prstGeom prst="rect">
            <a:avLst/>
          </a:prstGeom>
          <a:solidFill>
            <a:srgbClr val="FF8F0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01752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Ricardo Calheiros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4290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BDEFB"/>
                </a:solidFill>
                <a:latin typeface="Calibri"/>
              </a:rPr>
              <a:t>MBA em Data Science e Analytics  |  USP/ESALQ  |  Defesa: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297680"/>
            <a:ext cx="2651760" cy="914400"/>
          </a:xfrm>
          <a:prstGeom prst="rect">
            <a:avLst/>
          </a:prstGeom>
          <a:solidFill>
            <a:srgbClr val="1A305C"/>
          </a:solidFill>
          <a:ln w="1016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4315968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8F00"/>
                </a:solidFill>
                <a:latin typeface="Calibri"/>
              </a:rPr>
              <a:t>15,9M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82803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observações brutas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83280" y="4297680"/>
            <a:ext cx="2651760" cy="914400"/>
          </a:xfrm>
          <a:prstGeom prst="rect">
            <a:avLst/>
          </a:prstGeom>
          <a:solidFill>
            <a:srgbClr val="1A305C"/>
          </a:solidFill>
          <a:ln w="1016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0" y="4315968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8F00"/>
                </a:solidFill>
                <a:latin typeface="Calibri"/>
              </a:rPr>
              <a:t>7,7M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482803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obs. PEA c/ renda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4297680"/>
            <a:ext cx="2651760" cy="914400"/>
          </a:xfrm>
          <a:prstGeom prst="rect">
            <a:avLst/>
          </a:prstGeom>
          <a:solidFill>
            <a:srgbClr val="1A305C"/>
          </a:solidFill>
          <a:ln w="1016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4315968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8F00"/>
                </a:solidFill>
                <a:latin typeface="Calibri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82803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metodologias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35440" y="4297680"/>
            <a:ext cx="2651760" cy="914400"/>
          </a:xfrm>
          <a:prstGeom prst="rect">
            <a:avLst/>
          </a:prstGeom>
          <a:solidFill>
            <a:srgbClr val="1A305C"/>
          </a:solidFill>
          <a:ln w="1016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0" y="4315968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8F00"/>
                </a:solidFill>
                <a:latin typeface="Calibri"/>
              </a:rPr>
              <a:t>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0" y="482803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anos de série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63093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0A4AE"/>
                </a:solidFill>
                <a:latin typeface="Calibri"/>
              </a:rPr>
              <a:t>Orientador(a): _______________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8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1. O Problema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BDEFB"/>
                </a:solidFill>
                <a:latin typeface="Calibri"/>
              </a:rPr>
              <a:t>Por que um mestrado quantitativo sobre o gap racial brasileiro?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4300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F3864"/>
                </a:solidFill>
                <a:latin typeface="Calibri"/>
              </a:rPr>
              <a:t>O gap salarial racial persiste mesmo após décadas de políticas inclusivas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691640"/>
            <a:ext cx="65836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565C0"/>
                </a:solidFill>
                <a:latin typeface="Calibri"/>
              </a:rPr>
              <a:t>▸  </a:t>
            </a:r>
            <a:r>
              <a:rPr sz="1500">
                <a:solidFill>
                  <a:srgbClr val="212121"/>
                </a:solidFill>
                <a:latin typeface="Calibri"/>
              </a:rPr>
              <a:t>Trabalhadores negros ganham em média 40–55% menos que brancos — bruta, sem controles</a:t>
            </a:r>
          </a:p>
          <a:p>
            <a:pPr>
              <a:spcAft>
                <a:spcPts val="400"/>
              </a:spcAft>
            </a:pPr>
            <a:r>
              <a:rPr sz="1500" b="1">
                <a:solidFill>
                  <a:srgbClr val="1565C0"/>
                </a:solidFill>
                <a:latin typeface="Calibri"/>
              </a:rPr>
              <a:t>▸  </a:t>
            </a:r>
            <a:r>
              <a:rPr sz="1500">
                <a:solidFill>
                  <a:srgbClr val="212121"/>
                </a:solidFill>
                <a:latin typeface="Calibri"/>
              </a:rPr>
              <a:t>O gap persiste mesmo após controlar escolaridade, sexo e experiência: é estrutural</a:t>
            </a:r>
          </a:p>
          <a:p>
            <a:pPr>
              <a:spcAft>
                <a:spcPts val="400"/>
              </a:spcAft>
            </a:pPr>
            <a:r>
              <a:rPr sz="1500" b="1">
                <a:solidFill>
                  <a:srgbClr val="1565C0"/>
                </a:solidFill>
                <a:latin typeface="Calibri"/>
              </a:rPr>
              <a:t>▸  </a:t>
            </a:r>
            <a:r>
              <a:rPr sz="1500">
                <a:solidFill>
                  <a:srgbClr val="212121"/>
                </a:solidFill>
                <a:latin typeface="Calibri"/>
              </a:rPr>
              <a:t>Mecanismos: segregação residencial, exclusão das redes profissionais, glass ceiling ocupacional</a:t>
            </a:r>
          </a:p>
          <a:p>
            <a:pPr>
              <a:spcAft>
                <a:spcPts val="400"/>
              </a:spcAft>
            </a:pPr>
            <a:r>
              <a:rPr sz="1500" b="1">
                <a:solidFill>
                  <a:srgbClr val="1565C0"/>
                </a:solidFill>
                <a:latin typeface="Calibri"/>
              </a:rPr>
              <a:t>▸  </a:t>
            </a:r>
            <a:r>
              <a:rPr sz="1500">
                <a:solidFill>
                  <a:srgbClr val="212121"/>
                </a:solidFill>
                <a:latin typeface="Calibri"/>
              </a:rPr>
              <a:t>Estudos tradicionais usam apenas OLS — não separam ACESSO de REMUNERAÇÃO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0" y="1097280"/>
            <a:ext cx="4754880" cy="4389120"/>
          </a:xfrm>
          <a:prstGeom prst="rect">
            <a:avLst/>
          </a:prstGeom>
          <a:solidFill>
            <a:srgbClr val="F5F5F5"/>
          </a:solidFill>
          <a:ln w="1016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23444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3864"/>
                </a:solidFill>
                <a:latin typeface="Calibri"/>
              </a:rPr>
              <a:t>Inovações deste TCC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0" y="1691640"/>
            <a:ext cx="4297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565C0"/>
                </a:solidFill>
                <a:latin typeface="Calibri"/>
              </a:rPr>
              <a:t>✦ 15,9M obs. — série histórica completa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0" y="2286000"/>
            <a:ext cx="4297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Calibri"/>
              </a:rPr>
              <a:t>✦ Variáveis CBO, vínculo e horas (VD4009/V4010/VD4031) extraídas dos ZIPs brutos do IBGE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0" y="2880360"/>
            <a:ext cx="4297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Calibri"/>
              </a:rPr>
              <a:t>✦ Discriminação de ACESSO (logit)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0" y="3474720"/>
            <a:ext cx="4297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Calibri"/>
              </a:rPr>
              <a:t>✦ Discriminação de REMUNERAÇÃO (HLM + QR)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0" y="4069080"/>
            <a:ext cx="4297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Calibri"/>
              </a:rPr>
              <a:t>✦ Convergência de 5 métodos independentes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F38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" y="662940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BDEFB"/>
                </a:solidFill>
                <a:latin typeface="Calibri"/>
              </a:rPr>
              <a:t>Ricardo Calheiros  |  MBA USP/ESALQ  |  Racismo Estrutural e Mercado de Trabalho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04320" y="66294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FFFFFF"/>
                </a:solidFill>
                <a:latin typeface="Calibri"/>
              </a:rPr>
              <a:t>2/28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8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2. Base de Dados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BDEFB"/>
                </a:solidFill>
                <a:latin typeface="Calibri"/>
              </a:rPr>
              <a:t>PNAD Contínua 2016–2025 + enriquecimento com variáveis ocupacionais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2560320" cy="1188720"/>
          </a:xfrm>
          <a:prstGeom prst="rect">
            <a:avLst/>
          </a:prstGeom>
          <a:solidFill>
            <a:srgbClr val="F5F5F5"/>
          </a:solidFill>
          <a:ln w="1270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1430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16161"/>
                </a:solidFill>
                <a:latin typeface="Calibri"/>
              </a:rPr>
              <a:t>Observações brutas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4173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565C0"/>
                </a:solidFill>
                <a:latin typeface="Calibri"/>
              </a:rPr>
              <a:t>15,9M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938528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16161"/>
                </a:solidFill>
                <a:latin typeface="Calibri"/>
              </a:rPr>
              <a:t>PNAD 2016–2025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1097280"/>
            <a:ext cx="2560320" cy="1188720"/>
          </a:xfrm>
          <a:prstGeom prst="rect">
            <a:avLst/>
          </a:prstGeom>
          <a:solidFill>
            <a:srgbClr val="F5F5F5"/>
          </a:solidFill>
          <a:ln w="1270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08960" y="11430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16161"/>
                </a:solidFill>
                <a:latin typeface="Calibri"/>
              </a:rPr>
              <a:t>PEA com renda positiva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14173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565C0"/>
                </a:solidFill>
                <a:latin typeface="Calibri"/>
              </a:rPr>
              <a:t>7,7M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1938528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16161"/>
                </a:solidFill>
                <a:latin typeface="Calibri"/>
              </a:rPr>
              <a:t>após filtros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60720" y="1097280"/>
            <a:ext cx="2560320" cy="1188720"/>
          </a:xfrm>
          <a:prstGeom prst="rect">
            <a:avLst/>
          </a:prstGeom>
          <a:solidFill>
            <a:srgbClr val="F5F5F5"/>
          </a:solidFill>
          <a:ln w="1270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52160" y="11430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16161"/>
                </a:solidFill>
                <a:latin typeface="Calibri"/>
              </a:rPr>
              <a:t>UPAs (bairros)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0" y="14173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565C0"/>
                </a:solidFill>
                <a:latin typeface="Calibri"/>
              </a:rPr>
              <a:t>40.120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1938528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16161"/>
                </a:solidFill>
                <a:latin typeface="Calibri"/>
              </a:rPr>
              <a:t>Nível 2 do HLM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03920" y="1097280"/>
            <a:ext cx="2560320" cy="1188720"/>
          </a:xfrm>
          <a:prstGeom prst="rect">
            <a:avLst/>
          </a:prstGeom>
          <a:solidFill>
            <a:srgbClr val="F5F5F5"/>
          </a:solidFill>
          <a:ln w="1270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5360" y="11430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16161"/>
                </a:solidFill>
                <a:latin typeface="Calibri"/>
              </a:rPr>
              <a:t>Cobertura temporal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14173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565C0"/>
                </a:solidFill>
                <a:latin typeface="Calibri"/>
              </a:rPr>
              <a:t>10 anos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0" y="1938528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16161"/>
                </a:solidFill>
                <a:latin typeface="Calibri"/>
              </a:rPr>
              <a:t>2016 T1 → 2025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2468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3864"/>
                </a:solidFill>
                <a:latin typeface="Calibri"/>
              </a:rPr>
              <a:t>Enriquecimento dos microdados: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2880360"/>
            <a:ext cx="3749039" cy="1371600"/>
          </a:xfrm>
          <a:prstGeom prst="rect">
            <a:avLst/>
          </a:prstGeom>
          <a:solidFill>
            <a:srgbClr val="E3F2FD"/>
          </a:solidFill>
          <a:ln w="1016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294436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565C0"/>
                </a:solidFill>
                <a:latin typeface="Courier New"/>
              </a:rPr>
              <a:t>V4010  →  ocp_grupo_cbo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3383280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Calibri"/>
              </a:rPr>
              <a:t>Grupo ocupacional CBO-Domiciliar
(10 grupos ISCO-08)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6240" y="2880360"/>
            <a:ext cx="3749039" cy="1371600"/>
          </a:xfrm>
          <a:prstGeom prst="rect">
            <a:avLst/>
          </a:prstGeom>
          <a:solidFill>
            <a:srgbClr val="E3F2FD"/>
          </a:solidFill>
          <a:ln w="1016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43400" y="294436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565C0"/>
                </a:solidFill>
                <a:latin typeface="Courier New"/>
              </a:rPr>
              <a:t>VD4009  →  emprego_formal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43400" y="3383280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Calibri"/>
              </a:rPr>
              <a:t>Vínculo empregatício detalhado
(carteira, servidor, conta-própria...)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38160" y="2880360"/>
            <a:ext cx="3749039" cy="1371600"/>
          </a:xfrm>
          <a:prstGeom prst="rect">
            <a:avLst/>
          </a:prstGeom>
          <a:solidFill>
            <a:srgbClr val="E3F2FD"/>
          </a:solidFill>
          <a:ln w="1016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75320" y="294436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565C0"/>
                </a:solidFill>
                <a:latin typeface="Courier New"/>
              </a:rPr>
              <a:t>VD4031  →  horas_c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5320" y="3383280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Calibri"/>
              </a:rPr>
              <a:t>Total de horas efetivamente
trabalhadas (centralizada)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44348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16161"/>
                </a:solidFill>
                <a:latin typeface="Calibri"/>
              </a:rPr>
              <a:t>Estratégia: leitura seletiva dos ZIPs originais (≈8,4 GB) — sem re-download.
Join por chave composta (Ano+Trimestre+UPA+V1008+V2003) → taxa NA = 0% na amostra de trabalho.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F38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37160" y="662940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BDEFB"/>
                </a:solidFill>
                <a:latin typeface="Calibri"/>
              </a:rPr>
              <a:t>Ricardo Calheiros  |  MBA USP/ESALQ  |  Racismo Estrutural e Mercado de Trabalho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704320" y="66294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FFFFFF"/>
                </a:solidFill>
                <a:latin typeface="Calibri"/>
              </a:rPr>
              <a:t>3/28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8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3. Análise Descritiva — A Desigualdade nos Dados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BDEFB"/>
                </a:solidFill>
                <a:latin typeface="Calibri"/>
              </a:rPr>
              <a:t>Gap mediano bruto de 27,5% | 7,7 milhões de empregados com renda positiva | PNAD Contínua 2016–2025</a:t>
            </a:r>
          </a:p>
        </p:txBody>
      </p:sp>
      <p:pic>
        <p:nvPicPr>
          <p:cNvPr id="5" name="Picture 4" descr="fig1_densidade_log_salar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5852160" cy="411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0" y="109728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3864"/>
                </a:solidFill>
                <a:latin typeface="Calibri"/>
              </a:rPr>
              <a:t>O que os números dizem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600200"/>
            <a:ext cx="2651760" cy="1188720"/>
          </a:xfrm>
          <a:prstGeom prst="rect">
            <a:avLst/>
          </a:prstGeom>
          <a:solidFill>
            <a:srgbClr val="F5F5F5"/>
          </a:solidFill>
          <a:ln w="1270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6459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16161"/>
                </a:solidFill>
                <a:latin typeface="Calibri"/>
              </a:rPr>
              <a:t>Gap mediano bruto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92024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B71C1C"/>
                </a:solidFill>
                <a:latin typeface="Calibri"/>
              </a:rPr>
              <a:t>27,5%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44144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16161"/>
                </a:solidFill>
                <a:latin typeface="Calibri"/>
              </a:rPr>
              <a:t>brancos R$2.000 vs negros R$1.450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235440" y="1600200"/>
            <a:ext cx="2834640" cy="1188720"/>
          </a:xfrm>
          <a:prstGeom prst="rect">
            <a:avLst/>
          </a:prstGeom>
          <a:solidFill>
            <a:srgbClr val="F5F5F5"/>
          </a:solidFill>
          <a:ln w="1270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0" y="164592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16161"/>
                </a:solidFill>
                <a:latin typeface="Calibri"/>
              </a:rPr>
              <a:t>Gap na média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0" y="192024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B71C1C"/>
                </a:solidFill>
                <a:latin typeface="Calibri"/>
              </a:rPr>
              <a:t>37,5%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0" y="244144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16161"/>
                </a:solidFill>
                <a:latin typeface="Calibri"/>
              </a:rPr>
              <a:t>brancos R$3.256 vs negros R$2.040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2880360"/>
            <a:ext cx="2651760" cy="1188720"/>
          </a:xfrm>
          <a:prstGeom prst="rect">
            <a:avLst/>
          </a:prstGeom>
          <a:solidFill>
            <a:srgbClr val="F5F5F5"/>
          </a:solidFill>
          <a:ln w="1270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292608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16161"/>
                </a:solidFill>
                <a:latin typeface="Calibri"/>
              </a:rPr>
              <a:t>Gap log-renda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20040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B71C1C"/>
                </a:solidFill>
                <a:latin typeface="Calibri"/>
              </a:rPr>
              <a:t>42,0%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72160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16161"/>
                </a:solidFill>
                <a:latin typeface="Calibri"/>
              </a:rPr>
              <a:t>equivalente em renda esperada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35440" y="2880360"/>
            <a:ext cx="2834640" cy="1188720"/>
          </a:xfrm>
          <a:prstGeom prst="rect">
            <a:avLst/>
          </a:prstGeom>
          <a:solidFill>
            <a:srgbClr val="F5F5F5"/>
          </a:solidFill>
          <a:ln w="1270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0" y="292608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16161"/>
                </a:solidFill>
                <a:latin typeface="Calibri"/>
              </a:rPr>
              <a:t>Formal (brancos/neg.)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320040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8F00"/>
                </a:solidFill>
                <a:latin typeface="Calibri"/>
              </a:rPr>
              <a:t>53%/48%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0" y="372160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16161"/>
                </a:solidFill>
                <a:latin typeface="Calibri"/>
              </a:rPr>
              <a:t>5 p.p. a menos de emprego formal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4206240"/>
            <a:ext cx="5577840" cy="1417320"/>
          </a:xfrm>
          <a:prstGeom prst="rect">
            <a:avLst/>
          </a:prstGeom>
          <a:solidFill>
            <a:srgbClr val="E3F2FD"/>
          </a:solidFill>
          <a:ln w="1016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425196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864"/>
                </a:solidFill>
                <a:latin typeface="Calibri"/>
              </a:rPr>
              <a:t>Interpretação da curva de densidade: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461772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212121"/>
                </a:solidFill>
                <a:latin typeface="Calibri"/>
              </a:rPr>
              <a:t>▸  Curva vermelha (negros) deslocada à esquerda ao longo de toda a distribuição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212121"/>
                </a:solidFill>
                <a:latin typeface="Calibri"/>
              </a:rPr>
              <a:t>▸  Linhas tracejadas = médias de log-renda de cada grupo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212121"/>
                </a:solidFill>
                <a:latin typeface="Calibri"/>
              </a:rPr>
              <a:t>▸  O deslocamento é estrutural — não se concentra em nenhuma faixa específica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5349240"/>
            <a:ext cx="11612880" cy="411480"/>
          </a:xfrm>
          <a:prstGeom prst="rect">
            <a:avLst/>
          </a:prstGeom>
          <a:solidFill>
            <a:srgbClr val="FFEBEE"/>
          </a:solidFill>
          <a:ln w="10160">
            <a:solidFill>
              <a:srgbClr val="B7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53949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B71C1C"/>
                </a:solidFill>
                <a:latin typeface="Calibri"/>
              </a:rPr>
              <a:t>O gap persiste em TODOS os níveis educacionais — inclusive pós-graduação (19,1%). Educação é condição necessária, mas não suficiente para eliminar a desigualdade racial.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F38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7160" y="662940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BDEFB"/>
                </a:solidFill>
                <a:latin typeface="Calibri"/>
              </a:rPr>
              <a:t>Ricardo Calheiros  |  MBA USP/ESALQ  |  Racismo Estrutural e Mercado de Trabalho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704320" y="66294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FFFFFF"/>
                </a:solidFill>
                <a:latin typeface="Calibri"/>
              </a:rPr>
              <a:t>4/28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8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4. Arquitetura Metodológica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BDEFB"/>
                </a:solidFill>
                <a:latin typeface="Calibri"/>
              </a:rPr>
              <a:t>5 metodologias complementares — convergência de evidências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143000"/>
            <a:ext cx="2240280" cy="4389120"/>
          </a:xfrm>
          <a:prstGeom prst="rect">
            <a:avLst/>
          </a:prstGeom>
          <a:solidFill>
            <a:srgbClr val="F5F5F5"/>
          </a:solidFill>
          <a:ln w="1905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1143000"/>
            <a:ext cx="2240280" cy="457200"/>
          </a:xfrm>
          <a:prstGeom prst="rect">
            <a:avLst/>
          </a:prstGeom>
          <a:solidFill>
            <a:srgbClr val="1F38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170432"/>
            <a:ext cx="2057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HLM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691640"/>
            <a:ext cx="2057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212121"/>
                </a:solidFill>
                <a:latin typeface="Calibri"/>
              </a:rPr>
              <a:t>Modelos Hierárquicos
Lineares (3 níveis)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2606040"/>
            <a:ext cx="2057400" cy="18288"/>
          </a:xfrm>
          <a:prstGeom prst="rect">
            <a:avLst/>
          </a:prstGeom>
          <a:solidFill>
            <a:srgbClr val="1F38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2697480"/>
            <a:ext cx="2057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F3864"/>
                </a:solidFill>
                <a:latin typeface="Calibri"/>
              </a:rPr>
              <a:t>Gap médio e
mediação contextual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06040" y="1143000"/>
            <a:ext cx="2240280" cy="4389120"/>
          </a:xfrm>
          <a:prstGeom prst="rect">
            <a:avLst/>
          </a:prstGeom>
          <a:solidFill>
            <a:srgbClr val="F5F5F5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606040" y="1143000"/>
            <a:ext cx="2240280" cy="457200"/>
          </a:xfrm>
          <a:prstGeom prst="rect">
            <a:avLst/>
          </a:prstGeom>
          <a:solidFill>
            <a:srgbClr val="1565C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97480" y="1170432"/>
            <a:ext cx="2057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ML/SHAP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91640"/>
            <a:ext cx="2057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212121"/>
                </a:solidFill>
                <a:latin typeface="Calibri"/>
              </a:rPr>
              <a:t>XGBoost + Random Forest
+ SHAP Values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97480" y="2606040"/>
            <a:ext cx="2057400" cy="18288"/>
          </a:xfrm>
          <a:prstGeom prst="rect">
            <a:avLst/>
          </a:prstGeom>
          <a:solidFill>
            <a:srgbClr val="1565C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97480" y="2697480"/>
            <a:ext cx="2057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565C0"/>
                </a:solidFill>
                <a:latin typeface="Calibri"/>
              </a:rPr>
              <a:t>Importância e
direção das variáveis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83480" y="1143000"/>
            <a:ext cx="2240280" cy="4389120"/>
          </a:xfrm>
          <a:prstGeom prst="rect">
            <a:avLst/>
          </a:prstGeom>
          <a:solidFill>
            <a:srgbClr val="F5F5F5"/>
          </a:solidFill>
          <a:ln w="19050">
            <a:solidFill>
              <a:srgbClr val="B7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983480" y="1143000"/>
            <a:ext cx="2240280" cy="457200"/>
          </a:xfrm>
          <a:prstGeom prst="rect">
            <a:avLst/>
          </a:prstGeom>
          <a:solidFill>
            <a:srgbClr val="B71C1C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74920" y="1170432"/>
            <a:ext cx="2057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Oaxaca-Blinder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74920" y="1691640"/>
            <a:ext cx="2057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212121"/>
                </a:solidFill>
                <a:latin typeface="Calibri"/>
              </a:rPr>
              <a:t>Decomposição do gap
em dotações vs retornos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74920" y="2606040"/>
            <a:ext cx="2057400" cy="18288"/>
          </a:xfrm>
          <a:prstGeom prst="rect">
            <a:avLst/>
          </a:prstGeom>
          <a:solidFill>
            <a:srgbClr val="B71C1C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74920" y="2697480"/>
            <a:ext cx="2057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B71C1C"/>
                </a:solidFill>
                <a:latin typeface="Calibri"/>
              </a:rPr>
              <a:t>ONDE opera
a discriminação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60920" y="1143000"/>
            <a:ext cx="2240280" cy="4389120"/>
          </a:xfrm>
          <a:prstGeom prst="rect">
            <a:avLst/>
          </a:prstGeom>
          <a:solidFill>
            <a:srgbClr val="F5F5F5"/>
          </a:solidFill>
          <a:ln w="1905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60920" y="1143000"/>
            <a:ext cx="2240280" cy="457200"/>
          </a:xfrm>
          <a:prstGeom prst="rect">
            <a:avLst/>
          </a:prstGeom>
          <a:solidFill>
            <a:srgbClr val="FF8F0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52360" y="1170432"/>
            <a:ext cx="2057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Logit Multinível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52360" y="1691640"/>
            <a:ext cx="2057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212121"/>
                </a:solidFill>
                <a:latin typeface="Calibri"/>
              </a:rPr>
              <a:t>Regressão logística
com estrutura multinível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452360" y="2606040"/>
            <a:ext cx="2057400" cy="18288"/>
          </a:xfrm>
          <a:prstGeom prst="rect">
            <a:avLst/>
          </a:prstGeom>
          <a:solidFill>
            <a:srgbClr val="FF8F0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52360" y="2697480"/>
            <a:ext cx="2057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8F00"/>
                </a:solidFill>
                <a:latin typeface="Calibri"/>
              </a:rPr>
              <a:t>Gap de ACESSO
a oportunidades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738360" y="1143000"/>
            <a:ext cx="2240280" cy="4389120"/>
          </a:xfrm>
          <a:prstGeom prst="rect">
            <a:avLst/>
          </a:prstGeom>
          <a:solidFill>
            <a:srgbClr val="F5F5F5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738360" y="1143000"/>
            <a:ext cx="2240280" cy="457200"/>
          </a:xfrm>
          <a:prstGeom prst="rect">
            <a:avLst/>
          </a:prstGeom>
          <a:solidFill>
            <a:srgbClr val="2E7D32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829800" y="1170432"/>
            <a:ext cx="2057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Reg. Quantílica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29800" y="1691640"/>
            <a:ext cx="2057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212121"/>
                </a:solidFill>
                <a:latin typeface="Calibri"/>
              </a:rPr>
              <a:t>Gap por quantil
da distribuição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829800" y="2606040"/>
            <a:ext cx="2057400" cy="18288"/>
          </a:xfrm>
          <a:prstGeom prst="rect">
            <a:avLst/>
          </a:prstGeom>
          <a:solidFill>
            <a:srgbClr val="2E7D32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829800" y="2697480"/>
            <a:ext cx="2057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E7D32"/>
                </a:solidFill>
                <a:latin typeface="Calibri"/>
              </a:rPr>
              <a:t>Glass Ceiling
formal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" y="5577840"/>
            <a:ext cx="1161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F3864"/>
                </a:solidFill>
                <a:latin typeface="Calibri"/>
              </a:rPr>
              <a:t>↓ Convergência dos 5 métodos = robustez diagnóstica ↓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5623560"/>
            <a:ext cx="11612880" cy="457200"/>
          </a:xfrm>
          <a:prstGeom prst="rect">
            <a:avLst/>
          </a:prstGeom>
          <a:solidFill>
            <a:srgbClr val="E8EAF0"/>
          </a:solidFill>
          <a:ln w="635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" y="56692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F3864"/>
                </a:solidFill>
                <a:latin typeface="Calibri"/>
              </a:rPr>
              <a:t>Discriminação de ACESSO (logit) + Discriminação de REMUNERAÇÃO (HLM + QR) + Exclusão de REDES (SNA)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F38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37160" y="662940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BDEFB"/>
                </a:solidFill>
                <a:latin typeface="Calibri"/>
              </a:rPr>
              <a:t>Ricardo Calheiros  |  MBA USP/ESALQ  |  Racismo Estrutural e Mercado de Trabalho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704320" y="66294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FFFFFF"/>
                </a:solidFill>
                <a:latin typeface="Calibri"/>
              </a:rPr>
              <a:t>5/28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8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5. HLM — Decomposição do Gap em Camadas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BDEFB"/>
                </a:solidFill>
                <a:latin typeface="Calibri"/>
              </a:rPr>
              <a:t>Do gap bruto de 19,3% ao resíduo de discriminação pura de 6,2%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10412272" cy="658368"/>
          </a:xfrm>
          <a:prstGeom prst="rect">
            <a:avLst/>
          </a:prstGeom>
          <a:solidFill>
            <a:srgbClr val="B71C1C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69472" y="1353312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B71C1C"/>
                </a:solidFill>
                <a:latin typeface="Calibri"/>
              </a:rPr>
              <a:t>19.3%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" y="1234440"/>
            <a:ext cx="1280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212121"/>
                </a:solidFill>
                <a:latin typeface="Calibri"/>
              </a:rPr>
              <a:t>Gap BRUTO
(M1)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92432" y="128016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16161"/>
                </a:solidFill>
                <a:latin typeface="Calibri"/>
              </a:rPr>
              <a:t>Sem controles contextuais
nem ocupacionais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075688"/>
            <a:ext cx="5179161" cy="658368"/>
          </a:xfrm>
          <a:prstGeom prst="rect">
            <a:avLst/>
          </a:prstGeom>
          <a:solidFill>
            <a:srgbClr val="1565C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36361" y="22402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565C0"/>
                </a:solidFill>
                <a:latin typeface="Calibri"/>
              </a:rPr>
              <a:t>9.6%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" y="2121408"/>
            <a:ext cx="1280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212121"/>
                </a:solidFill>
                <a:latin typeface="Calibri"/>
              </a:rPr>
              <a:t>Mediação UPA
(M2)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59321" y="2167128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16161"/>
                </a:solidFill>
                <a:latin typeface="Calibri"/>
              </a:rPr>
              <a:t>Local de moradia explica
52% do gap bruto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962656"/>
            <a:ext cx="5233111" cy="658368"/>
          </a:xfrm>
          <a:prstGeom prst="rect">
            <a:avLst/>
          </a:prstGeom>
          <a:solidFill>
            <a:srgbClr val="FF8F0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90311" y="3127248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8F00"/>
                </a:solidFill>
                <a:latin typeface="Calibri"/>
              </a:rPr>
              <a:t>9.7%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" y="3008376"/>
            <a:ext cx="1280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212121"/>
                </a:solidFill>
                <a:latin typeface="Calibri"/>
              </a:rPr>
              <a:t>Gap LÍQUIDO
(M3)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3271" y="3054096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16161"/>
                </a:solidFill>
                <a:latin typeface="Calibri"/>
              </a:rPr>
              <a:t>Após contexto UPA + UF FE
(discriminação residual)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849624"/>
            <a:ext cx="1888235" cy="658368"/>
          </a:xfrm>
          <a:prstGeom prst="rect">
            <a:avLst/>
          </a:prstGeom>
          <a:solidFill>
            <a:srgbClr val="2E7D32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345436" y="401421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E7D32"/>
                </a:solidFill>
                <a:latin typeface="Calibri"/>
              </a:rPr>
              <a:t>3.5%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" y="3895344"/>
            <a:ext cx="1280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212121"/>
                </a:solidFill>
                <a:latin typeface="Calibri"/>
              </a:rPr>
              <a:t>Mediação Ocp.
(M4)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68396" y="3941064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16161"/>
                </a:solidFill>
                <a:latin typeface="Calibri"/>
              </a:rPr>
              <a:t>CBO + formalidade + horas
explicam mais 18,1%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736592"/>
            <a:ext cx="3344875" cy="658368"/>
          </a:xfrm>
          <a:prstGeom prst="rect">
            <a:avLst/>
          </a:prstGeom>
          <a:solidFill>
            <a:srgbClr val="B71C1C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02075" y="4901184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B71C1C"/>
                </a:solidFill>
                <a:latin typeface="Calibri"/>
              </a:rPr>
              <a:t>6.2%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" y="4782312"/>
            <a:ext cx="1280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212121"/>
                </a:solidFill>
                <a:latin typeface="Calibri"/>
              </a:rPr>
              <a:t>Gap PURO
(M4)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25035" y="4828032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16161"/>
                </a:solidFill>
                <a:latin typeface="Calibri"/>
              </a:rPr>
              <a:t>Discriminação residual
pós-ocupação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5806440"/>
            <a:ext cx="10972800" cy="457200"/>
          </a:xfrm>
          <a:prstGeom prst="rect">
            <a:avLst/>
          </a:prstGeom>
          <a:solidFill>
            <a:srgbClr val="FFF9E7"/>
          </a:solidFill>
          <a:ln w="1270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585216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F3864"/>
                </a:solidFill>
                <a:latin typeface="Calibri"/>
              </a:rPr>
              <a:t>Achado central: 70,0% do gap é explicado por mediação contextual (UPA) e ocupacional — mas 6,2% persiste como discriminação de remuneração pura.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F38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7160" y="662940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BDEFB"/>
                </a:solidFill>
                <a:latin typeface="Calibri"/>
              </a:rPr>
              <a:t>Ricardo Calheiros  |  MBA USP/ESALQ  |  Racismo Estrutural e Mercado de Trabalho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704320" y="66294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FFFFFF"/>
                </a:solidFill>
                <a:latin typeface="Calibri"/>
              </a:rPr>
              <a:t>6/28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8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6. Composição Ocupacional — Onde Estão Negros e Brancos?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BDEFB"/>
                </a:solidFill>
                <a:latin typeface="Calibri"/>
              </a:rPr>
              <a:t>Sub-representação sistemática nos grupos de alto prestígio</a:t>
            </a:r>
          </a:p>
        </p:txBody>
      </p:sp>
      <p:pic>
        <p:nvPicPr>
          <p:cNvPr id="5" name="Picture 4" descr="comp_razao_grupo_cb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5943600" cy="1848010"/>
          </a:xfrm>
          <a:prstGeom prst="rect">
            <a:avLst/>
          </a:prstGeom>
        </p:spPr>
      </p:pic>
      <p:pic>
        <p:nvPicPr>
          <p:cNvPr id="6" name="Picture 5" descr="comp_representacao_top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097280"/>
            <a:ext cx="5486400" cy="1950779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74320" y="5303520"/>
            <a:ext cx="11612880" cy="548640"/>
          </a:xfrm>
          <a:prstGeom prst="rect">
            <a:avLst/>
          </a:prstGeom>
          <a:solidFill>
            <a:srgbClr val="FFEBEE"/>
          </a:solidFill>
          <a:ln w="10160">
            <a:solidFill>
              <a:srgbClr val="B7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534924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B71C1C"/>
                </a:solidFill>
                <a:latin typeface="Calibri"/>
              </a:rPr>
              <a:t>Dirigentes: apenas 42 negros por 100 brancos na mesma função  |  Top 5% das capitais: IR = 0,47 (negros são 47% do esperado)  |  Elementares: 2,12× mais negros que brancos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F38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" y="662940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BDEFB"/>
                </a:solidFill>
                <a:latin typeface="Calibri"/>
              </a:rPr>
              <a:t>Ricardo Calheiros  |  MBA USP/ESALQ  |  Racismo Estrutural e Mercado de Trabalho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04320" y="66294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FFFFFF"/>
                </a:solidFill>
                <a:latin typeface="Calibri"/>
              </a:rPr>
              <a:t>7/28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8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7. Oaxaca-Blinder — Onde Opera a Discriminação?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BDEFB"/>
                </a:solidFill>
                <a:latin typeface="Calibri"/>
              </a:rPr>
              <a:t>Gap total 53,0% | 84% explicado por diferenças nas características dos trabalhadores</a:t>
            </a:r>
          </a:p>
        </p:txBody>
      </p:sp>
      <p:pic>
        <p:nvPicPr>
          <p:cNvPr id="5" name="Picture 4" descr="oaxaca_decomposica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6858000" cy="240145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406640" y="1097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3864"/>
                </a:solidFill>
                <a:latin typeface="Calibri"/>
              </a:rPr>
              <a:t>Interpretação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06640" y="155448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1565C0"/>
                </a:solidFill>
                <a:latin typeface="Calibri"/>
              </a:rPr>
              <a:t>▸  </a:t>
            </a:r>
            <a:r>
              <a:rPr sz="1300">
                <a:solidFill>
                  <a:srgbClr val="212121"/>
                </a:solidFill>
                <a:latin typeface="Calibri"/>
              </a:rPr>
              <a:t>84% = Efeito DOTAÇÕES
Negros têm menor acesso a ocupações de prestígio, emprego formal, mais horas em subemprego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1565C0"/>
                </a:solidFill>
                <a:latin typeface="Calibri"/>
              </a:rPr>
              <a:t>▸  </a:t>
            </a:r>
            <a:r>
              <a:rPr sz="1300">
                <a:solidFill>
                  <a:srgbClr val="212121"/>
                </a:solidFill>
                <a:latin typeface="Calibri"/>
              </a:rPr>
              <a:t>16% = Efeito RETORNOS
O mercado remunera as mesmas características a taxas diferentes por raça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1565C0"/>
                </a:solidFill>
                <a:latin typeface="Calibri"/>
              </a:rPr>
              <a:t>▸  </a:t>
            </a:r>
            <a:r>
              <a:rPr sz="1300">
                <a:solidFill>
                  <a:srgbClr val="212121"/>
                </a:solidFill>
                <a:latin typeface="Calibri"/>
              </a:rPr>
              <a:t>Conclusão: discriminação opera primariamente no ACESSO, não no salário dentro da função</a:t>
            </a:r>
          </a:p>
        </p:txBody>
      </p:sp>
      <p:sp>
        <p:nvSpPr>
          <p:cNvPr id="8" name="Rectangle 7"/>
          <p:cNvSpPr/>
          <p:nvPr/>
        </p:nvSpPr>
        <p:spPr>
          <a:xfrm>
            <a:off x="7406640" y="4937760"/>
            <a:ext cx="4572000" cy="914400"/>
          </a:xfrm>
          <a:prstGeom prst="rect">
            <a:avLst/>
          </a:prstGeom>
          <a:solidFill>
            <a:srgbClr val="E3F2FD"/>
          </a:solidFill>
          <a:ln w="1016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43800" y="498348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565C0"/>
                </a:solidFill>
                <a:latin typeface="Calibri"/>
              </a:rPr>
              <a:t>Implicação de política: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43800" y="5276088"/>
            <a:ext cx="4297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Calibri"/>
              </a:rPr>
              <a:t>Combater APENAS desigualdade salarial é insuficiente. É preciso atacar as barreiras de ACESSO a ocupações qualificadas.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F38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" y="662940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BDEFB"/>
                </a:solidFill>
                <a:latin typeface="Calibri"/>
              </a:rPr>
              <a:t>Ricardo Calheiros  |  MBA USP/ESALQ  |  Racismo Estrutural e Mercado de Trabalho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04320" y="66294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FFFFFF"/>
                </a:solidFill>
                <a:latin typeface="Calibri"/>
              </a:rPr>
              <a:t>8/28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8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8. Gap por Subgrupo e Ciclo de Vida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BDEFB"/>
                </a:solidFill>
                <a:latin typeface="Calibri"/>
              </a:rPr>
              <a:t>Regressão Mincer com controles progressivos + curva de ciclo de vida racial</a:t>
            </a:r>
          </a:p>
        </p:txBody>
      </p:sp>
      <p:pic>
        <p:nvPicPr>
          <p:cNvPr id="5" name="Picture 4" descr="fig4_gap_faixa_etar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5669280" cy="411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17920" y="109728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3864"/>
                </a:solidFill>
                <a:latin typeface="Calibri"/>
              </a:rPr>
              <a:t>Regressões Mincer progressivas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572768"/>
            <a:ext cx="5760720" cy="685800"/>
          </a:xfrm>
          <a:prstGeom prst="rect">
            <a:avLst/>
          </a:prstGeom>
          <a:solidFill>
            <a:srgbClr val="FFEBEE"/>
          </a:solidFill>
          <a:ln w="10160">
            <a:solidFill>
              <a:srgbClr val="B7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609344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Calibri"/>
              </a:rPr>
              <a:t>M1 — Só raça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1609344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B71C1C"/>
                </a:solidFill>
                <a:latin typeface="Calibri"/>
              </a:rPr>
              <a:t>−23,1%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2322576"/>
            <a:ext cx="5760720" cy="685800"/>
          </a:xfrm>
          <a:prstGeom prst="rect">
            <a:avLst/>
          </a:prstGeom>
          <a:solidFill>
            <a:srgbClr val="FFEBEE"/>
          </a:solidFill>
          <a:ln w="10160">
            <a:solidFill>
              <a:srgbClr val="B7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2359152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Calibri"/>
              </a:rPr>
              <a:t>M2 — + Sexo, educ., experiência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2359152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B71C1C"/>
                </a:solidFill>
                <a:latin typeface="Calibri"/>
              </a:rPr>
              <a:t>−22,3%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3072384"/>
            <a:ext cx="5760720" cy="685800"/>
          </a:xfrm>
          <a:prstGeom prst="rect">
            <a:avLst/>
          </a:prstGeom>
          <a:solidFill>
            <a:srgbClr val="FFF9E7"/>
          </a:solidFill>
          <a:ln w="1016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310896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Calibri"/>
              </a:rPr>
              <a:t>M3 — + Efeitos fixos de UF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310896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FF8F00"/>
                </a:solidFill>
                <a:latin typeface="Calibri"/>
              </a:rPr>
              <a:t>−7,9%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3822192"/>
            <a:ext cx="5760720" cy="685800"/>
          </a:xfrm>
          <a:prstGeom prst="rect">
            <a:avLst/>
          </a:prstGeom>
          <a:solidFill>
            <a:srgbClr val="FFF9E7"/>
          </a:solidFill>
          <a:ln w="1016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385876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Calibri"/>
              </a:rPr>
              <a:t>M4 — + Horas, formal, setor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3858768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FF8F00"/>
                </a:solidFill>
                <a:latin typeface="Calibri"/>
              </a:rPr>
              <a:t>−7,0%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4572000"/>
            <a:ext cx="5760720" cy="685800"/>
          </a:xfrm>
          <a:prstGeom prst="rect">
            <a:avLst/>
          </a:prstGeom>
          <a:solidFill>
            <a:srgbClr val="E8F5E9"/>
          </a:solidFill>
          <a:ln w="1016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4608576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Calibri"/>
              </a:rPr>
              <a:t>M5 — + Ocupação CBO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4608576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2E7D32"/>
                </a:solidFill>
                <a:latin typeface="Calibri"/>
              </a:rPr>
              <a:t>−6,2%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5349240"/>
            <a:ext cx="11612880" cy="822960"/>
          </a:xfrm>
          <a:prstGeom prst="rect">
            <a:avLst/>
          </a:prstGeom>
          <a:solidFill>
            <a:srgbClr val="E3F2FD"/>
          </a:solidFill>
          <a:ln w="1016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539496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F3864"/>
                </a:solidFill>
                <a:latin typeface="Calibri"/>
              </a:rPr>
              <a:t>Ciclo de vida: gap de 9,1% (14–24 anos) cresce para 37,5% (35–44 anos) — a barreira racial se aprofunda ao longo da carreira.  |  Interação negro×experiência (β=−0,0019, p&lt;0,001): o retorno à senioridade é menor para negros — glass ceiling de progressão longitudinal confirmado.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F38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7160" y="662940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BDEFB"/>
                </a:solidFill>
                <a:latin typeface="Calibri"/>
              </a:rPr>
              <a:t>Ricardo Calheiros  |  MBA USP/ESALQ  |  Racismo Estrutural e Mercado de Trabalho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704320" y="66294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FFFFFF"/>
                </a:solidFill>
                <a:latin typeface="Calibri"/>
              </a:rPr>
              <a:t>9/28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8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9. Logit Multinível — Gap de Oportunidades Racial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BDEFB"/>
                </a:solidFill>
                <a:latin typeface="Calibri"/>
              </a:rPr>
              <a:t>GLMM lme4 com efeito aleatório de UPA — discriminação de ACESSO confirmada (n=7,7M, 40,9k UPAs)</a:t>
            </a:r>
          </a:p>
        </p:txBody>
      </p:sp>
      <p:pic>
        <p:nvPicPr>
          <p:cNvPr id="5" name="Picture 4" descr="glmm_odds_ratios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6400800" cy="3733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949440" y="1097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3864"/>
                </a:solidFill>
                <a:latin typeface="Calibri"/>
              </a:rPr>
              <a:t>Resultados-chave (GLMM)</a:t>
            </a:r>
          </a:p>
        </p:txBody>
      </p:sp>
      <p:sp>
        <p:nvSpPr>
          <p:cNvPr id="7" name="Rectangle 6"/>
          <p:cNvSpPr/>
          <p:nvPr/>
        </p:nvSpPr>
        <p:spPr>
          <a:xfrm>
            <a:off x="6949440" y="1554480"/>
            <a:ext cx="4937760" cy="822960"/>
          </a:xfrm>
          <a:prstGeom prst="rect">
            <a:avLst/>
          </a:prstGeom>
          <a:solidFill>
            <a:srgbClr val="F5F5F5"/>
          </a:solidFill>
          <a:ln w="12700">
            <a:solidFill>
              <a:srgbClr val="B7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86600" y="158191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B71C1C"/>
                </a:solidFill>
                <a:latin typeface="Calibri"/>
              </a:rPr>
              <a:t>OR = 0,674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1581912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16161"/>
                </a:solidFill>
                <a:latin typeface="Calibri"/>
              </a:rPr>
              <a:t>Ocupação qualificada
(M1 — só ind. + UPA RE)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49440" y="2560320"/>
            <a:ext cx="4937760" cy="822960"/>
          </a:xfrm>
          <a:prstGeom prst="rect">
            <a:avLst/>
          </a:prstGeom>
          <a:solidFill>
            <a:srgbClr val="F5F5F5"/>
          </a:solidFill>
          <a:ln w="1270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6600" y="258775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8F00"/>
                </a:solidFill>
                <a:latin typeface="Calibri"/>
              </a:rPr>
              <a:t>OR = 0,691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0" y="2587752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16161"/>
                </a:solidFill>
                <a:latin typeface="Calibri"/>
              </a:rPr>
              <a:t>Ocupação qualificada
(M2 — +contexto UPA)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949440" y="3566160"/>
            <a:ext cx="4937760" cy="822960"/>
          </a:xfrm>
          <a:prstGeom prst="rect">
            <a:avLst/>
          </a:prstGeom>
          <a:solidFill>
            <a:srgbClr val="F5F5F5"/>
          </a:solidFill>
          <a:ln w="12700">
            <a:solidFill>
              <a:srgbClr val="B7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86600" y="359359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B71C1C"/>
                </a:solidFill>
                <a:latin typeface="Calibri"/>
              </a:rPr>
              <a:t>AME = −5,16 p.p.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0" y="3593592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16161"/>
                </a:solidFill>
                <a:latin typeface="Calibri"/>
              </a:rPr>
              <a:t>Gap pós-controles individuais
(M1 — sem contexto UPA)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49440" y="4572000"/>
            <a:ext cx="4937760" cy="822960"/>
          </a:xfrm>
          <a:prstGeom prst="rect">
            <a:avLst/>
          </a:prstGeom>
          <a:solidFill>
            <a:srgbClr val="F5F5F5"/>
          </a:solidFill>
          <a:ln w="12700">
            <a:solidFill>
              <a:srgbClr val="B7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86600" y="459943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B71C1C"/>
                </a:solidFill>
                <a:latin typeface="Calibri"/>
              </a:rPr>
              <a:t>AME = −4,84 p.p.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0" y="4599432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16161"/>
                </a:solidFill>
                <a:latin typeface="Calibri"/>
              </a:rPr>
              <a:t>Gap residual c/ contexto UPA
(M2 — discriminação líquida)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949440" y="5623560"/>
            <a:ext cx="4937760" cy="548640"/>
          </a:xfrm>
          <a:prstGeom prst="rect">
            <a:avLst/>
          </a:prstGeom>
          <a:solidFill>
            <a:srgbClr val="FFEBEE"/>
          </a:solidFill>
          <a:ln w="10160">
            <a:solidFill>
              <a:srgbClr val="B7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86600" y="5669280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71C1C"/>
                </a:solidFill>
                <a:latin typeface="Calibri"/>
              </a:rPr>
              <a:t>Mesmo com educação, sexo, idade e local de moradia IDÊNTICOS, negros têm 30,9% menor odds de estar em ocupação qualificada (OR=0,691 GLMM M2).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F38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7160" y="662940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BDEFB"/>
                </a:solidFill>
                <a:latin typeface="Calibri"/>
              </a:rPr>
              <a:t>Ricardo Calheiros  |  MBA USP/ESALQ  |  Racismo Estrutural e Mercado de Trabalho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704320" y="66294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FFFFFF"/>
                </a:solidFill>
                <a:latin typeface="Calibri"/>
              </a:rPr>
              <a:t>10/28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8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10. Regressão Quantílica — Formalização do Glass Ceiling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BDEFB"/>
                </a:solidFill>
                <a:latin typeface="Calibri"/>
              </a:rPr>
              <a:t>O gap racial aumenta no topo da distribuição de renda — confirmação formal</a:t>
            </a:r>
          </a:p>
        </p:txBody>
      </p:sp>
      <p:pic>
        <p:nvPicPr>
          <p:cNvPr id="5" name="Picture 4" descr="quantreg_trajetor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6583680" cy="350968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132320" y="10972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3864"/>
                </a:solidFill>
                <a:latin typeface="Calibri"/>
              </a:rPr>
              <a:t>O que o gráfico mostra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0" y="1554480"/>
            <a:ext cx="4846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B71C1C"/>
                </a:solidFill>
                <a:latin typeface="Calibri"/>
              </a:rPr>
              <a:t>▸  </a:t>
            </a:r>
            <a:r>
              <a:rPr sz="1300">
                <a:solidFill>
                  <a:srgbClr val="212121"/>
                </a:solidFill>
                <a:latin typeface="Calibri"/>
              </a:rPr>
              <a:t>Eixo Y: gap racial em % (quanto negros ganham a menos)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B71C1C"/>
                </a:solidFill>
                <a:latin typeface="Calibri"/>
              </a:rPr>
              <a:t>▸  </a:t>
            </a:r>
            <a:r>
              <a:rPr sz="1300">
                <a:solidFill>
                  <a:srgbClr val="212121"/>
                </a:solidFill>
                <a:latin typeface="Calibri"/>
              </a:rPr>
              <a:t>Cada ponto: estimativa para aquele percentil da distribuição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B71C1C"/>
                </a:solidFill>
                <a:latin typeface="Calibri"/>
              </a:rPr>
              <a:t>▸  </a:t>
            </a:r>
            <a:r>
              <a:rPr sz="1300">
                <a:solidFill>
                  <a:srgbClr val="212121"/>
                </a:solidFill>
                <a:latin typeface="Calibri"/>
              </a:rPr>
              <a:t>Inclinação descendente = gap CRESCE no topo = Glass Ceiling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B71C1C"/>
                </a:solidFill>
                <a:latin typeface="Calibri"/>
              </a:rPr>
              <a:t>▸  </a:t>
            </a:r>
            <a:r>
              <a:rPr sz="1300">
                <a:solidFill>
                  <a:srgbClr val="212121"/>
                </a:solidFill>
                <a:latin typeface="Calibri"/>
              </a:rPr>
              <a:t>M3 vs M4: a diferença é a mediação ocupacional — maior no topo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B71C1C"/>
                </a:solidFill>
                <a:latin typeface="Calibri"/>
              </a:rPr>
              <a:t>▸  </a:t>
            </a:r>
            <a:r>
              <a:rPr sz="1300">
                <a:solidFill>
                  <a:srgbClr val="212121"/>
                </a:solidFill>
                <a:latin typeface="Calibri"/>
              </a:rPr>
              <a:t>No q95, mais da metade do gap é explicada pela exclusão de ocupações de alta remuneração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0" y="4572000"/>
            <a:ext cx="4846320" cy="1554480"/>
          </a:xfrm>
          <a:prstGeom prst="rect">
            <a:avLst/>
          </a:prstGeom>
          <a:solidFill>
            <a:srgbClr val="FFEBEE"/>
          </a:solidFill>
          <a:ln w="12700">
            <a:solidFill>
              <a:srgbClr val="B7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0" y="4663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B71C1C"/>
                </a:solidFill>
                <a:latin typeface="Calibri"/>
              </a:rPr>
              <a:t>Glass Ceiling Racial: confirmado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5029200"/>
            <a:ext cx="4480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Calibri"/>
              </a:rPr>
              <a:t>O gap não é uniforme — cresce sistematicamente quanto maior a remuneração. Isso significa que a barreira racial é mais intensa exatamente onde os prêmios de progressão são maiores.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F38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" y="662940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BDEFB"/>
                </a:solidFill>
                <a:latin typeface="Calibri"/>
              </a:rPr>
              <a:t>Ricardo Calheiros  |  MBA USP/ESALQ  |  Racismo Estrutural e Mercado de Trabalho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04320" y="66294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FFFFFF"/>
                </a:solidFill>
                <a:latin typeface="Calibri"/>
              </a:rPr>
              <a:t>11/28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8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11. RIF-OB — Sticky Floor Discriminatório vs. Glass Ceiling por Dotações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BDEFB"/>
                </a:solidFill>
                <a:latin typeface="Calibri"/>
              </a:rPr>
              <a:t>Firpo, Fortin &amp; Lemieux (2018) | N=7.694.198 | Decomposição incondicional por quantil</a:t>
            </a:r>
          </a:p>
        </p:txBody>
      </p:sp>
      <p:pic>
        <p:nvPicPr>
          <p:cNvPr id="5" name="Picture 4" descr="rif_ob_retornos_quant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6217920" cy="384943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0" y="10972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3864"/>
                </a:solidFill>
                <a:latin typeface="Calibri"/>
              </a:rPr>
              <a:t>O que a RIF-OB revela além da QR?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0" y="1572768"/>
            <a:ext cx="2176272" cy="384048"/>
          </a:xfrm>
          <a:prstGeom prst="rect">
            <a:avLst/>
          </a:prstGeom>
          <a:solidFill>
            <a:srgbClr val="1F38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581912"/>
            <a:ext cx="20848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Quantil</a:t>
            </a:r>
          </a:p>
        </p:txBody>
      </p:sp>
      <p:sp>
        <p:nvSpPr>
          <p:cNvPr id="9" name="Rectangle 8"/>
          <p:cNvSpPr/>
          <p:nvPr/>
        </p:nvSpPr>
        <p:spPr>
          <a:xfrm>
            <a:off x="9052560" y="1572768"/>
            <a:ext cx="1399032" cy="384048"/>
          </a:xfrm>
          <a:prstGeom prst="rect">
            <a:avLst/>
          </a:prstGeom>
          <a:solidFill>
            <a:srgbClr val="1F38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98280" y="1581912"/>
            <a:ext cx="13075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Dotações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469880" y="1572768"/>
            <a:ext cx="1399032" cy="384048"/>
          </a:xfrm>
          <a:prstGeom prst="rect">
            <a:avLst/>
          </a:prstGeom>
          <a:solidFill>
            <a:srgbClr val="1F38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0" y="1581912"/>
            <a:ext cx="13075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Retornos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0" y="1993392"/>
            <a:ext cx="5029200" cy="548640"/>
          </a:xfrm>
          <a:prstGeom prst="rect">
            <a:avLst/>
          </a:prstGeom>
          <a:solidFill>
            <a:srgbClr val="FFEBEE"/>
          </a:solidFill>
          <a:ln w="7620">
            <a:solidFill>
              <a:srgbClr val="B7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03720" y="2029968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Calibri"/>
              </a:rPr>
              <a:t>q10  (base)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0" y="2029968"/>
            <a:ext cx="1399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565C0"/>
                </a:solidFill>
                <a:latin typeface="Calibri"/>
              </a:rPr>
              <a:t>61,3%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69880" y="2029968"/>
            <a:ext cx="1399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B71C1C"/>
                </a:solidFill>
                <a:latin typeface="Calibri"/>
              </a:rPr>
              <a:t>33,1%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0" y="2587752"/>
            <a:ext cx="5029200" cy="548640"/>
          </a:xfrm>
          <a:prstGeom prst="rect">
            <a:avLst/>
          </a:prstGeom>
          <a:solidFill>
            <a:srgbClr val="F5F5F5"/>
          </a:solidFill>
          <a:ln w="7620">
            <a:solidFill>
              <a:srgbClr val="6161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03720" y="2624328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Calibri"/>
              </a:rPr>
              <a:t>q50  (mediana)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0" y="2624328"/>
            <a:ext cx="1399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565C0"/>
                </a:solidFill>
                <a:latin typeface="Calibri"/>
              </a:rPr>
              <a:t>57,4%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69880" y="2624328"/>
            <a:ext cx="1399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B71C1C"/>
                </a:solidFill>
                <a:latin typeface="Calibri"/>
              </a:rPr>
              <a:t>21,5%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0" y="3182112"/>
            <a:ext cx="5029200" cy="548640"/>
          </a:xfrm>
          <a:prstGeom prst="rect">
            <a:avLst/>
          </a:prstGeom>
          <a:solidFill>
            <a:srgbClr val="E3F2FD"/>
          </a:solidFill>
          <a:ln w="762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03720" y="3218688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Calibri"/>
              </a:rPr>
              <a:t>q90  (topo)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0" y="3218688"/>
            <a:ext cx="1399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565C0"/>
                </a:solidFill>
                <a:latin typeface="Calibri"/>
              </a:rPr>
              <a:t>75,8%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69880" y="3218688"/>
            <a:ext cx="1399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B71C1C"/>
                </a:solidFill>
                <a:latin typeface="Calibri"/>
              </a:rPr>
              <a:t>11,2%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3822191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B71C1C"/>
                </a:solidFill>
                <a:latin typeface="Calibri"/>
              </a:rPr>
              <a:t>▸  </a:t>
            </a:r>
            <a:r>
              <a:rPr sz="1300">
                <a:solidFill>
                  <a:srgbClr val="212121"/>
                </a:solidFill>
                <a:latin typeface="Calibri"/>
              </a:rPr>
              <a:t>Retornos DECLINAM: q10=33,1% → q90=11,2%  (Δ = −21,9 pp)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B71C1C"/>
                </a:solidFill>
                <a:latin typeface="Calibri"/>
              </a:rPr>
              <a:t>▸  </a:t>
            </a:r>
            <a:r>
              <a:rPr sz="1300">
                <a:solidFill>
                  <a:srgbClr val="212121"/>
                </a:solidFill>
                <a:latin typeface="Calibri"/>
              </a:rPr>
              <a:t>Dotações CRESCEM: q10=61,3% → q90=75,8%  (Δ = +14,4 pp)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B71C1C"/>
                </a:solidFill>
                <a:latin typeface="Calibri"/>
              </a:rPr>
              <a:t>▸  </a:t>
            </a:r>
            <a:r>
              <a:rPr sz="1300">
                <a:solidFill>
                  <a:srgbClr val="212121"/>
                </a:solidFill>
                <a:latin typeface="Calibri"/>
              </a:rPr>
              <a:t>Glass ceiling salarial causado por desvantagens PRÉ-MERCADO
(educação, redes, segregação residencial)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B71C1C"/>
                </a:solidFill>
                <a:latin typeface="Calibri"/>
              </a:rPr>
              <a:t>▸  </a:t>
            </a:r>
            <a:r>
              <a:rPr sz="1300">
                <a:solidFill>
                  <a:srgbClr val="212121"/>
                </a:solidFill>
                <a:latin typeface="Calibri"/>
              </a:rPr>
              <a:t>Não por discriminação crescente no topo da hierarquia salarial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5760720"/>
            <a:ext cx="11612880" cy="502920"/>
          </a:xfrm>
          <a:prstGeom prst="rect">
            <a:avLst/>
          </a:prstGeom>
          <a:solidFill>
            <a:srgbClr val="FFEBEE"/>
          </a:solidFill>
          <a:ln w="12700">
            <a:solidFill>
              <a:srgbClr val="B7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580644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864"/>
                </a:solidFill>
                <a:latin typeface="Calibri"/>
              </a:rPr>
              <a:t>Sticky Floor: discriminação de mercado é 3× mais intensa na base (q10=33,1%) do que no topo (q90=11,2%). Enforcement antidiscriminação ataca o q10; reformar dotações (acesso, redes) erode o glass ceiling no topo.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F38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7160" y="662940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BDEFB"/>
                </a:solidFill>
                <a:latin typeface="Calibri"/>
              </a:rPr>
              <a:t>Ricardo Calheiros  |  MBA USP/ESALQ  |  Racismo Estrutural e Mercado de Trabalho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704320" y="66294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FFFFFF"/>
                </a:solidFill>
                <a:latin typeface="Calibri"/>
              </a:rPr>
              <a:t>12/28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8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12. Interseccionalidade — OB em 4 Grupos (Crenshaw, 1989)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BDEFB"/>
                </a:solidFill>
                <a:latin typeface="Calibri"/>
              </a:rPr>
              <a:t>OB twofold vs. Homem Branco | N=2.357.851 | penalidade interseccional extra = +9,5 pp</a:t>
            </a:r>
          </a:p>
        </p:txBody>
      </p:sp>
      <p:pic>
        <p:nvPicPr>
          <p:cNvPr id="5" name="Picture 4" descr="interseccional_ob4grup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5943600" cy="293174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92240" y="109728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3864"/>
                </a:solidFill>
                <a:latin typeface="Calibri"/>
              </a:rPr>
              <a:t>Resultados OB 4 Grupos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92240" y="1572768"/>
            <a:ext cx="5394960" cy="1389888"/>
          </a:xfrm>
          <a:prstGeom prst="rect">
            <a:avLst/>
          </a:prstGeom>
          <a:solidFill>
            <a:srgbClr val="F5F5F5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92240" y="1572768"/>
            <a:ext cx="5394960" cy="438912"/>
          </a:xfrm>
          <a:prstGeom prst="rect">
            <a:avLst/>
          </a:prstGeom>
          <a:solidFill>
            <a:srgbClr val="1565C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01968" y="1600200"/>
            <a:ext cx="5166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Mulher Branca — gap 46,6%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01968" y="2084831"/>
            <a:ext cx="516636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Calibri"/>
              </a:rPr>
              <a:t>Retornos dominam: 109%
Discriminação de gênero pura
(dotações ligeiramente negativas: −8,9%)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0" y="3108960"/>
            <a:ext cx="5394960" cy="1389888"/>
          </a:xfrm>
          <a:prstGeom prst="rect">
            <a:avLst/>
          </a:prstGeom>
          <a:solidFill>
            <a:srgbClr val="F5F5F5"/>
          </a:solidFill>
          <a:ln w="19050">
            <a:solidFill>
              <a:srgbClr val="B7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92240" y="3108960"/>
            <a:ext cx="5394960" cy="438912"/>
          </a:xfrm>
          <a:prstGeom prst="rect">
            <a:avLst/>
          </a:prstGeom>
          <a:solidFill>
            <a:srgbClr val="B71C1C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01968" y="3136392"/>
            <a:ext cx="5166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Homem Negro — gap 40,3%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1968" y="3621023"/>
            <a:ext cx="516636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Calibri"/>
              </a:rPr>
              <a:t>Dotações dominam: 71%
Gap majoritariamente estrutural
(capital humano acumulado inferior)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92240" y="4645152"/>
            <a:ext cx="5394960" cy="1389888"/>
          </a:xfrm>
          <a:prstGeom prst="rect">
            <a:avLst/>
          </a:prstGeom>
          <a:solidFill>
            <a:srgbClr val="F5F5F5"/>
          </a:solidFill>
          <a:ln w="19050">
            <a:solidFill>
              <a:srgbClr val="6A00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92240" y="4645152"/>
            <a:ext cx="5394960" cy="438912"/>
          </a:xfrm>
          <a:prstGeom prst="rect">
            <a:avLst/>
          </a:prstGeom>
          <a:solidFill>
            <a:srgbClr val="6A008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1968" y="4672584"/>
            <a:ext cx="5166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Mulher Negra — gap 96,4%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01968" y="5157215"/>
            <a:ext cx="516636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Calibri"/>
              </a:rPr>
              <a:t>Penalidade interseccional extra: +9,5 pp
acima da soma Mulher Branca + Homem Negro
(Crenshaw, 1989 — confirmado empiricamente)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6199632"/>
            <a:ext cx="11612880" cy="512064"/>
          </a:xfrm>
          <a:prstGeom prst="rect">
            <a:avLst/>
          </a:prstGeom>
          <a:solidFill>
            <a:srgbClr val="E3F2FD"/>
          </a:solidFill>
          <a:ln w="1016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6245352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3864"/>
                </a:solidFill>
                <a:latin typeface="Calibri"/>
              </a:rPr>
              <a:t>HLM interseccional: β_neg×fem = +0,069 (p&lt;0,001) → penalidade combinada (−40,5%) &lt; soma isolada (−44,5%): as duas desvantagens competem pelo mesmo mecanismo de exclusão — efeito de compressão.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F38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7160" y="662940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BDEFB"/>
                </a:solidFill>
                <a:latin typeface="Calibri"/>
              </a:rPr>
              <a:t>Ricardo Calheiros  |  MBA USP/ESALQ  |  Racismo Estrutural e Mercado de Trabalho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704320" y="66294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FFFFFF"/>
                </a:solidFill>
                <a:latin typeface="Calibri"/>
              </a:rPr>
              <a:t>13/28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8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13. Sensibilidade — Konfound, E-values e Oster Bounds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BDEFB"/>
                </a:solidFill>
                <a:latin typeface="Calibri"/>
              </a:rPr>
              <a:t>3 métodos complementares — nenhum consegue anular o gap racial observado</a:t>
            </a:r>
          </a:p>
        </p:txBody>
      </p:sp>
      <p:pic>
        <p:nvPicPr>
          <p:cNvPr id="5" name="Picture 4" descr="sensibilidade_konfound_evalu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6217920" cy="237914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0" y="10972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3864"/>
                </a:solidFill>
                <a:latin typeface="Calibri"/>
              </a:rPr>
              <a:t>Resultados de robustez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0" y="1572768"/>
            <a:ext cx="5120640" cy="1051560"/>
          </a:xfrm>
          <a:prstGeom prst="rect">
            <a:avLst/>
          </a:prstGeom>
          <a:solidFill>
            <a:srgbClr val="F5F5F5"/>
          </a:solidFill>
          <a:ln w="1524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95160" y="1609344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F3864"/>
                </a:solidFill>
                <a:latin typeface="Calibri"/>
              </a:rPr>
              <a:t>Konfound HLM (Frank et al., 2013)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95160" y="1938528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212121"/>
                </a:solidFill>
                <a:latin typeface="Calibri"/>
              </a:rPr>
              <a:t>pkonfound: 99,5% (M1)  |  98,8% (M2/M3)  |  98,5% (M4)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5160" y="228600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616161"/>
                </a:solidFill>
                <a:latin typeface="Calibri"/>
              </a:rPr>
              <a:t>99,5% dos casos precisariam ser removidos para anular M1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0" y="2715768"/>
            <a:ext cx="5120640" cy="1051560"/>
          </a:xfrm>
          <a:prstGeom prst="rect">
            <a:avLst/>
          </a:prstGeom>
          <a:solidFill>
            <a:srgbClr val="F5F5F5"/>
          </a:solidFill>
          <a:ln w="1524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95160" y="2752344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8F00"/>
                </a:solidFill>
                <a:latin typeface="Calibri"/>
              </a:rPr>
              <a:t>OLS subestima robustez — Δ = 5,4–9,7 pp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3081528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212121"/>
                </a:solidFill>
                <a:latin typeface="Calibri"/>
              </a:rPr>
              <a:t>OLS: 91,5% / 93,5% / 88,7%  →  HLM: +7,9 / +5,4 / +9,7 pp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342900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616161"/>
                </a:solidFill>
                <a:latin typeface="Calibri"/>
              </a:rPr>
              <a:t>SEs OLS são 6–16× maiores: não captura clustering → robustez subestimada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0" y="3858768"/>
            <a:ext cx="5120640" cy="1051560"/>
          </a:xfrm>
          <a:prstGeom prst="rect">
            <a:avLst/>
          </a:prstGeom>
          <a:solidFill>
            <a:srgbClr val="F5F5F5"/>
          </a:solidFill>
          <a:ln w="15240">
            <a:solidFill>
              <a:srgbClr val="B7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95160" y="3895344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B71C1C"/>
                </a:solidFill>
                <a:latin typeface="Calibri"/>
              </a:rPr>
              <a:t>E-values GLMM lme4 (VanderWeele &amp; Ding, 2017)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95160" y="4224528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212121"/>
                </a:solidFill>
                <a:latin typeface="Calibri"/>
              </a:rPr>
              <a:t>E ≥ 2,331× (M1)  |  E ≥ 2,254× (M2)  para anular OR = 0,674 / 0,691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95160" y="457200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616161"/>
                </a:solidFill>
                <a:latin typeface="Calibri"/>
              </a:rPr>
              <a:t>Confounder precisaria ter associação ≥ 2,3× com raça E com ocupação — implausível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0" y="5001768"/>
            <a:ext cx="5120640" cy="1051560"/>
          </a:xfrm>
          <a:prstGeom prst="rect">
            <a:avLst/>
          </a:prstGeom>
          <a:solidFill>
            <a:srgbClr val="F5F5F5"/>
          </a:solidFill>
          <a:ln w="1524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95160" y="5038344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565C0"/>
                </a:solidFill>
                <a:latin typeface="Calibri"/>
              </a:rPr>
              <a:t>Oster Bounds OLS auxiliar (Oster, 2019)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95160" y="5367528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212121"/>
                </a:solidFill>
                <a:latin typeface="Calibri"/>
              </a:rPr>
              <a:t>δ* ∈ {−0,48; −0,43; −0,39} — todos negativos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95160" y="571500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616161"/>
                </a:solidFill>
                <a:latin typeface="Calibri"/>
              </a:rPr>
              <a:t>Omitidas precisariam agir na direção OPOSTA aos observáveis — impossível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F38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7160" y="662940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BDEFB"/>
                </a:solidFill>
                <a:latin typeface="Calibri"/>
              </a:rPr>
              <a:t>Ricardo Calheiros  |  MBA USP/ESALQ  |  Racismo Estrutural e Mercado de Trabalho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704320" y="66294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FFFFFF"/>
                </a:solidFill>
                <a:latin typeface="Calibri"/>
              </a:rPr>
              <a:t>14/28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8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14. Análises Temporais e Seleção — Chow, Heckman e Event Study COVID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BDEFB"/>
                </a:solidFill>
                <a:latin typeface="Calibri"/>
              </a:rPr>
              <a:t>Quebra estrutural 2020 | Seleção corrigida (Heckman) | COVID: convergência aparente de curto prazo</a:t>
            </a:r>
          </a:p>
        </p:txBody>
      </p:sp>
      <p:pic>
        <p:nvPicPr>
          <p:cNvPr id="5" name="Picture 4" descr="tendencia_tempor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3749039" cy="3200400"/>
          </a:xfrm>
          <a:prstGeom prst="rect">
            <a:avLst/>
          </a:prstGeom>
        </p:spPr>
      </p:pic>
      <p:pic>
        <p:nvPicPr>
          <p:cNvPr id="6" name="Picture 5" descr="heckman_seleca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1097280"/>
            <a:ext cx="3749039" cy="3200400"/>
          </a:xfrm>
          <a:prstGeom prst="rect">
            <a:avLst/>
          </a:prstGeom>
        </p:spPr>
      </p:pic>
      <p:pic>
        <p:nvPicPr>
          <p:cNvPr id="7" name="Picture 6" descr="event_study_covi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1097280"/>
            <a:ext cx="3657600" cy="32004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74320" y="4434840"/>
            <a:ext cx="3749039" cy="2103120"/>
          </a:xfrm>
          <a:prstGeom prst="rect">
            <a:avLst/>
          </a:prstGeom>
          <a:solidFill>
            <a:srgbClr val="F5F5F5"/>
          </a:solidFill>
          <a:ln w="1905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4434840"/>
            <a:ext cx="3749039" cy="438912"/>
          </a:xfrm>
          <a:prstGeom prst="rect">
            <a:avLst/>
          </a:prstGeom>
          <a:solidFill>
            <a:srgbClr val="FF8F0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4462272"/>
            <a:ext cx="352958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Chow test — Quebra 2020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4956048"/>
            <a:ext cx="3529584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Calibri"/>
              </a:rPr>
              <a:t>F(2,6) = 7,012   p = 0,027
Quebra estrutural detectada em 2020
Tendência geral: δ = 0,0008 log-pt/ano (estável, p=0,077)
Gap racial não convergiu espontaneamente em 10 anos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51959" y="4434840"/>
            <a:ext cx="3749039" cy="2103120"/>
          </a:xfrm>
          <a:prstGeom prst="rect">
            <a:avLst/>
          </a:prstGeom>
          <a:solidFill>
            <a:srgbClr val="F5F5F5"/>
          </a:solidFill>
          <a:ln w="19050">
            <a:solidFill>
              <a:srgbClr val="B7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51959" y="4434840"/>
            <a:ext cx="3749039" cy="438912"/>
          </a:xfrm>
          <a:prstGeom prst="rect">
            <a:avLst/>
          </a:prstGeom>
          <a:solidFill>
            <a:srgbClr val="B71C1C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61687" y="4462272"/>
            <a:ext cx="352958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Heckman — Correção de Seleção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61687" y="4956048"/>
            <a:ext cx="3529584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Calibri"/>
              </a:rPr>
              <a:t>OLS: gap = −9,71%
Heckman (com IMR): gap = −7,41%
Δ = +2,3 pp  |  λ = −1,985  (p &lt; 0,001)
OLS superestima gap: negros empregados aceitam
salários inferiores (seleção por tolerância)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598" y="4434840"/>
            <a:ext cx="3749039" cy="2103120"/>
          </a:xfrm>
          <a:prstGeom prst="rect">
            <a:avLst/>
          </a:prstGeom>
          <a:solidFill>
            <a:srgbClr val="F5F5F5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598" y="4434840"/>
            <a:ext cx="3749039" cy="438912"/>
          </a:xfrm>
          <a:prstGeom prst="rect">
            <a:avLst/>
          </a:prstGeom>
          <a:solidFill>
            <a:srgbClr val="1565C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39326" y="4462272"/>
            <a:ext cx="352958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Event Study COVID (DiD)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9326" y="4956048"/>
            <a:ext cx="3529584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Calibri"/>
              </a:rPr>
              <a:t>τ = +0,015  (SE = 0,007,  p = 0,025)
Negros sofreram MENOS com COVID
no curto prazo — convergência aparente
DiD corrigido: 0,015 vs. ingênuo: 0,023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F38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7160" y="662940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BDEFB"/>
                </a:solidFill>
                <a:latin typeface="Calibri"/>
              </a:rPr>
              <a:t>Ricardo Calheiros  |  MBA USP/ESALQ  |  Racismo Estrutural e Mercado de Trabalho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704320" y="66294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FFFFFF"/>
                </a:solidFill>
                <a:latin typeface="Calibri"/>
              </a:rPr>
              <a:t>15/28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8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15. ML/SHAP — O Que Mais Determina a Renda?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BDEFB"/>
                </a:solidFill>
                <a:latin typeface="Calibri"/>
              </a:rPr>
              <a:t>XGBoost R²=0,6162 | Horas + CBO + Formalidade emergem como top preditores</a:t>
            </a:r>
          </a:p>
        </p:txBody>
      </p:sp>
      <p:pic>
        <p:nvPicPr>
          <p:cNvPr id="5" name="Picture 4" descr="shap_importance_x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6217920" cy="460992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766560" y="10972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3864"/>
                </a:solidFill>
                <a:latin typeface="Calibri"/>
              </a:rPr>
              <a:t>Destaques com as novas variáveis</a:t>
            </a:r>
          </a:p>
        </p:txBody>
      </p:sp>
      <p:sp>
        <p:nvSpPr>
          <p:cNvPr id="7" name="Rectangle 6"/>
          <p:cNvSpPr/>
          <p:nvPr/>
        </p:nvSpPr>
        <p:spPr>
          <a:xfrm>
            <a:off x="6766560" y="1554480"/>
            <a:ext cx="5303520" cy="749808"/>
          </a:xfrm>
          <a:prstGeom prst="rect">
            <a:avLst/>
          </a:prstGeom>
          <a:solidFill>
            <a:srgbClr val="F5F5F5"/>
          </a:solidFill>
          <a:ln w="6350">
            <a:solidFill>
              <a:srgbClr val="6161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0" y="16002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565C0"/>
                </a:solidFill>
                <a:latin typeface="Calibri"/>
              </a:rPr>
              <a:t>#1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60920" y="1600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565C0"/>
                </a:solidFill>
                <a:latin typeface="Calibri"/>
              </a:rPr>
              <a:t>Renda média da UPA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38360" y="16002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565C0"/>
                </a:solidFill>
                <a:latin typeface="Calibri"/>
              </a:rPr>
              <a:t>|SHAP|=0,272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60920" y="1920240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616161"/>
                </a:solidFill>
                <a:latin typeface="Calibri"/>
              </a:rPr>
              <a:t>Wilson (1987): onde mora supera o quanto estudou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766560" y="2359152"/>
            <a:ext cx="5303520" cy="749808"/>
          </a:xfrm>
          <a:prstGeom prst="rect">
            <a:avLst/>
          </a:prstGeom>
          <a:solidFill>
            <a:srgbClr val="F5F5F5"/>
          </a:solidFill>
          <a:ln w="6350">
            <a:solidFill>
              <a:srgbClr val="6161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0" y="240487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12121"/>
                </a:solidFill>
                <a:latin typeface="Calibri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0920" y="240487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Calibri"/>
              </a:rPr>
              <a:t>Horas trabalhadas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38360" y="240487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12121"/>
                </a:solidFill>
                <a:latin typeface="Calibri"/>
              </a:rPr>
              <a:t>|SHAP|=0,166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60920" y="2724912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616161"/>
                </a:solidFill>
                <a:latin typeface="Calibri"/>
              </a:rPr>
              <a:t>Novo — VD4031 extraído do ZIP bruto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66560" y="3163824"/>
            <a:ext cx="5303520" cy="749808"/>
          </a:xfrm>
          <a:prstGeom prst="rect">
            <a:avLst/>
          </a:prstGeom>
          <a:solidFill>
            <a:srgbClr val="F5F5F5"/>
          </a:solidFill>
          <a:ln w="6350">
            <a:solidFill>
              <a:srgbClr val="6161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0" y="320954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12121"/>
                </a:solidFill>
                <a:latin typeface="Calibri"/>
              </a:rPr>
              <a:t>#3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60920" y="3209544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Calibri"/>
              </a:rPr>
              <a:t>CBO: Profissionais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38360" y="3209544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12121"/>
                </a:solidFill>
                <a:latin typeface="Calibri"/>
              </a:rPr>
              <a:t>|SHAP|=0,119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60920" y="3529584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616161"/>
                </a:solidFill>
                <a:latin typeface="Calibri"/>
              </a:rPr>
              <a:t>Novo — V4010 primeiro dígito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66560" y="3968496"/>
            <a:ext cx="5303520" cy="749808"/>
          </a:xfrm>
          <a:prstGeom prst="rect">
            <a:avLst/>
          </a:prstGeom>
          <a:solidFill>
            <a:srgbClr val="F5F5F5"/>
          </a:solidFill>
          <a:ln w="6350">
            <a:solidFill>
              <a:srgbClr val="6161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0" y="4014216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12121"/>
                </a:solidFill>
                <a:latin typeface="Calibri"/>
              </a:rPr>
              <a:t>#4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60920" y="4014216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Calibri"/>
              </a:rPr>
              <a:t>Emprego formal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38360" y="4014216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12121"/>
                </a:solidFill>
                <a:latin typeface="Calibri"/>
              </a:rPr>
              <a:t>|SHAP|=0,109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60920" y="4334256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616161"/>
                </a:solidFill>
                <a:latin typeface="Calibri"/>
              </a:rPr>
              <a:t>Novo — VD4009 carteira/público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766560" y="4773168"/>
            <a:ext cx="5303520" cy="749808"/>
          </a:xfrm>
          <a:prstGeom prst="rect">
            <a:avLst/>
          </a:prstGeom>
          <a:solidFill>
            <a:srgbClr val="FFEBEE"/>
          </a:solidFill>
          <a:ln w="6350">
            <a:solidFill>
              <a:srgbClr val="B7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0" y="481888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71C1C"/>
                </a:solidFill>
                <a:latin typeface="Calibri"/>
              </a:rPr>
              <a:t>#11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60920" y="481888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71C1C"/>
                </a:solidFill>
                <a:latin typeface="Calibri"/>
              </a:rPr>
              <a:t>Raça (negro)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38360" y="4818888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71C1C"/>
                </a:solidFill>
                <a:latin typeface="Calibri"/>
              </a:rPr>
              <a:t>|SHAP|=0,029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60920" y="5138928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616161"/>
                </a:solidFill>
                <a:latin typeface="Calibri"/>
              </a:rPr>
              <a:t>−2,5% residual pós-ocupação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F38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37160" y="662940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BDEFB"/>
                </a:solidFill>
                <a:latin typeface="Calibri"/>
              </a:rPr>
              <a:t>Ricardo Calheiros  |  MBA USP/ESALQ  |  Racismo Estrutural e Mercado de Trabalho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704320" y="66294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FFFFFF"/>
                </a:solidFill>
                <a:latin typeface="Calibri"/>
              </a:rPr>
              <a:t>16/28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8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16. Clustering Socioeconômico — K-Means (k=3) | N=7.694.198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BDEFB"/>
                </a:solidFill>
                <a:latin typeface="Calibri"/>
              </a:rPr>
              <a:t>MiniBatchKMeans | 12 dimensões | k=3 adotado por interpretabilidade (k=2 trivialmente binário)</a:t>
            </a:r>
          </a:p>
        </p:txBody>
      </p:sp>
      <p:pic>
        <p:nvPicPr>
          <p:cNvPr id="5" name="Picture 4" descr="kmeans_perfis_k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5669280" cy="2021041"/>
          </a:xfrm>
          <a:prstGeom prst="rect">
            <a:avLst/>
          </a:prstGeom>
        </p:spPr>
      </p:pic>
      <p:pic>
        <p:nvPicPr>
          <p:cNvPr id="6" name="Picture 5" descr="kmeans_gap_racial_k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1097280"/>
            <a:ext cx="5852160" cy="2882701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74320" y="4206240"/>
            <a:ext cx="777240" cy="384048"/>
          </a:xfrm>
          <a:prstGeom prst="rect">
            <a:avLst/>
          </a:prstGeom>
          <a:solidFill>
            <a:srgbClr val="1F38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0896" y="4242816"/>
            <a:ext cx="70408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Cluster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4206240"/>
            <a:ext cx="1051560" cy="384048"/>
          </a:xfrm>
          <a:prstGeom prst="rect">
            <a:avLst/>
          </a:prstGeom>
          <a:solidFill>
            <a:srgbClr val="1F38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33856" y="4242816"/>
            <a:ext cx="9784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40280" y="4206240"/>
            <a:ext cx="822960" cy="384048"/>
          </a:xfrm>
          <a:prstGeom prst="rect">
            <a:avLst/>
          </a:prstGeom>
          <a:solidFill>
            <a:srgbClr val="1F38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76856" y="4242816"/>
            <a:ext cx="7498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% total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08960" y="4206240"/>
            <a:ext cx="777240" cy="384048"/>
          </a:xfrm>
          <a:prstGeom prst="rect">
            <a:avLst/>
          </a:prstGeom>
          <a:solidFill>
            <a:srgbClr val="1F38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45536" y="4242816"/>
            <a:ext cx="70408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% Negro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977639" y="4206240"/>
            <a:ext cx="777240" cy="384048"/>
          </a:xfrm>
          <a:prstGeom prst="rect">
            <a:avLst/>
          </a:prstGeom>
          <a:solidFill>
            <a:srgbClr val="1F38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14215" y="4242816"/>
            <a:ext cx="70408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% Mulher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892040" y="4206240"/>
            <a:ext cx="822960" cy="384048"/>
          </a:xfrm>
          <a:prstGeom prst="rect">
            <a:avLst/>
          </a:prstGeom>
          <a:solidFill>
            <a:srgbClr val="1F38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28616" y="4242816"/>
            <a:ext cx="7498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log_Renda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06440" y="4206240"/>
            <a:ext cx="6035040" cy="384048"/>
          </a:xfrm>
          <a:prstGeom prst="rect">
            <a:avLst/>
          </a:prstGeom>
          <a:solidFill>
            <a:srgbClr val="1F38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43016" y="4242816"/>
            <a:ext cx="596188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Perfil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4590288"/>
            <a:ext cx="777240" cy="384048"/>
          </a:xfrm>
          <a:prstGeom prst="rect">
            <a:avLst/>
          </a:prstGeom>
          <a:solidFill>
            <a:srgbClr val="FFF5F5"/>
          </a:solidFill>
          <a:ln w="3810">
            <a:solidFill>
              <a:srgbClr val="6161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10896" y="4626864"/>
            <a:ext cx="7040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B71C1C"/>
                </a:solidFill>
                <a:latin typeface="Calibri"/>
              </a:rPr>
              <a:t>C0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97280" y="4590288"/>
            <a:ext cx="1051560" cy="384048"/>
          </a:xfrm>
          <a:prstGeom prst="rect">
            <a:avLst/>
          </a:prstGeom>
          <a:solidFill>
            <a:srgbClr val="FFF5F5"/>
          </a:solidFill>
          <a:ln w="3810">
            <a:solidFill>
              <a:srgbClr val="6161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33856" y="4626864"/>
            <a:ext cx="9784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12121"/>
                </a:solidFill>
                <a:latin typeface="Calibri"/>
              </a:rPr>
              <a:t>2.110.270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40280" y="4590288"/>
            <a:ext cx="822960" cy="384048"/>
          </a:xfrm>
          <a:prstGeom prst="rect">
            <a:avLst/>
          </a:prstGeom>
          <a:solidFill>
            <a:srgbClr val="FFF5F5"/>
          </a:solidFill>
          <a:ln w="3810">
            <a:solidFill>
              <a:srgbClr val="6161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276856" y="4626864"/>
            <a:ext cx="7498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12121"/>
                </a:solidFill>
                <a:latin typeface="Calibri"/>
              </a:rPr>
              <a:t>27,4%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108960" y="4590288"/>
            <a:ext cx="777240" cy="384048"/>
          </a:xfrm>
          <a:prstGeom prst="rect">
            <a:avLst/>
          </a:prstGeom>
          <a:solidFill>
            <a:srgbClr val="FFF5F5"/>
          </a:solidFill>
          <a:ln w="3810">
            <a:solidFill>
              <a:srgbClr val="6161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145536" y="4626864"/>
            <a:ext cx="7040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12121"/>
                </a:solidFill>
                <a:latin typeface="Calibri"/>
              </a:rPr>
              <a:t>76,2%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977639" y="4590288"/>
            <a:ext cx="777240" cy="384048"/>
          </a:xfrm>
          <a:prstGeom prst="rect">
            <a:avLst/>
          </a:prstGeom>
          <a:solidFill>
            <a:srgbClr val="FFF5F5"/>
          </a:solidFill>
          <a:ln w="3810">
            <a:solidFill>
              <a:srgbClr val="6161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014215" y="4626864"/>
            <a:ext cx="7040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12121"/>
                </a:solidFill>
                <a:latin typeface="Calibri"/>
              </a:rPr>
              <a:t>100%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892040" y="4590288"/>
            <a:ext cx="822960" cy="384048"/>
          </a:xfrm>
          <a:prstGeom prst="rect">
            <a:avLst/>
          </a:prstGeom>
          <a:solidFill>
            <a:srgbClr val="FFF5F5"/>
          </a:solidFill>
          <a:ln w="3810">
            <a:solidFill>
              <a:srgbClr val="6161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928616" y="4626864"/>
            <a:ext cx="7498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12121"/>
                </a:solidFill>
                <a:latin typeface="Calibri"/>
              </a:rPr>
              <a:t>6,961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806440" y="4590288"/>
            <a:ext cx="6035040" cy="384048"/>
          </a:xfrm>
          <a:prstGeom prst="rect">
            <a:avLst/>
          </a:prstGeom>
          <a:solidFill>
            <a:srgbClr val="FFF5F5"/>
          </a:solidFill>
          <a:ln w="3810">
            <a:solidFill>
              <a:srgbClr val="6161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843016" y="4626864"/>
            <a:ext cx="59618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12121"/>
                </a:solidFill>
                <a:latin typeface="Calibri"/>
              </a:rPr>
              <a:t>Mulheres negras — vulnerabilidade dupla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4974336"/>
            <a:ext cx="777240" cy="384048"/>
          </a:xfrm>
          <a:prstGeom prst="rect">
            <a:avLst/>
          </a:prstGeom>
          <a:solidFill>
            <a:srgbClr val="E3F2FD"/>
          </a:solidFill>
          <a:ln w="3810">
            <a:solidFill>
              <a:srgbClr val="6161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10896" y="5010912"/>
            <a:ext cx="7040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1565C0"/>
                </a:solidFill>
                <a:latin typeface="Calibri"/>
              </a:rPr>
              <a:t>C1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97280" y="4974336"/>
            <a:ext cx="1051560" cy="384048"/>
          </a:xfrm>
          <a:prstGeom prst="rect">
            <a:avLst/>
          </a:prstGeom>
          <a:solidFill>
            <a:srgbClr val="E3F2FD"/>
          </a:solidFill>
          <a:ln w="3810">
            <a:solidFill>
              <a:srgbClr val="6161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33856" y="5010912"/>
            <a:ext cx="9784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12121"/>
                </a:solidFill>
                <a:latin typeface="Calibri"/>
              </a:rPr>
              <a:t>2.705.788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240280" y="4974336"/>
            <a:ext cx="822960" cy="384048"/>
          </a:xfrm>
          <a:prstGeom prst="rect">
            <a:avLst/>
          </a:prstGeom>
          <a:solidFill>
            <a:srgbClr val="E3F2FD"/>
          </a:solidFill>
          <a:ln w="3810">
            <a:solidFill>
              <a:srgbClr val="6161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276856" y="5010912"/>
            <a:ext cx="7498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12121"/>
                </a:solidFill>
                <a:latin typeface="Calibri"/>
              </a:rPr>
              <a:t>35,2%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108960" y="4974336"/>
            <a:ext cx="777240" cy="384048"/>
          </a:xfrm>
          <a:prstGeom prst="rect">
            <a:avLst/>
          </a:prstGeom>
          <a:solidFill>
            <a:srgbClr val="E3F2FD"/>
          </a:solidFill>
          <a:ln w="3810">
            <a:solidFill>
              <a:srgbClr val="6161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145536" y="5010912"/>
            <a:ext cx="7040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12121"/>
                </a:solidFill>
                <a:latin typeface="Calibri"/>
              </a:rPr>
              <a:t>18,0%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977639" y="4974336"/>
            <a:ext cx="777240" cy="384048"/>
          </a:xfrm>
          <a:prstGeom prst="rect">
            <a:avLst/>
          </a:prstGeom>
          <a:solidFill>
            <a:srgbClr val="E3F2FD"/>
          </a:solidFill>
          <a:ln w="3810">
            <a:solidFill>
              <a:srgbClr val="6161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014215" y="5010912"/>
            <a:ext cx="7040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12121"/>
                </a:solidFill>
                <a:latin typeface="Calibri"/>
              </a:rPr>
              <a:t>40,1%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892040" y="4974336"/>
            <a:ext cx="822960" cy="384048"/>
          </a:xfrm>
          <a:prstGeom prst="rect">
            <a:avLst/>
          </a:prstGeom>
          <a:solidFill>
            <a:srgbClr val="E3F2FD"/>
          </a:solidFill>
          <a:ln w="3810">
            <a:solidFill>
              <a:srgbClr val="6161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928616" y="5010912"/>
            <a:ext cx="7498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12121"/>
                </a:solidFill>
                <a:latin typeface="Calibri"/>
              </a:rPr>
              <a:t>7,895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06440" y="4974336"/>
            <a:ext cx="6035040" cy="384048"/>
          </a:xfrm>
          <a:prstGeom prst="rect">
            <a:avLst/>
          </a:prstGeom>
          <a:solidFill>
            <a:srgbClr val="E3F2FD"/>
          </a:solidFill>
          <a:ln w="3810">
            <a:solidFill>
              <a:srgbClr val="6161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843016" y="5010912"/>
            <a:ext cx="59618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12121"/>
                </a:solidFill>
                <a:latin typeface="Calibri"/>
              </a:rPr>
              <a:t>Brancos alta renda — menor escolaridade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74320" y="5358384"/>
            <a:ext cx="777240" cy="384048"/>
          </a:xfrm>
          <a:prstGeom prst="rect">
            <a:avLst/>
          </a:prstGeom>
          <a:solidFill>
            <a:srgbClr val="F5F5F5"/>
          </a:solidFill>
          <a:ln w="3810">
            <a:solidFill>
              <a:srgbClr val="6161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10896" y="5394960"/>
            <a:ext cx="7040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1F3864"/>
                </a:solidFill>
                <a:latin typeface="Calibri"/>
              </a:rPr>
              <a:t>C2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97280" y="5358384"/>
            <a:ext cx="1051560" cy="384048"/>
          </a:xfrm>
          <a:prstGeom prst="rect">
            <a:avLst/>
          </a:prstGeom>
          <a:solidFill>
            <a:srgbClr val="F5F5F5"/>
          </a:solidFill>
          <a:ln w="3810">
            <a:solidFill>
              <a:srgbClr val="6161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133856" y="5394960"/>
            <a:ext cx="9784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12121"/>
                </a:solidFill>
                <a:latin typeface="Calibri"/>
              </a:rPr>
              <a:t>2.878.140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240280" y="5358384"/>
            <a:ext cx="822960" cy="384048"/>
          </a:xfrm>
          <a:prstGeom prst="rect">
            <a:avLst/>
          </a:prstGeom>
          <a:solidFill>
            <a:srgbClr val="F5F5F5"/>
          </a:solidFill>
          <a:ln w="3810">
            <a:solidFill>
              <a:srgbClr val="6161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276856" y="5394960"/>
            <a:ext cx="7498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12121"/>
                </a:solidFill>
                <a:latin typeface="Calibri"/>
              </a:rPr>
              <a:t>37,4%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108960" y="5358384"/>
            <a:ext cx="777240" cy="384048"/>
          </a:xfrm>
          <a:prstGeom prst="rect">
            <a:avLst/>
          </a:prstGeom>
          <a:solidFill>
            <a:srgbClr val="F5F5F5"/>
          </a:solidFill>
          <a:ln w="3810">
            <a:solidFill>
              <a:srgbClr val="6161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145536" y="5394960"/>
            <a:ext cx="7040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12121"/>
                </a:solidFill>
                <a:latin typeface="Calibri"/>
              </a:rPr>
              <a:t>81,3%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977639" y="5358384"/>
            <a:ext cx="777240" cy="384048"/>
          </a:xfrm>
          <a:prstGeom prst="rect">
            <a:avLst/>
          </a:prstGeom>
          <a:solidFill>
            <a:srgbClr val="F5F5F5"/>
          </a:solidFill>
          <a:ln w="3810">
            <a:solidFill>
              <a:srgbClr val="6161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014215" y="5394960"/>
            <a:ext cx="7040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12121"/>
                </a:solidFill>
                <a:latin typeface="Calibri"/>
              </a:rPr>
              <a:t>0%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892040" y="5358384"/>
            <a:ext cx="822960" cy="384048"/>
          </a:xfrm>
          <a:prstGeom prst="rect">
            <a:avLst/>
          </a:prstGeom>
          <a:solidFill>
            <a:srgbClr val="F5F5F5"/>
          </a:solidFill>
          <a:ln w="3810">
            <a:solidFill>
              <a:srgbClr val="6161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928616" y="5394960"/>
            <a:ext cx="7498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12121"/>
                </a:solidFill>
                <a:latin typeface="Calibri"/>
              </a:rPr>
              <a:t>7,074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806440" y="5358384"/>
            <a:ext cx="6035040" cy="384048"/>
          </a:xfrm>
          <a:prstGeom prst="rect">
            <a:avLst/>
          </a:prstGeom>
          <a:solidFill>
            <a:srgbClr val="F5F5F5"/>
          </a:solidFill>
          <a:ln w="3810">
            <a:solidFill>
              <a:srgbClr val="6161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843016" y="5394960"/>
            <a:ext cx="59618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12121"/>
                </a:solidFill>
                <a:latin typeface="Calibri"/>
              </a:rPr>
              <a:t>Homens negros — 36,5% superior, renda 58% &lt; C1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74320" y="5687568"/>
            <a:ext cx="11612880" cy="502920"/>
          </a:xfrm>
          <a:prstGeom prst="rect">
            <a:avLst/>
          </a:prstGeom>
          <a:solidFill>
            <a:srgbClr val="FFF9E7"/>
          </a:solidFill>
          <a:ln w="1270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57200" y="5733288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F3864"/>
                </a:solidFill>
                <a:latin typeface="Calibri"/>
              </a:rPr>
              <a:t>Paradoxo de Simpson: dentro de cada cluster negros ganham mais que brancos — pois brancos nos clusters negros são os piores-off de seu grupo.  H5 confirmado: C2 tem 36,5% de superior vs 13,7% em C1, mas renda 58% inferior.</a:t>
            </a:r>
          </a:p>
        </p:txBody>
      </p:sp>
      <p:sp>
        <p:nvSpPr>
          <p:cNvPr id="65" name="Rectangle 64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F38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37160" y="662940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BDEFB"/>
                </a:solidFill>
                <a:latin typeface="Calibri"/>
              </a:rPr>
              <a:t>Ricardo Calheiros  |  MBA USP/ESALQ  |  Racismo Estrutural e Mercado de Trabalho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1704320" y="66294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FFFFFF"/>
                </a:solidFill>
                <a:latin typeface="Calibri"/>
              </a:rPr>
              <a:t>17/28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8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17. Análise de Redes Sociais — Capital Social e Mobilidade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BDEFB"/>
                </a:solidFill>
                <a:latin typeface="Calibri"/>
              </a:rPr>
              <a:t>Betweenness centrality nula para negros em todos os níveis educacionais</a:t>
            </a:r>
          </a:p>
        </p:txBody>
      </p:sp>
      <p:pic>
        <p:nvPicPr>
          <p:cNvPr id="5" name="Picture 4" descr="sna_rede_demografi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5943600" cy="444521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0" y="109728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3864"/>
                </a:solidFill>
                <a:latin typeface="Calibri"/>
              </a:rPr>
              <a:t>O que é betweenness centrality?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554480"/>
            <a:ext cx="5394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1F3864"/>
                </a:solidFill>
                <a:latin typeface="Calibri"/>
              </a:rPr>
              <a:t>▸  </a:t>
            </a:r>
            <a:r>
              <a:rPr sz="1300">
                <a:solidFill>
                  <a:srgbClr val="212121"/>
                </a:solidFill>
                <a:latin typeface="Calibri"/>
              </a:rPr>
              <a:t>Mede quem 'conecta' grupos distintos na rede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1F3864"/>
                </a:solidFill>
                <a:latin typeface="Calibri"/>
              </a:rPr>
              <a:t>▸  </a:t>
            </a:r>
            <a:r>
              <a:rPr sz="1300">
                <a:solidFill>
                  <a:srgbClr val="212121"/>
                </a:solidFill>
                <a:latin typeface="Calibri"/>
              </a:rPr>
              <a:t>Alta betweenness = broker = acesso antecipado a vagas, mentoria, promoções (Burt, 2004)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1F3864"/>
                </a:solidFill>
                <a:latin typeface="Calibri"/>
              </a:rPr>
              <a:t>▸  </a:t>
            </a:r>
            <a:r>
              <a:rPr sz="1300">
                <a:solidFill>
                  <a:srgbClr val="212121"/>
                </a:solidFill>
                <a:latin typeface="Calibri"/>
              </a:rPr>
              <a:t>BRANCOS: betweenness elevada em todos os níveis educacionais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1F3864"/>
                </a:solidFill>
                <a:latin typeface="Calibri"/>
              </a:rPr>
              <a:t>▸  </a:t>
            </a:r>
            <a:r>
              <a:rPr sz="1300">
                <a:solidFill>
                  <a:srgbClr val="212121"/>
                </a:solidFill>
                <a:latin typeface="Calibri"/>
              </a:rPr>
              <a:t>NEGROS: betweenness = 0 mesmo com pós-graduação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1F3864"/>
                </a:solidFill>
                <a:latin typeface="Calibri"/>
              </a:rPr>
              <a:t>▸  </a:t>
            </a:r>
            <a:r>
              <a:rPr sz="1300">
                <a:solidFill>
                  <a:srgbClr val="212121"/>
                </a:solidFill>
                <a:latin typeface="Calibri"/>
              </a:rPr>
              <a:t>Implicação: credenciais educacionais de negros valem menos porque falta acesso às redes de conversão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0" y="4983480"/>
            <a:ext cx="5394960" cy="777240"/>
          </a:xfrm>
          <a:prstGeom prst="rect">
            <a:avLst/>
          </a:prstGeom>
          <a:solidFill>
            <a:srgbClr val="E3F2FD"/>
          </a:solidFill>
          <a:ln w="1016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20840" y="502920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1F3864"/>
                </a:solidFill>
                <a:latin typeface="Calibri"/>
              </a:rPr>
              <a:t>"Negros enfrentam um duplo obstáculo ao retorno educacional: o gap direto mensurado pelo HLM e a exclusão das redes que convertem diplomas em empregos."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F38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" y="662940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BDEFB"/>
                </a:solidFill>
                <a:latin typeface="Calibri"/>
              </a:rPr>
              <a:t>Ricardo Calheiros  |  MBA USP/ESALQ  |  Racismo Estrutural e Mercado de Trabalho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04320" y="66294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FFFFFF"/>
                </a:solidFill>
                <a:latin typeface="Calibri"/>
              </a:rPr>
              <a:t>18/28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8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18. Estado e Desigualdade — H1 / H2 / H3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BDEFB"/>
                </a:solidFill>
                <a:latin typeface="Calibri"/>
              </a:rPr>
              <a:t>Setor público reduz desigualdade geral mas gap racial persiste — e gap de gênero é MAIOR no público</a:t>
            </a:r>
          </a:p>
        </p:txBody>
      </p:sp>
      <p:pic>
        <p:nvPicPr>
          <p:cNvPr id="5" name="Picture 4" descr="estado_h1_gin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5760720" cy="2424626"/>
          </a:xfrm>
          <a:prstGeom prst="rect">
            <a:avLst/>
          </a:prstGeom>
        </p:spPr>
      </p:pic>
      <p:pic>
        <p:nvPicPr>
          <p:cNvPr id="6" name="Picture 5" descr="estado_h2h3_gap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097280"/>
            <a:ext cx="5669280" cy="2389071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74320" y="4206240"/>
            <a:ext cx="2560320" cy="1188720"/>
          </a:xfrm>
          <a:prstGeom prst="rect">
            <a:avLst/>
          </a:prstGeom>
          <a:solidFill>
            <a:srgbClr val="F5F5F5"/>
          </a:solidFill>
          <a:ln w="1270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42519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16161"/>
                </a:solidFill>
                <a:latin typeface="Calibri"/>
              </a:rPr>
              <a:t>Gini setor público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452628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565C0"/>
                </a:solidFill>
                <a:latin typeface="Calibri"/>
              </a:rPr>
              <a:t>0,466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5047488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16161"/>
                </a:solidFill>
                <a:latin typeface="Calibri"/>
              </a:rPr>
              <a:t>vs privado 0,472 | total 0,488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17520" y="4206240"/>
            <a:ext cx="2834640" cy="1188720"/>
          </a:xfrm>
          <a:prstGeom prst="rect">
            <a:avLst/>
          </a:prstGeom>
          <a:solidFill>
            <a:srgbClr val="F5F5F5"/>
          </a:solidFill>
          <a:ln w="1270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08960" y="42519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16161"/>
                </a:solidFill>
                <a:latin typeface="Calibri"/>
              </a:rPr>
              <a:t>Gap racial público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452628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B71C1C"/>
                </a:solidFill>
                <a:latin typeface="Calibri"/>
              </a:rPr>
              <a:t>−25,2%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504748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16161"/>
                </a:solidFill>
                <a:latin typeface="Calibri"/>
              </a:rPr>
              <a:t>controlado | privado −29,2%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4206240"/>
            <a:ext cx="3200400" cy="1188720"/>
          </a:xfrm>
          <a:prstGeom prst="rect">
            <a:avLst/>
          </a:prstGeom>
          <a:solidFill>
            <a:srgbClr val="F5F5F5"/>
          </a:solidFill>
          <a:ln w="1270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0" y="42519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16161"/>
                </a:solidFill>
                <a:latin typeface="Calibri"/>
              </a:rPr>
              <a:t>Gap gênero público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452628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8F00"/>
                </a:solidFill>
                <a:latin typeface="Calibri"/>
              </a:rPr>
              <a:t>−18,8%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504748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16161"/>
                </a:solidFill>
                <a:latin typeface="Calibri"/>
              </a:rPr>
              <a:t>PIOR que privado −16,9% (paradoxo)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418320" y="4206240"/>
            <a:ext cx="2468880" cy="1188720"/>
          </a:xfrm>
          <a:prstGeom prst="rect">
            <a:avLst/>
          </a:prstGeom>
          <a:solidFill>
            <a:srgbClr val="F5F5F5"/>
          </a:solidFill>
          <a:ln w="1270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0" y="42519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16161"/>
                </a:solidFill>
                <a:latin typeface="Calibri"/>
              </a:rPr>
              <a:t>Prêmio salarial pub.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60" y="45262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2E7D32"/>
                </a:solidFill>
                <a:latin typeface="Calibri"/>
              </a:rPr>
              <a:t>+99,6%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60" y="504748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16161"/>
                </a:solidFill>
                <a:latin typeface="Calibri"/>
              </a:rPr>
              <a:t>Theil entre setores: 7,8% do total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5532120"/>
            <a:ext cx="11612880" cy="457200"/>
          </a:xfrm>
          <a:prstGeom prst="rect">
            <a:avLst/>
          </a:prstGeom>
          <a:solidFill>
            <a:srgbClr val="E3F2FD"/>
          </a:solidFill>
          <a:ln w="1016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557784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F3864"/>
                </a:solidFill>
                <a:latin typeface="Calibri"/>
              </a:rPr>
              <a:t>H1: Estado reduz levemente o Gini (0,466 vs 0,472) mas prêmio de +99,6% concentra renda entre servidores.  H2: Racismo persiste no público (−25,2%) — atenuado vs privado (−29,2%).  H3 (paradoxo): concurso iguala entrada, mas promoção/DAS favorece homens → gap de gênero maior no público.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F38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7160" y="662940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BDEFB"/>
                </a:solidFill>
                <a:latin typeface="Calibri"/>
              </a:rPr>
              <a:t>Ricardo Calheiros  |  MBA USP/ESALQ  |  Racismo Estrutural e Mercado de Trabalho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704320" y="66294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FFFFFF"/>
                </a:solidFill>
                <a:latin typeface="Calibri"/>
              </a:rPr>
              <a:t>19/28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8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19. Renda Real, Armadilha e Inclusão — H4 / H5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BDEFB"/>
                </a:solidFill>
                <a:latin typeface="Calibri"/>
              </a:rPr>
              <a:t>Pleno emprego sem prosperidade + gap de qualificação quase inalterado em 10 anos</a:t>
            </a:r>
          </a:p>
        </p:txBody>
      </p:sp>
      <p:pic>
        <p:nvPicPr>
          <p:cNvPr id="5" name="Picture 4" descr="estado_h4_tendenc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5760720" cy="2425880"/>
          </a:xfrm>
          <a:prstGeom prst="rect">
            <a:avLst/>
          </a:prstGeom>
        </p:spPr>
      </p:pic>
      <p:pic>
        <p:nvPicPr>
          <p:cNvPr id="6" name="Picture 5" descr="estado_h5_armadilh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097280"/>
            <a:ext cx="5669280" cy="2384744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74320" y="4206240"/>
            <a:ext cx="2743200" cy="1188720"/>
          </a:xfrm>
          <a:prstGeom prst="rect">
            <a:avLst/>
          </a:prstGeom>
          <a:solidFill>
            <a:srgbClr val="F5F5F5"/>
          </a:solidFill>
          <a:ln w="1270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42519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16161"/>
                </a:solidFill>
                <a:latin typeface="Calibri"/>
              </a:rPr>
              <a:t>Renda real 2025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45262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B71C1C"/>
                </a:solidFill>
                <a:latin typeface="Calibri"/>
              </a:rPr>
              <a:t>R$1.283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504748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16161"/>
                </a:solidFill>
                <a:latin typeface="Calibri"/>
              </a:rPr>
              <a:t>vs pico R$1.345 em 2024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0" y="4206240"/>
            <a:ext cx="2651760" cy="1188720"/>
          </a:xfrm>
          <a:prstGeom prst="rect">
            <a:avLst/>
          </a:prstGeom>
          <a:solidFill>
            <a:srgbClr val="F5F5F5"/>
          </a:solidFill>
          <a:ln w="1270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91840" y="425196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16161"/>
                </a:solidFill>
                <a:latin typeface="Calibri"/>
              </a:rPr>
              <a:t>Emprego 2025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452628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2E7D32"/>
                </a:solidFill>
                <a:latin typeface="Calibri"/>
              </a:rPr>
              <a:t>94,4%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504748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16161"/>
                </a:solidFill>
                <a:latin typeface="Calibri"/>
              </a:rPr>
              <a:t>máxima histórica da série (2016–2025)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4206240"/>
            <a:ext cx="3200400" cy="1188720"/>
          </a:xfrm>
          <a:prstGeom prst="rect">
            <a:avLst/>
          </a:prstGeom>
          <a:solidFill>
            <a:srgbClr val="F5F5F5"/>
          </a:solidFill>
          <a:ln w="1270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0" y="42519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16161"/>
                </a:solidFill>
                <a:latin typeface="Calibri"/>
              </a:rPr>
              <a:t>Alta qualif. negros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452628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B71C1C"/>
                </a:solidFill>
                <a:latin typeface="Calibri"/>
              </a:rPr>
              <a:t>11,0%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504748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16161"/>
                </a:solidFill>
                <a:latin typeface="Calibri"/>
              </a:rPr>
              <a:t>brancos: 22,4% — gap estável +11pp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418320" y="4206240"/>
            <a:ext cx="2468880" cy="1188720"/>
          </a:xfrm>
          <a:prstGeom prst="rect">
            <a:avLst/>
          </a:prstGeom>
          <a:solidFill>
            <a:srgbClr val="F5F5F5"/>
          </a:solidFill>
          <a:ln w="1270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0" y="42519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16161"/>
                </a:solidFill>
                <a:latin typeface="Calibri"/>
              </a:rPr>
              <a:t>Ganho de inclusão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60" y="45262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2E7D32"/>
                </a:solidFill>
                <a:latin typeface="Calibri"/>
              </a:rPr>
              <a:t>+127,3%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60" y="504748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16161"/>
                </a:solidFill>
                <a:latin typeface="Calibri"/>
              </a:rPr>
              <a:t>renda negra se CBO = branco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5532120"/>
            <a:ext cx="11612880" cy="457200"/>
          </a:xfrm>
          <a:prstGeom prst="rect">
            <a:avLst/>
          </a:prstGeom>
          <a:solidFill>
            <a:srgbClr val="FFF9E7"/>
          </a:solidFill>
          <a:ln w="1270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557784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F3864"/>
                </a:solidFill>
                <a:latin typeface="Calibri"/>
              </a:rPr>
              <a:t>H4: Contradição do mercado atual — emprego em máxima histórica (94,4%) mas renda real recua em 2025 (−4,6% vs 2024).  H5: Armadilha da renda média — gap de qualificação (11,0% vs 22,4%) praticamente inalterado após 10 anos. Inclusão produtiva plena = simulação CBO: +127,3% renda negra; proxy agregado +74,3 p.p. (127,3% × participação ~58% — conservador, ver nota metodológica).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F38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7160" y="662940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BDEFB"/>
                </a:solidFill>
                <a:latin typeface="Calibri"/>
              </a:rPr>
              <a:t>Ricardo Calheiros  |  MBA USP/ESALQ  |  Racismo Estrutural e Mercado de Trabalho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704320" y="66294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FFFFFF"/>
                </a:solidFill>
                <a:latin typeface="Calibri"/>
              </a:rPr>
              <a:t>20/28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8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20. Por Que Esses Modelos? — Justificação Estatística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BDEFB"/>
                </a:solidFill>
                <a:latin typeface="Calibri"/>
              </a:rPr>
              <a:t>LRT χ²=191.625 confirma hierarquia | ICC=9,83% &gt; limiar 5% | HLM supera OLS+FE em AIC</a:t>
            </a:r>
          </a:p>
        </p:txBody>
      </p:sp>
      <p:pic>
        <p:nvPicPr>
          <p:cNvPr id="5" name="Picture 4" descr="modelos_loglik_a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5760720" cy="2458979"/>
          </a:xfrm>
          <a:prstGeom prst="rect">
            <a:avLst/>
          </a:prstGeom>
        </p:spPr>
      </p:pic>
      <p:pic>
        <p:nvPicPr>
          <p:cNvPr id="6" name="Picture 5" descr="modelos_lrt_ic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097280"/>
            <a:ext cx="5669280" cy="21800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74320" y="4160520"/>
            <a:ext cx="3566160" cy="1188720"/>
          </a:xfrm>
          <a:prstGeom prst="rect">
            <a:avLst/>
          </a:prstGeom>
          <a:solidFill>
            <a:srgbClr val="F5F5F5"/>
          </a:solidFill>
          <a:ln w="1270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420624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16161"/>
                </a:solidFill>
                <a:latin typeface="Calibri"/>
              </a:rPr>
              <a:t>LRT HLM vs OLS (nulo)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448056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F3864"/>
                </a:solidFill>
                <a:latin typeface="Calibri"/>
              </a:rPr>
              <a:t>191.625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500176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16161"/>
                </a:solidFill>
                <a:latin typeface="Calibri"/>
              </a:rPr>
              <a:t>χ² Δk=1 — hierarquia confirmada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23360" y="4160520"/>
            <a:ext cx="3200400" cy="1188720"/>
          </a:xfrm>
          <a:prstGeom prst="rect">
            <a:avLst/>
          </a:prstGeom>
          <a:solidFill>
            <a:srgbClr val="F5F5F5"/>
          </a:solidFill>
          <a:ln w="1270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0" y="42062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16161"/>
                </a:solidFill>
                <a:latin typeface="Calibri"/>
              </a:rPr>
              <a:t>ICC por UPA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448056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565C0"/>
                </a:solidFill>
                <a:latin typeface="Calibri"/>
              </a:rPr>
              <a:t>9,83%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500176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16161"/>
                </a:solidFill>
                <a:latin typeface="Calibri"/>
              </a:rPr>
              <a:t>&gt; 5% — Raudenbush &amp; Bryk (2002)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06640" y="4160520"/>
            <a:ext cx="4572000" cy="1188720"/>
          </a:xfrm>
          <a:prstGeom prst="rect">
            <a:avLst/>
          </a:prstGeom>
          <a:solidFill>
            <a:srgbClr val="F5F5F5"/>
          </a:solidFill>
          <a:ln w="1270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0" y="420624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16161"/>
                </a:solidFill>
                <a:latin typeface="Calibri"/>
              </a:rPr>
              <a:t>AIC HLM Contextual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0" y="448056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2E7D32"/>
                </a:solidFill>
                <a:latin typeface="Calibri"/>
              </a:rPr>
              <a:t>3.588.684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0" y="5001768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16161"/>
                </a:solidFill>
                <a:latin typeface="Calibri"/>
              </a:rPr>
              <a:t>OLS+FE(UF): 3.684.833 (+96k pior)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5440680"/>
            <a:ext cx="116128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1F3864"/>
                </a:solidFill>
                <a:latin typeface="Calibri"/>
              </a:rPr>
              <a:t>▸  </a:t>
            </a:r>
            <a:r>
              <a:rPr sz="1300">
                <a:solidFill>
                  <a:srgbClr val="212121"/>
                </a:solidFill>
                <a:latin typeface="Calibri"/>
              </a:rPr>
              <a:t>OLS ignora correlação intra-UPA → erros padrão subestimados → inferência inválida (θ OLS ≠ θ BLUP)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1F3864"/>
                </a:solidFill>
                <a:latin typeface="Calibri"/>
              </a:rPr>
              <a:t>▸  </a:t>
            </a:r>
            <a:r>
              <a:rPr sz="1300">
                <a:solidFill>
                  <a:srgbClr val="212121"/>
                </a:solidFill>
                <a:latin typeface="Calibri"/>
              </a:rPr>
              <a:t>OLS+FE(UF) piora AIC vs OLS Individual: dummies de UF são grosseiras demais para capturar variação intra-estado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1F3864"/>
                </a:solidFill>
                <a:latin typeface="Calibri"/>
              </a:rPr>
              <a:t>▸  </a:t>
            </a:r>
            <a:r>
              <a:rPr sz="1300">
                <a:solidFill>
                  <a:srgbClr val="212121"/>
                </a:solidFill>
                <a:latin typeface="Calibri"/>
              </a:rPr>
              <a:t>HLM 3 níveis (indivíduo &gt; UPA &gt; UF) é o único estimador com estrutura compatível com os dados e inferência válida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F38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7160" y="662940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BDEFB"/>
                </a:solidFill>
                <a:latin typeface="Calibri"/>
              </a:rPr>
              <a:t>Ricardo Calheiros  |  MBA USP/ESALQ  |  Racismo Estrutural e Mercado de Trabalho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704320" y="66294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FFFFFF"/>
                </a:solidFill>
                <a:latin typeface="Calibri"/>
              </a:rPr>
              <a:t>21/28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8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21. Síntese — Triângulo de Evidências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BDEFB"/>
                </a:solidFill>
                <a:latin typeface="Calibri"/>
              </a:rPr>
              <a:t>5 métodos independentes apontam para o mesmo diagnóstico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5303520" cy="2377440"/>
          </a:xfrm>
          <a:prstGeom prst="rect">
            <a:avLst/>
          </a:prstGeom>
          <a:solidFill>
            <a:srgbClr val="F5F5F5"/>
          </a:solidFill>
          <a:ln w="19050">
            <a:solidFill>
              <a:srgbClr val="B7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5303520" cy="457200"/>
          </a:xfrm>
          <a:prstGeom prst="rect">
            <a:avLst/>
          </a:prstGeom>
          <a:solidFill>
            <a:srgbClr val="B71C1C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23444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DISCRIMINAÇÃO
DE ACESSO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3736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Calibri"/>
              </a:rPr>
              <a:t>• GLMM: OR=0,691 para ocp. qualificada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8600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Calibri"/>
              </a:rPr>
              <a:t>• AME=−4,84 p.p. residual (M2)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83464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Calibri"/>
              </a:rPr>
              <a:t>• Persiste após todos os controles observáveis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188720"/>
            <a:ext cx="5303520" cy="2377440"/>
          </a:xfrm>
          <a:prstGeom prst="rect">
            <a:avLst/>
          </a:prstGeom>
          <a:solidFill>
            <a:srgbClr val="F5F5F5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1188720"/>
            <a:ext cx="5303520" cy="457200"/>
          </a:xfrm>
          <a:prstGeom prst="rect">
            <a:avLst/>
          </a:prstGeom>
          <a:solidFill>
            <a:srgbClr val="1565C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23444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DISCRIMINAÇÃO
DE REMUNERAÇÃO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173736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Calibri"/>
              </a:rPr>
              <a:t>• HLM M4: gap residual 6,2%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28600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Calibri"/>
              </a:rPr>
              <a:t>• Quantile Reg.: cresce no topo (glass ceiling)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83464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Calibri"/>
              </a:rPr>
              <a:t>• SHAP: −2,5% efeito racial residual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91840" y="3931920"/>
            <a:ext cx="5303520" cy="2377440"/>
          </a:xfrm>
          <a:prstGeom prst="rect">
            <a:avLst/>
          </a:prstGeom>
          <a:solidFill>
            <a:srgbClr val="F5F5F5"/>
          </a:solidFill>
          <a:ln w="1905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91840" y="3931920"/>
            <a:ext cx="5303520" cy="457200"/>
          </a:xfrm>
          <a:prstGeom prst="rect">
            <a:avLst/>
          </a:prstGeom>
          <a:solidFill>
            <a:srgbClr val="1F38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83280" y="397764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EXCLUSÃO
DAS REDES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448056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Calibri"/>
              </a:rPr>
              <a:t>• SNA: betweenness=0 para negros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0" y="502920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Calibri"/>
              </a:rPr>
              <a:t>• Diplomas valem menos sem acesso às redes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0" y="557784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Calibri"/>
              </a:rPr>
              <a:t>• K-Means: C2 homens negros — 36,5% superior mas 58% &lt; renda C1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5852160"/>
            <a:ext cx="11612880" cy="457200"/>
          </a:xfrm>
          <a:prstGeom prst="rect">
            <a:avLst/>
          </a:prstGeom>
          <a:solidFill>
            <a:srgbClr val="1F38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58978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Oaxaca-Blinder une os três vértices: 84% do gap é de ACESSO (dotações) | 16% de REMUNERAÇÃO (retornos) | SNA explica por que o acesso é estruturalmente negado  |  GLMM: OR=0,691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F38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7160" y="662940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BDEFB"/>
                </a:solidFill>
                <a:latin typeface="Calibri"/>
              </a:rPr>
              <a:t>Ricardo Calheiros  |  MBA USP/ESALQ  |  Racismo Estrutural e Mercado de Trabalho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704320" y="66294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FFFFFF"/>
                </a:solidFill>
                <a:latin typeface="Calibri"/>
              </a:rPr>
              <a:t>22/28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8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22. Pesquisa Operacional — Priorização Multicritério Anti-Discriminação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BDEFB"/>
                </a:solidFill>
                <a:latin typeface="Calibri"/>
              </a:rPr>
              <a:t>TOPSIS + AHP (CR=0,004) + Programação Linear + Fronteira de Pareto | 6 políticas avaliadas</a:t>
            </a:r>
          </a:p>
        </p:txBody>
      </p:sp>
      <p:pic>
        <p:nvPicPr>
          <p:cNvPr id="5" name="Picture 4" descr="po_politicas_top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6583680" cy="215626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0" y="109728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3864"/>
                </a:solidFill>
                <a:latin typeface="Calibri"/>
              </a:rPr>
              <a:t>Ranking TOPSIS (6 intervenções)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0" y="1572768"/>
            <a:ext cx="4663440" cy="676656"/>
          </a:xfrm>
          <a:prstGeom prst="rect">
            <a:avLst/>
          </a:prstGeom>
          <a:solidFill>
            <a:srgbClr val="FFEBEE"/>
          </a:solidFill>
          <a:ln w="10160">
            <a:solidFill>
              <a:srgbClr val="B7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06640" y="1618488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71C1C"/>
                </a:solidFill>
                <a:latin typeface="Calibri"/>
              </a:rPr>
              <a:t>#1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1618488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12121"/>
                </a:solidFill>
                <a:latin typeface="Calibri"/>
              </a:rPr>
              <a:t>Cotas ocupacionais CBO 1–4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1618488"/>
            <a:ext cx="1143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B71C1C"/>
                </a:solidFill>
                <a:latin typeface="Calibri"/>
              </a:rPr>
              <a:t>CC = 0,834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0" y="2304288"/>
            <a:ext cx="4663440" cy="676656"/>
          </a:xfrm>
          <a:prstGeom prst="rect">
            <a:avLst/>
          </a:prstGeom>
          <a:solidFill>
            <a:srgbClr val="E3F2FD"/>
          </a:solidFill>
          <a:ln w="1016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06640" y="2350008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565C0"/>
                </a:solidFill>
                <a:latin typeface="Calibri"/>
              </a:rPr>
              <a:t>#2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2350008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12121"/>
                </a:solidFill>
                <a:latin typeface="Calibri"/>
              </a:rPr>
              <a:t>Equidade educacional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2350008"/>
            <a:ext cx="1143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1565C0"/>
                </a:solidFill>
                <a:latin typeface="Calibri"/>
              </a:rPr>
              <a:t>CC = 0,588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0" y="3035808"/>
            <a:ext cx="4663440" cy="676656"/>
          </a:xfrm>
          <a:prstGeom prst="rect">
            <a:avLst/>
          </a:prstGeom>
          <a:solidFill>
            <a:srgbClr val="F5F5F5"/>
          </a:solidFill>
          <a:ln w="1016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0" y="3081528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Calibri"/>
              </a:rPr>
              <a:t>#3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8120" y="3081528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12121"/>
                </a:solidFill>
                <a:latin typeface="Calibri"/>
              </a:rPr>
              <a:t>Mentoria e redes profissionais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0" y="3081528"/>
            <a:ext cx="1143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2E7D32"/>
                </a:solidFill>
                <a:latin typeface="Calibri"/>
              </a:rPr>
              <a:t>CC = 0,396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0" y="3767328"/>
            <a:ext cx="4663440" cy="676656"/>
          </a:xfrm>
          <a:prstGeom prst="rect">
            <a:avLst/>
          </a:prstGeom>
          <a:solidFill>
            <a:srgbClr val="F5F5F5"/>
          </a:solidFill>
          <a:ln w="1016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06640" y="3813048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8F00"/>
                </a:solidFill>
                <a:latin typeface="Calibri"/>
              </a:rPr>
              <a:t>#4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8120" y="3813048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Calibri"/>
              </a:rPr>
              <a:t>Transparência salarial obrigatória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89920" y="3813048"/>
            <a:ext cx="1143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F8F00"/>
                </a:solidFill>
                <a:latin typeface="Calibri"/>
              </a:rPr>
              <a:t>CC = 0,342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0" y="4498848"/>
            <a:ext cx="4663440" cy="676656"/>
          </a:xfrm>
          <a:prstGeom prst="rect">
            <a:avLst/>
          </a:prstGeom>
          <a:solidFill>
            <a:srgbClr val="F5F5F5"/>
          </a:solidFill>
          <a:ln w="10160">
            <a:solidFill>
              <a:srgbClr val="6161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06640" y="4544568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16161"/>
                </a:solidFill>
                <a:latin typeface="Calibri"/>
              </a:rPr>
              <a:t>#5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18120" y="4544568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Calibri"/>
              </a:rPr>
              <a:t>Enforcement anti-discriminação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89920" y="4544568"/>
            <a:ext cx="1143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616161"/>
                </a:solidFill>
                <a:latin typeface="Calibri"/>
              </a:rPr>
              <a:t>CC = 0,275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0" y="5230368"/>
            <a:ext cx="4663440" cy="676656"/>
          </a:xfrm>
          <a:prstGeom prst="rect">
            <a:avLst/>
          </a:prstGeom>
          <a:solidFill>
            <a:srgbClr val="F5F5F5"/>
          </a:solidFill>
          <a:ln w="10160">
            <a:solidFill>
              <a:srgbClr val="6161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06640" y="5276088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16161"/>
                </a:solidFill>
                <a:latin typeface="Calibri"/>
              </a:rPr>
              <a:t>#6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18120" y="5276088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Calibri"/>
              </a:rPr>
              <a:t>Desegregação residencial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89920" y="5276088"/>
            <a:ext cx="1143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616161"/>
                </a:solidFill>
                <a:latin typeface="Calibri"/>
              </a:rPr>
              <a:t>CC = 0,081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6035040"/>
            <a:ext cx="11612880" cy="594360"/>
          </a:xfrm>
          <a:prstGeom prst="rect">
            <a:avLst/>
          </a:prstGeom>
          <a:solidFill>
            <a:srgbClr val="1F38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608076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84% do gap é de ACESSO → P1 (Cotas CBO) lidera com CC=0,834 — 2,1× superior ao 2º colocado.  Pareto (λ=0,5): alocação ótima = P1+P5 (cotas + mentoria).  PL-1 (orçamento B=5): redução projetada de 25,1% do gap bruto.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F38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37160" y="662940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BDEFB"/>
                </a:solidFill>
                <a:latin typeface="Calibri"/>
              </a:rPr>
              <a:t>Ricardo Calheiros  |  MBA USP/ESALQ  |  Racismo Estrutural e Mercado de Trabalho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704320" y="66294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FFFFFF"/>
                </a:solidFill>
                <a:latin typeface="Calibri"/>
              </a:rPr>
              <a:t>23/28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8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23. Pesquisa Operacional Regionalizada — Focalização Territorial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BDEFB"/>
                </a:solidFill>
                <a:latin typeface="Calibri"/>
              </a:rPr>
              <a:t>BLUP do random slope por UF → alocação ótima do orçamento | ganho da focalização sobre a alocação uniforme</a:t>
            </a:r>
          </a:p>
        </p:txBody>
      </p:sp>
      <p:pic>
        <p:nvPicPr>
          <p:cNvPr id="5" name="Picture 4" descr="mapa_po_regio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1143000"/>
            <a:ext cx="4663440" cy="451822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0" y="109728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3864"/>
                </a:solidFill>
                <a:latin typeface="Calibri"/>
              </a:rPr>
              <a:t>Focalização territorial (base BLUP)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0" y="1600200"/>
            <a:ext cx="4663440" cy="960120"/>
          </a:xfrm>
          <a:prstGeom prst="rect">
            <a:avLst/>
          </a:prstGeom>
          <a:solidFill>
            <a:srgbClr val="F5F5F5"/>
          </a:solidFill>
          <a:ln w="15240">
            <a:solidFill>
              <a:srgbClr val="B7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0" y="1600200"/>
            <a:ext cx="109728" cy="960120"/>
          </a:xfrm>
          <a:prstGeom prst="rect">
            <a:avLst/>
          </a:prstGeom>
          <a:solidFill>
            <a:srgbClr val="B71C1C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43800" y="1673352"/>
            <a:ext cx="4343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212121"/>
                </a:solidFill>
                <a:latin typeface="Calibri"/>
              </a:rPr>
              <a:t>Ganho da focalização: B=9 → +68,2%  |  B=3 → +125,5%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43800" y="2167128"/>
            <a:ext cx="4343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F3864"/>
                </a:solidFill>
                <a:latin typeface="Calibri"/>
              </a:rPr>
              <a:t>vs. alocação uniforme entre as 27 UFs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0" y="2679192"/>
            <a:ext cx="4663440" cy="960120"/>
          </a:xfrm>
          <a:prstGeom prst="rect">
            <a:avLst/>
          </a:prstGeom>
          <a:solidFill>
            <a:srgbClr val="F5F5F5"/>
          </a:solidFill>
          <a:ln w="1524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0" y="2679192"/>
            <a:ext cx="109728" cy="960120"/>
          </a:xfrm>
          <a:prstGeom prst="rect">
            <a:avLst/>
          </a:prstGeom>
          <a:solidFill>
            <a:srgbClr val="1565C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43800" y="2752344"/>
            <a:ext cx="4343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212121"/>
                </a:solidFill>
                <a:latin typeface="Calibri"/>
              </a:rPr>
              <a:t>UFs prioritárias: DF, AM, TO, PA, AC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43800" y="3246120"/>
            <a:ext cx="4343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F3864"/>
                </a:solidFill>
                <a:latin typeface="Calibri"/>
              </a:rPr>
              <a:t>maior penalidade × maior população negra afetada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0" y="3758184"/>
            <a:ext cx="4663440" cy="960120"/>
          </a:xfrm>
          <a:prstGeom prst="rect">
            <a:avLst/>
          </a:prstGeom>
          <a:solidFill>
            <a:srgbClr val="F5F5F5"/>
          </a:solidFill>
          <a:ln w="1524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0" y="3758184"/>
            <a:ext cx="109728" cy="960120"/>
          </a:xfrm>
          <a:prstGeom prst="rect">
            <a:avLst/>
          </a:prstGeom>
          <a:solidFill>
            <a:srgbClr val="2E7D32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43800" y="3831336"/>
            <a:ext cx="4343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212121"/>
                </a:solidFill>
                <a:latin typeface="Calibri"/>
              </a:rPr>
              <a:t>Amplitude: DF −20,9%  →  MG −1,4%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43800" y="4325112"/>
            <a:ext cx="4343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F3864"/>
                </a:solidFill>
                <a:latin typeface="Calibri"/>
              </a:rPr>
              <a:t>penalidade racial por UF (BLUP do MixedLM)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0" y="4837176"/>
            <a:ext cx="4663440" cy="960120"/>
          </a:xfrm>
          <a:prstGeom prst="rect">
            <a:avLst/>
          </a:prstGeom>
          <a:solidFill>
            <a:srgbClr val="F5F5F5"/>
          </a:solidFill>
          <a:ln w="1524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0" y="4837176"/>
            <a:ext cx="109728" cy="960120"/>
          </a:xfrm>
          <a:prstGeom prst="rect">
            <a:avLst/>
          </a:prstGeom>
          <a:solidFill>
            <a:srgbClr val="FF8F0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43800" y="4910328"/>
            <a:ext cx="4343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212121"/>
                </a:solidFill>
                <a:latin typeface="Calibri"/>
              </a:rPr>
              <a:t>Base oficial: BLUP ≠ OLS+EB (Spearman ρ=0,42)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43800" y="5404104"/>
            <a:ext cx="4343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F3864"/>
                </a:solidFill>
                <a:latin typeface="Calibri"/>
              </a:rPr>
              <a:t>modelo misto completo, não a aproximação rápida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6035040"/>
            <a:ext cx="11612880" cy="594360"/>
          </a:xfrm>
          <a:prstGeom prst="rect">
            <a:avLst/>
          </a:prstGeom>
          <a:solidFill>
            <a:srgbClr val="1F38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608076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O random slope (LRT p&lt;0,001) prova que a penalidade racial é geograficamente heterogênea → política federativa diferenciada supera a uniforme em até +125,5% com orçamento escasso.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F38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7160" y="662940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BDEFB"/>
                </a:solidFill>
                <a:latin typeface="Calibri"/>
              </a:rPr>
              <a:t>Ricardo Calheiros  |  MBA USP/ESALQ  |  Racismo Estrutural e Mercado de Trabalho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704320" y="66294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FFFFFF"/>
                </a:solidFill>
                <a:latin typeface="Calibri"/>
              </a:rPr>
              <a:t>24/28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8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24. Random Slope no GLMM — A Barreira de Acesso Também é Geográfica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BDEFB"/>
                </a:solidFill>
                <a:latin typeface="Calibri"/>
              </a:rPr>
              <a:t>lme4::glmer, população completa | random slope de negro por UF em 3 desfechos + público × privado</a:t>
            </a:r>
          </a:p>
        </p:txBody>
      </p:sp>
      <p:pic>
        <p:nvPicPr>
          <p:cNvPr id="5" name="Picture 4" descr="glmm_rs_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43000"/>
            <a:ext cx="11612880" cy="425805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74320" y="5943600"/>
            <a:ext cx="11612880" cy="658368"/>
          </a:xfrm>
          <a:prstGeom prst="rect">
            <a:avLst/>
          </a:prstGeom>
          <a:solidFill>
            <a:srgbClr val="1F38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5998464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LRT rejeita τ²=0 em TODOS os desfechos (p&lt;0,001): o acesso varia entre estados, como o salário.  Contraste: gap salarial maior nos estados ricos (ρ=−0,37) vs acesso mais fácil neles (ρ=0,64).  Setor público NÃO dissolve a barreira (OR púb=0,705 ≈ priv=0,695).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F38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" y="662940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BDEFB"/>
                </a:solidFill>
                <a:latin typeface="Calibri"/>
              </a:rPr>
              <a:t>Ricardo Calheiros  |  MBA USP/ESALQ  |  Racismo Estrutural e Mercado de Trabalho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04320" y="66294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FFFFFF"/>
                </a:solidFill>
                <a:latin typeface="Calibri"/>
              </a:rPr>
              <a:t>25/28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8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25. Random Slope GLMM de Gênero — Teto de Remuneração, não de Categoria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BDEFB"/>
                </a:solidFill>
                <a:latin typeface="Calibri"/>
              </a:rPr>
              <a:t>lme4, população completa | inclinação aleatória de sexo_fem por UF nos 3 desfechos</a:t>
            </a:r>
          </a:p>
        </p:txBody>
      </p:sp>
      <p:pic>
        <p:nvPicPr>
          <p:cNvPr id="5" name="Picture 4" descr="glmm_genero_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43000"/>
            <a:ext cx="11612880" cy="38709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74320" y="5943600"/>
            <a:ext cx="11612880" cy="658368"/>
          </a:xfrm>
          <a:prstGeom prst="rect">
            <a:avLst/>
          </a:prstGeom>
          <a:solidFill>
            <a:srgbClr val="7B329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5998464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Mulheres: MAIS acesso a ocupações qualificadas (OR=2,01&gt;1, profissões feminizadas) mas MUITO MENOS ao topo de renda (OR top10=0,522). Teto de vidro de gênero = REMUNERAÇÃO, não categoria — e varia mais entre estados que o racial (~10x no topo).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F38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" y="662940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BDEFB"/>
                </a:solidFill>
                <a:latin typeface="Calibri"/>
              </a:rPr>
              <a:t>Ricardo Calheiros  |  MBA USP/ESALQ  |  Racismo Estrutural e Mercado de Trabalho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04320" y="66294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FFFFFF"/>
                </a:solidFill>
                <a:latin typeface="Calibri"/>
              </a:rPr>
              <a:t>26/28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8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26. Implicações de Política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BDEFB"/>
                </a:solidFill>
                <a:latin typeface="Calibri"/>
              </a:rPr>
              <a:t>Três eixos simultâneos — ações isoladas são insuficientes para romper a armadilha estrutural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3749039" cy="5029200"/>
          </a:xfrm>
          <a:prstGeom prst="rect">
            <a:avLst/>
          </a:prstGeom>
          <a:solidFill>
            <a:srgbClr val="F5F5F5"/>
          </a:solidFill>
          <a:ln w="19050">
            <a:solidFill>
              <a:srgbClr val="B7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3749039" cy="502920"/>
          </a:xfrm>
          <a:prstGeom prst="rect">
            <a:avLst/>
          </a:prstGeom>
          <a:solidFill>
            <a:srgbClr val="B71C1C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14300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Eixo 1 — Acesso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9164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Calibri"/>
              </a:rPr>
              <a:t>▸  Cotas de acesso CBO Dirigente/Profissional:
meta IR ≥ 0,80 até 2030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46888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Calibri"/>
              </a:rPr>
              <a:t>▸  PRONATEC c/ recorte racial e subsídio de
transporte para trabalhadores de UPAs pobres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4612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Calibri"/>
              </a:rPr>
              <a:t>▸  Bolsas de residência profissional em empresas
de alta remuneração para egressos negros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1959" y="1097280"/>
            <a:ext cx="3749039" cy="5029200"/>
          </a:xfrm>
          <a:prstGeom prst="rect">
            <a:avLst/>
          </a:prstGeom>
          <a:solidFill>
            <a:srgbClr val="F5F5F5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51959" y="1097280"/>
            <a:ext cx="3749039" cy="502920"/>
          </a:xfrm>
          <a:prstGeom prst="rect">
            <a:avLst/>
          </a:prstGeom>
          <a:solidFill>
            <a:srgbClr val="1565C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399" y="114300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Eixo 2 — Remuneração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39" y="169164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Calibri"/>
              </a:rPr>
              <a:t>▸  Transparência salarial por raça/gênero
obrigatória (empresas &gt; 100 funcionários)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39" y="246888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Calibri"/>
              </a:rPr>
              <a:t>▸  Auditoria de igual pagamento por trabalho igual
com penalidades progressivas (gap HLM M4)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39" y="324612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Calibri"/>
              </a:rPr>
              <a:t>▸  Piso salarial indexado nas categorias com
maior gap racial residual (6,2% HLM M4)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598" y="1097280"/>
            <a:ext cx="3749039" cy="5029200"/>
          </a:xfrm>
          <a:prstGeom prst="rect">
            <a:avLst/>
          </a:prstGeom>
          <a:solidFill>
            <a:srgbClr val="F5F5F5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598" y="1097280"/>
            <a:ext cx="3749039" cy="502920"/>
          </a:xfrm>
          <a:prstGeom prst="rect">
            <a:avLst/>
          </a:prstGeom>
          <a:solidFill>
            <a:srgbClr val="2E7D32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38" y="114300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Eixo 3 — Inclusão Produtiva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78" y="169164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Calibri"/>
              </a:rPr>
              <a:t>▸  Mentoria estruturada para elevar betweenness
de negros nas redes profissionais (SNA: =0)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78" y="246888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Calibri"/>
              </a:rPr>
              <a:t>▸  30% dos cargos DAS e liderança corporativa
para negros até 2030 (inclusão nas redes)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78" y="324612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Calibri"/>
              </a:rPr>
              <a:t>▸  Equalizar CBO = +127,3% renda negra
(proxy agregado: ~74 p.p.; ver nota metodológica)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6217920"/>
            <a:ext cx="1161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B71C1C"/>
                </a:solidFill>
                <a:latin typeface="Calibri"/>
              </a:rPr>
              <a:t>⚠  Ao ritmo atual de convergência (~0,02 log-pontos/ano), eliminar o gap levaria mais de 100 anos.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F38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7160" y="662940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BDEFB"/>
                </a:solidFill>
                <a:latin typeface="Calibri"/>
              </a:rPr>
              <a:t>Ricardo Calheiros  |  MBA USP/ESALQ  |  Racismo Estrutural e Mercado de Trabalho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704320" y="66294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FFFFFF"/>
                </a:solidFill>
                <a:latin typeface="Calibri"/>
              </a:rPr>
              <a:t>27/28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8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27. Limitações e Agenda Futura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BDEFB"/>
                </a:solidFill>
                <a:latin typeface="Calibri"/>
              </a:rPr>
              <a:t>Honestidade acadêmica: o que este trabalho não faz e por quê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430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B71C1C"/>
                </a:solidFill>
                <a:latin typeface="Calibri"/>
              </a:rPr>
              <a:t>Limitações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600200"/>
            <a:ext cx="56692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B71C1C"/>
                </a:solidFill>
                <a:latin typeface="Calibri"/>
              </a:rPr>
              <a:t>▸  </a:t>
            </a:r>
            <a:r>
              <a:rPr sz="1300">
                <a:solidFill>
                  <a:srgbClr val="212121"/>
                </a:solidFill>
                <a:latin typeface="Calibri"/>
              </a:rPr>
              <a:t>PNAD não permite experimentos causais — coeficientes são associações condicionais, não efeitos causais no sentido de Rubin/Pearl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B71C1C"/>
                </a:solidFill>
                <a:latin typeface="Calibri"/>
              </a:rPr>
              <a:t>▸  </a:t>
            </a:r>
            <a:r>
              <a:rPr sz="1300">
                <a:solidFill>
                  <a:srgbClr val="212121"/>
                </a:solidFill>
                <a:latin typeface="Calibri"/>
              </a:rPr>
              <a:t>UPA como proxy de bairro: unidade de amostragem ≠ bairro administrativo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B71C1C"/>
                </a:solidFill>
                <a:latin typeface="Calibri"/>
              </a:rPr>
              <a:t>▸  </a:t>
            </a:r>
            <a:r>
              <a:rPr sz="1300">
                <a:solidFill>
                  <a:srgbClr val="212121"/>
                </a:solidFill>
                <a:latin typeface="Calibri"/>
              </a:rPr>
              <a:t>GLMM logístico estimado na PEA completa via lme4::glmer (nAGQ=0, bobyqa, n=7,7M, 40,9k UPAs); random slope de negro no GLMM não estimado por custo — porém o random slope foi estimado no HLM de salário (base da PO regionalizada por UF)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B71C1C"/>
                </a:solidFill>
                <a:latin typeface="Calibri"/>
              </a:rPr>
              <a:t>▸  </a:t>
            </a:r>
            <a:r>
              <a:rPr sz="1300">
                <a:solidFill>
                  <a:srgbClr val="212121"/>
                </a:solidFill>
                <a:latin typeface="Calibri"/>
              </a:rPr>
              <a:t>CBO auto-declarado pode ter viés de classificação por raça (deflation de ocupação)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1430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565C0"/>
                </a:solidFill>
                <a:latin typeface="Calibri"/>
              </a:rPr>
              <a:t>Agenda Futura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600200"/>
            <a:ext cx="56692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1565C0"/>
                </a:solidFill>
                <a:latin typeface="Calibri"/>
              </a:rPr>
              <a:t>▸  </a:t>
            </a:r>
            <a:r>
              <a:rPr sz="1300">
                <a:solidFill>
                  <a:srgbClr val="212121"/>
                </a:solidFill>
                <a:latin typeface="Calibri"/>
              </a:rPr>
              <a:t>Análise de variáveis instrumentais (IV) para identificação causal — distância à escola técnica como instrumento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1565C0"/>
                </a:solidFill>
                <a:latin typeface="Calibri"/>
              </a:rPr>
              <a:t>▸  </a:t>
            </a:r>
            <a:r>
              <a:rPr sz="1300">
                <a:solidFill>
                  <a:srgbClr val="212121"/>
                </a:solidFill>
                <a:latin typeface="Calibri"/>
              </a:rPr>
              <a:t>RAIS linkada à PNAD para rastrear trajetórias de mobilidade intraempresa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1565C0"/>
                </a:solidFill>
                <a:latin typeface="Calibri"/>
              </a:rPr>
              <a:t>▸  </a:t>
            </a:r>
            <a:r>
              <a:rPr sz="1300">
                <a:solidFill>
                  <a:srgbClr val="212121"/>
                </a:solidFill>
                <a:latin typeface="Calibri"/>
              </a:rPr>
              <a:t>Análise de mediação formal (path analysis) raça → ocupação → renda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1565C0"/>
                </a:solidFill>
                <a:latin typeface="Calibri"/>
              </a:rPr>
              <a:t>▸  </a:t>
            </a:r>
            <a:r>
              <a:rPr sz="1300">
                <a:solidFill>
                  <a:srgbClr val="212121"/>
                </a:solidFill>
                <a:latin typeface="Calibri"/>
              </a:rPr>
              <a:t>Extensão ao setor público por UF — heterogeneidade do glass ceiling entre estados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1565C0"/>
                </a:solidFill>
                <a:latin typeface="Calibri"/>
              </a:rPr>
              <a:t>▸  </a:t>
            </a:r>
            <a:r>
              <a:rPr sz="1300">
                <a:solidFill>
                  <a:srgbClr val="212121"/>
                </a:solidFill>
                <a:latin typeface="Calibri"/>
              </a:rPr>
              <a:t>Modelo longitudinal com painéis rotativos da PNAD (2T seguidos) para efeitos fixos de indivíduo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F38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" y="662940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BDEFB"/>
                </a:solidFill>
                <a:latin typeface="Calibri"/>
              </a:rPr>
              <a:t>Ricardo Calheiros  |  MBA USP/ESALQ  |  Racismo Estrutural e Mercado de Trabalho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04320" y="66294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FFFFFF"/>
                </a:solidFill>
                <a:latin typeface="Calibri"/>
              </a:rPr>
              <a:t>28/28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38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0D1F3C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28. Conclusão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868680"/>
            <a:ext cx="2743200" cy="1371600"/>
          </a:xfrm>
          <a:prstGeom prst="rect">
            <a:avLst/>
          </a:prstGeom>
          <a:solidFill>
            <a:srgbClr val="1A305C"/>
          </a:solidFill>
          <a:ln w="1270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8F00"/>
                </a:solidFill>
                <a:latin typeface="Calibri"/>
              </a:rPr>
              <a:t>19,3%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002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Gap racial bruto
(M1 HLM)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868680"/>
            <a:ext cx="2743200" cy="1371600"/>
          </a:xfrm>
          <a:prstGeom prst="rect">
            <a:avLst/>
          </a:prstGeom>
          <a:solidFill>
            <a:srgbClr val="1A305C"/>
          </a:solidFill>
          <a:ln w="1270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0" y="91440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8F00"/>
                </a:solidFill>
                <a:latin typeface="Calibri"/>
              </a:rPr>
              <a:t>6,2%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16002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Discriminação pura
(M4 HLM)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868680"/>
            <a:ext cx="2743200" cy="1371600"/>
          </a:xfrm>
          <a:prstGeom prst="rect">
            <a:avLst/>
          </a:prstGeom>
          <a:solidFill>
            <a:srgbClr val="1A305C"/>
          </a:solidFill>
          <a:ln w="1270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91440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8F00"/>
                </a:solidFill>
                <a:latin typeface="Calibri"/>
              </a:rPr>
              <a:t>OR=0,691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16002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Acesso qualificado
(GLMM M2, lme4)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0" y="868680"/>
            <a:ext cx="2743200" cy="1371600"/>
          </a:xfrm>
          <a:prstGeom prst="rect">
            <a:avLst/>
          </a:prstGeom>
          <a:solidFill>
            <a:srgbClr val="1A305C"/>
          </a:solidFill>
          <a:ln w="1270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35440" y="91440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8F00"/>
                </a:solidFill>
                <a:latin typeface="Calibri"/>
              </a:rPr>
              <a:t>χ²=191k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0" y="16002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LRT confirma
hierarquia UPA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377440"/>
            <a:ext cx="11612880" cy="749808"/>
          </a:xfrm>
          <a:prstGeom prst="rect">
            <a:avLst/>
          </a:prstGeom>
          <a:solidFill>
            <a:srgbClr val="0F274A"/>
          </a:solidFill>
          <a:ln w="762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42316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1. A desigualdade racial no mercado de trabalho brasileiro é estrutural, multicausal e resistente à convergência espontânea.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246120"/>
            <a:ext cx="11612880" cy="749808"/>
          </a:xfrm>
          <a:prstGeom prst="rect">
            <a:avLst/>
          </a:prstGeom>
          <a:solidFill>
            <a:srgbClr val="0F274A"/>
          </a:solidFill>
          <a:ln w="762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29184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2. A discriminação opera em dois estágios independentes: barreiras de ACESSO a ocupações qualificadas (GLMM: OR=0,691, AME=−4,84 p.p.) e discriminação de REMUNERAÇÃO dentro das mesmas funções (HLM M4: 6,2%).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4114800"/>
            <a:ext cx="11612880" cy="749808"/>
          </a:xfrm>
          <a:prstGeom prst="rect">
            <a:avLst/>
          </a:prstGeom>
          <a:solidFill>
            <a:srgbClr val="0F274A"/>
          </a:solidFill>
          <a:ln w="762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16052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3. O glass ceiling racial é real e crescente no topo da distribuição — confirmado formalmente pela regressão quantílica e consistente com o IR=0,47 nas capitais.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4983480"/>
            <a:ext cx="11612880" cy="749808"/>
          </a:xfrm>
          <a:prstGeom prst="rect">
            <a:avLst/>
          </a:prstGeom>
          <a:solidFill>
            <a:srgbClr val="0F274A"/>
          </a:solidFill>
          <a:ln w="762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502920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4. Políticas que atuam apenas no gap salarial direto atacam 16% do problema. Os 84% restantes requerem ação nas portas de entrada das ocupações de alto prestígio.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0D1F3C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4320" y="644652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0A4AE"/>
                </a:solidFill>
                <a:latin typeface="Calibri"/>
              </a:rPr>
              <a:t>Ricardo Calheiros  |  MBA Data Science &amp; Analytics  |  USP/ESALQ  |  rickinrj@gmail.com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