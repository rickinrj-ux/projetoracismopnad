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 porta antes do salário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Calibri"/>
              </a:rPr>
              <a:t>Como a desigualdade racial opera no mercado de trabalho brasileiro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474720"/>
            <a:ext cx="2011680" cy="54864"/>
          </a:xfrm>
          <a:prstGeom prst="rect">
            <a:avLst/>
          </a:prstGeom>
          <a:solidFill>
            <a:srgbClr val="FFFFFF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PNAD Contínua 2016–2025 · 7,7 milhões de trabalhadores · 40.969 bairros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Ricardo Calheiros · MBA em Data Science e Analytics · ESALQ/USP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Educação explica o gap racial de renda? Os dados dizem que não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A pergunta que organiza o 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Calibri"/>
              </a:rPr>
              <a:t>A explicação usual para o gap racial de renda é diferença de qualificação. Se fosse só isso, ampliar o acesso ao ensino resolveria. Este trabalho testa essa hipótese separando, um a um, os mecanismos que produzem o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565C0"/>
                </a:solidFill>
                <a:latin typeface="Calibri"/>
              </a:rPr>
              <a:t>▸  </a:t>
            </a:r>
            <a:r>
              <a:rPr sz="1900">
                <a:solidFill>
                  <a:srgbClr val="212121"/>
                </a:solidFill>
                <a:latin typeface="Calibri"/>
              </a:rPr>
              <a:t>Quanto do gap é diferença de características — e quanto é preço diferente pelas mesmas características?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565C0"/>
                </a:solidFill>
                <a:latin typeface="Calibri"/>
              </a:rPr>
              <a:t>▸  </a:t>
            </a:r>
            <a:r>
              <a:rPr sz="1900">
                <a:solidFill>
                  <a:srgbClr val="212121"/>
                </a:solidFill>
                <a:latin typeface="Calibri"/>
              </a:rPr>
              <a:t>Quanto vem de onde a pessoa mora?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565C0"/>
                </a:solidFill>
                <a:latin typeface="Calibri"/>
              </a:rPr>
              <a:t>▸  </a:t>
            </a:r>
            <a:r>
              <a:rPr sz="1900">
                <a:solidFill>
                  <a:srgbClr val="212121"/>
                </a:solidFill>
                <a:latin typeface="Calibri"/>
              </a:rPr>
              <a:t>A barreira está no salário ou antes dele, no acesso à ocupação?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565C0"/>
                </a:solidFill>
                <a:latin typeface="Calibri"/>
              </a:rPr>
              <a:t>▸  </a:t>
            </a:r>
            <a:r>
              <a:rPr sz="1900">
                <a:solidFill>
                  <a:srgbClr val="212121"/>
                </a:solidFill>
                <a:latin typeface="Calibri"/>
              </a:rPr>
              <a:t>A penalidade é a mesma em toda a distribuição de renda?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989320"/>
            <a:ext cx="11640312" cy="566928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533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Quatro perguntas, quatro métodos — e uma resposta que não é a do senso comum.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Dez anos de PNAD Contínua, sem amostragem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A base é a população de trabalhadores ocupados com rendimento, não uma amostra dela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Trabalhadores analisados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74520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565C0"/>
                </a:solidFill>
                <a:latin typeface="Calibri"/>
              </a:rPr>
              <a:t>7,7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43200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Todos os ocupados com rendimento positivo,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2016 a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56616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481328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Bairros (setores censitários)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874520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565C0"/>
                </a:solidFill>
                <a:latin typeface="Calibri"/>
              </a:rPr>
              <a:t>40.969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743200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A unidade de vizinhança da PNAD —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é o que permite comparar vizinhos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56616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481328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Trimestres cobertos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874520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565C0"/>
                </a:solidFill>
                <a:latin typeface="Calibri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743200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Série completa da pesquisa,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sem recorte de conveniência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616161"/>
                </a:solidFill>
                <a:latin typeface="Calibri"/>
              </a:rPr>
              <a:t>Por que isso importa: com a população inteira, o resultado não depende de qual amostra foi sorteada. A pergunta deixa de ser “será que é ruído?” e passa a ser “qual é o tamanho do efeito?”.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16161"/>
                </a:solidFill>
                <a:latin typeface="Calibri"/>
              </a:rPr>
              <a:t>Os erros-padrão são agrupados por bairro, porque a PNAD entrevista domicílios vizinhos — ignorar isso faria qualquer diferença parecer mais precisa do que 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A primeira barreira é a porta: 30% menos chance de chegar a um cargo qualificado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Comparando pessoas com a mesma escolaridade, idade, sexo e bairro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347472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35608"/>
            <a:ext cx="3255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Acesso a cargo qualificado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3255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71C1C"/>
                </a:solidFill>
                <a:latin typeface="Calibri"/>
              </a:rPr>
              <a:t>−30%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3255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chance (odds ratio 0,699)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= 5,5 pontos percentuais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347472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435608"/>
            <a:ext cx="3255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Chegar ao topo 20% da renda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828800"/>
            <a:ext cx="3255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565C0"/>
                </a:solidFill>
                <a:latin typeface="Calibri"/>
              </a:rPr>
              <a:t>−31%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697480"/>
            <a:ext cx="3255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a barreira aperta conforme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a posição sobe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347472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435608"/>
            <a:ext cx="3255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Chegar ao topo 10% da renda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828800"/>
            <a:ext cx="3255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71C1C"/>
                </a:solidFill>
                <a:latin typeface="Calibri"/>
              </a:rPr>
              <a:t>−35%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697480"/>
            <a:ext cx="32552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é o teto de vidro: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quanto mais alto, mais estreita a porta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0">
                <a:solidFill>
                  <a:srgbClr val="212121"/>
                </a:solidFill>
                <a:latin typeface="Calibri"/>
              </a:rPr>
              <a:t>Mesma escolaridade. Mesma idade. Mesmo sexo. Mesmo bairro. A diferença que resta é o acesso à ocupação — e ela é maior do que a diferença de salário.</a:t>
            </a:r>
          </a:p>
          <a:p>
            <a:pPr algn="l">
              <a:spcAft>
                <a:spcPts val="300"/>
              </a:spcAft>
            </a:pPr>
            <a:r>
              <a:rPr sz="1650" b="0">
                <a:solidFill>
                  <a:srgbClr val="212121"/>
                </a:solidFill>
                <a:latin typeface="Calibri"/>
              </a:rPr>
              <a:t>Seria preciso um fator não medido associado tanto à raça quanto ao acesso com força de 2,2× para explicar esse resultado por inteiro — mais forte que ter ensino superior.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989320"/>
            <a:ext cx="11640312" cy="566928"/>
          </a:xfrm>
          <a:prstGeom prst="rect">
            <a:avLst/>
          </a:prstGeom>
          <a:solidFill>
            <a:srgbClr val="B71C1C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533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 exclusão começa antes do contracheque.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Metade do gap salarial desaparece ao comparar pessoas do mesmo bairro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E o que sobra não é explicado por escolaridade, estado nem ocupação</a:t>
            </a:r>
          </a:p>
        </p:txBody>
      </p:sp>
      <p:pic>
        <p:nvPicPr>
          <p:cNvPr id="5" name="Picture 4" descr="fig_hlm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858000" cy="3332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46304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>
                <a:solidFill>
                  <a:srgbClr val="1565C0"/>
                </a:solidFill>
                <a:latin typeface="Calibri"/>
              </a:rPr>
              <a:t>▸  </a:t>
            </a:r>
            <a:r>
              <a:rPr sz="1550">
                <a:solidFill>
                  <a:srgbClr val="212121"/>
                </a:solidFill>
                <a:latin typeface="Calibri"/>
              </a:rPr>
              <a:t>Gap de partida: 19,1% a menos, mesma escolaridade e idade.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1565C0"/>
                </a:solidFill>
                <a:latin typeface="Calibri"/>
              </a:rPr>
              <a:t>▸  </a:t>
            </a:r>
            <a:r>
              <a:rPr sz="1550">
                <a:solidFill>
                  <a:srgbClr val="212121"/>
                </a:solidFill>
                <a:latin typeface="Calibri"/>
              </a:rPr>
              <a:t>47,0% desse gap é mediado pelo bairro de moradia.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1565C0"/>
                </a:solidFill>
                <a:latin typeface="Calibri"/>
              </a:rPr>
              <a:t>▸  </a:t>
            </a:r>
            <a:r>
              <a:rPr sz="1550">
                <a:solidFill>
                  <a:srgbClr val="212121"/>
                </a:solidFill>
                <a:latin typeface="Calibri"/>
              </a:rPr>
              <a:t>Gap líquido: 10,2% — mesma escolaridade, idade, sexo e bairro.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1565C0"/>
                </a:solidFill>
                <a:latin typeface="Calibri"/>
              </a:rPr>
              <a:t>▸  </a:t>
            </a:r>
            <a:r>
              <a:rPr sz="1550">
                <a:solidFill>
                  <a:srgbClr val="212121"/>
                </a:solidFill>
                <a:latin typeface="Calibri"/>
              </a:rPr>
              <a:t>Dentro da mesma ocupação ainda restam 7,0%.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1565C0"/>
                </a:solidFill>
                <a:latin typeface="Calibri"/>
              </a:rPr>
              <a:t>▸  </a:t>
            </a:r>
            <a:r>
              <a:rPr sz="1550">
                <a:solidFill>
                  <a:srgbClr val="212121"/>
                </a:solidFill>
                <a:latin typeface="Calibri"/>
              </a:rPr>
              <a:t>37% da variação de renda está entre bairros, não entre pessoas.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989320"/>
            <a:ext cx="11640312" cy="566928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533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Onde a pessoa mora explica metade do gap — política de renda que ignora território tem eficácia limitada.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28,4% do gap não é diferença de características: é preço diferente pelas mesmas características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Decomposição de Oaxaca–Blinder, o método padrão da economia do trabalho</a:t>
            </a:r>
          </a:p>
        </p:txBody>
      </p:sp>
      <p:pic>
        <p:nvPicPr>
          <p:cNvPr id="5" name="Picture 4" descr="fig_ob_casc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6949440" cy="2792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46304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Como ler: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71,6% do gap vem de os grupos terem características diferentes (dotações).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28,4% vem de as mesmas características renderem menos a trabalhadores negros.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Quando a ocupação entra como se fosse característica, essa segunda parcela cai para 16,2% — mas isso subestima o problema, porque o acesso à ocupação é ele próprio desigual (slide anterior).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989320"/>
            <a:ext cx="11640312" cy="566928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533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As mesmas credenciais rendem menos — por isso educação, sozinha, não fecha a conta.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Quanto mais alto o salário, maior a penalidade racial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E, na base da distribuição, a maior parte do gap é preço, não característica</a:t>
            </a:r>
          </a:p>
        </p:txBody>
      </p:sp>
      <p:pic>
        <p:nvPicPr>
          <p:cNvPr id="5" name="Picture 4" descr="fig_qr_r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338560" cy="43503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16161"/>
                </a:solidFill>
                <a:latin typeface="Calibri"/>
              </a:rPr>
              <a:t>À esquerda: a penalidade cresce de 8,0% na base para 11,6% no topo — é o teto de vidro.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616161"/>
                </a:solidFill>
                <a:latin typeface="Calibri"/>
              </a:rPr>
              <a:t>À direita: na base da distribuição, 35,1% do gap é preço diferente; no topo, 12,9% — é o piso pegajoso.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989320"/>
            <a:ext cx="11640312" cy="566928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533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Dois retratos do mesmo fenômeno: quem está embaixo é mal pago; quem sobe encontra teto.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A mulher negra entra na categoria, mas não chega ao topo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Raça e gênero não se somam: combinam-se</a:t>
            </a:r>
          </a:p>
        </p:txBody>
      </p:sp>
      <p:pic>
        <p:nvPicPr>
          <p:cNvPr id="5" name="Picture 4" descr="grupo_rg_intersec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035040" cy="39907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0" y="1417320"/>
            <a:ext cx="4206240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4928" y="1527048"/>
            <a:ext cx="3986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Gap da mulher negra vs. homem branco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4928" y="1920240"/>
            <a:ext cx="39867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71C1C"/>
                </a:solidFill>
                <a:latin typeface="Calibri"/>
              </a:rPr>
              <a:t>80,6%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8" y="2788920"/>
            <a:ext cx="3986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o maior de todos os grupos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3474720"/>
            <a:ext cx="4206240" cy="2103120"/>
          </a:xfrm>
          <a:prstGeom prst="rect">
            <a:avLst/>
          </a:prstGeom>
          <a:solidFill>
            <a:srgbClr val="F5F5F5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8" y="3584448"/>
            <a:ext cx="3986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16161"/>
                </a:solidFill>
                <a:latin typeface="Calibri"/>
              </a:rPr>
              <a:t>Penalidade além da soma raça + gênero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8" y="3977640"/>
            <a:ext cx="39867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565C0"/>
                </a:solidFill>
                <a:latin typeface="Calibri"/>
              </a:rPr>
              <a:t>+4,6 p.p.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8" y="4846320"/>
            <a:ext cx="3986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o efeito interseccional puro —</a:t>
            </a:r>
          </a:p>
          <a:p>
            <a:pPr algn="ctr">
              <a:spcAft>
                <a:spcPts val="3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existe, e é menor que o dobro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989320"/>
            <a:ext cx="11640312" cy="566928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533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Política desenhada só para “negros” ou só para “mulheres” deixa essa parcela de fora.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O resultado sobrevive a tudo o que se tentou contra 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Quatro checagens independentes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577840" cy="2057400"/>
          </a:xfrm>
          <a:prstGeom prst="rect">
            <a:avLst/>
          </a:prstGeom>
          <a:solidFill>
            <a:srgbClr val="F5F5F5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Sem impor forma funcional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Um modelo de machine learning, que não assume relação linear, coloca a raça na 11ª posição entre 29 variáveis — mesmo com todas as informações de escolaridade e contexto.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25880"/>
            <a:ext cx="5577840" cy="2057400"/>
          </a:xfrm>
          <a:prstGeom prst="rect">
            <a:avLst/>
          </a:prstGeom>
          <a:solidFill>
            <a:srgbClr val="F5F5F5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E se faltasse uma variável?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Um fator não medido precisaria ter força de 2,2× para anular o resultado do acesso, e seria preciso que 99,0% da estimativa do gap fosse viés.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5577840" cy="2057400"/>
          </a:xfrm>
          <a:prstGeom prst="rect">
            <a:avLst/>
          </a:prstGeom>
          <a:solidFill>
            <a:srgbClr val="F5F5F5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49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Sem sobreajuste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Validação cruzada de 5 partições sobre a população inteira: R² de 0,628 com variação de 0,0007 entre elas. O erro típico de previsão é de R$ 538 por mês.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611880"/>
            <a:ext cx="5577840" cy="2057400"/>
          </a:xfrm>
          <a:prstGeom prst="rect">
            <a:avLst/>
          </a:prstGeom>
          <a:solidFill>
            <a:srgbClr val="F5F5F5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749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Sem depender do bairro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2062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Calibri"/>
              </a:rPr>
              <a:t>Retirando a renda do bairro do modelo, a contribuição da raça praticamente não muda (0,0314 contra 0,0307): o achado não é um artefato dessa variável.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989320"/>
            <a:ext cx="11640312" cy="566928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0533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Nenhuma dessas checagens é decisiva sozinha — juntas, tornam a explicação alternativa implausível.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Cada barreira medida tem um instrumento legal que já existe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  <a:latin typeface="Calibri"/>
              </a:rPr>
              <a:t>O diagnóstico aponta onde intensificar, não o que inventar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1325880"/>
          </a:xfrm>
          <a:prstGeom prst="rect">
            <a:avLst/>
          </a:prstGeom>
          <a:solidFill>
            <a:srgbClr val="F5F5F5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441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71C1C"/>
                </a:solidFill>
                <a:latin typeface="Calibri"/>
              </a:rPr>
              <a:t>Barreira de acesso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16161"/>
                </a:solidFill>
                <a:latin typeface="Calibri"/>
              </a:rPr>
              <a:t>Lei 12.990/2014 (cotas em concursos federais)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435608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O diagnóstico sugere ampliar o alcance para níveis hierárquicos superiores, onde a porta é mais estreita (−35% no topo 10%).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11247120" cy="1325880"/>
          </a:xfrm>
          <a:prstGeom prst="rect">
            <a:avLst/>
          </a:prstGeom>
          <a:solidFill>
            <a:srgbClr val="F5F5F5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529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71C1C"/>
                </a:solidFill>
                <a:latin typeface="Calibri"/>
              </a:rPr>
              <a:t>Retorno da qualificação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101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16161"/>
                </a:solidFill>
                <a:latin typeface="Calibri"/>
              </a:rPr>
              <a:t>Prouni, Fies e o legado do PRONATEC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944368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As mesmas credenciais rendem menos; esses programas precisam vir acompanhados de mecanismos de inserção ocupacional.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51960"/>
            <a:ext cx="11247120" cy="1325880"/>
          </a:xfrm>
          <a:prstGeom prst="rect">
            <a:avLst/>
          </a:prstGeom>
          <a:solidFill>
            <a:srgbClr val="F5F5F5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616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71C1C"/>
                </a:solidFill>
                <a:latin typeface="Calibri"/>
              </a:rPr>
              <a:t>Discriminação salarial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1888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16161"/>
                </a:solidFill>
                <a:latin typeface="Calibri"/>
              </a:rPr>
              <a:t>Lei 9.029/1995 e Estatuto da Igualdade Racial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453128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O gap líquido de 10,2% — e os 7,0% que persistem dentro da mesma ocupação — justificam reforçar a fiscalização.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F3864"/>
                </a:solidFill>
                <a:latin typeface="Calibri"/>
              </a:rPr>
              <a:t>Com a mesma escolaridade, idade, sexo e bairro, um trabalhador negro ganha 10,2% a menos — e a barreira mais dura não é o salário, é a porta.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PNAD Contínua 2016–2025 (IBGE) · elaboração própria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9E9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